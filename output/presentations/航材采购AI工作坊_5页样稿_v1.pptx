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44d85f702740bd" /><Relationship Type="http://schemas.openxmlformats.org/officeDocument/2006/relationships/extended-properties" Target="/docProps/app.xml" Id="Rbbf704f3435543ed" /><Relationship Type="http://schemas.openxmlformats.org/officeDocument/2006/relationships/officeDocument" Target="/ppt/presentation.xml" Id="R9235843984384f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3aa3e1d22430d"/>
  </p:sldMasterIdLst>
  <p:notesMasterIdLst>
    <p:notesMasterId xmlns:r="http://schemas.openxmlformats.org/officeDocument/2006/relationships" r:id="R742b27999eef41f7"/>
  </p:notesMasterIdLst>
  <p:sldIdLst>
    <p:sldId xmlns:r="http://schemas.openxmlformats.org/officeDocument/2006/relationships" id="256" r:id="Rf46b4e3f74484d55"/>
    <p:sldId xmlns:r="http://schemas.openxmlformats.org/officeDocument/2006/relationships" id="257" r:id="Rbc56045a5a0e4fc6"/>
    <p:sldId xmlns:r="http://schemas.openxmlformats.org/officeDocument/2006/relationships" id="258" r:id="R61368c27c69f4f78"/>
    <p:sldId xmlns:r="http://schemas.openxmlformats.org/officeDocument/2006/relationships" id="259" r:id="R92f27a1b6b35448c"/>
    <p:sldId xmlns:r="http://schemas.openxmlformats.org/officeDocument/2006/relationships" id="260" r:id="R342b0b120ba1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7c7ac572c04c51" /><Relationship Type="http://schemas.openxmlformats.org/officeDocument/2006/relationships/slideMaster" Target="/ppt/slideMasters/slideMaster1.xml" Id="R9dd3aa3e1d22430d" /><Relationship Type="http://schemas.openxmlformats.org/officeDocument/2006/relationships/notesMaster" Target="/ppt/notesMasters/notesMaster1.xml" Id="R742b27999eef41f7" /><Relationship Type="http://schemas.openxmlformats.org/officeDocument/2006/relationships/presProps" Target="/ppt/presProps.xml" Id="R3292c388a5904199" /><Relationship Type="http://schemas.openxmlformats.org/officeDocument/2006/relationships/tableStyles" Target="/ppt/tableStyles.xml" Id="Rfad80e4c0f2942eb" /><Relationship Type="http://schemas.openxmlformats.org/officeDocument/2006/relationships/slide" Target="/ppt/slides/slide1.xml" Id="Rf46b4e3f74484d55" /><Relationship Type="http://schemas.openxmlformats.org/officeDocument/2006/relationships/slide" Target="/ppt/slides/slide2.xml" Id="Rbc56045a5a0e4fc6" /><Relationship Type="http://schemas.openxmlformats.org/officeDocument/2006/relationships/slide" Target="/ppt/slides/slide3.xml" Id="R61368c27c69f4f78" /><Relationship Type="http://schemas.openxmlformats.org/officeDocument/2006/relationships/slide" Target="/ppt/slides/slide4.xml" Id="R92f27a1b6b35448c" /><Relationship Type="http://schemas.openxmlformats.org/officeDocument/2006/relationships/slide" Target="/ppt/slides/slide5.xml" Id="R342b0b120ba1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3995ad65d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eb3c313e34fa5" /><Relationship Type="http://schemas.openxmlformats.org/officeDocument/2006/relationships/notesMaster" Target="/ppt/notesMasters/notesMaster1.xml" Id="R945c15d87945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b50df3d2c442a" /><Relationship Type="http://schemas.openxmlformats.org/officeDocument/2006/relationships/notesMaster" Target="/ppt/notesMasters/notesMaster1.xml" Id="R9d22d204fcab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2bf720a4bf4f53" /><Relationship Type="http://schemas.openxmlformats.org/officeDocument/2006/relationships/notesMaster" Target="/ppt/notesMasters/notesMaster1.xml" Id="Re3e64115d401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46d453deba4e15" /><Relationship Type="http://schemas.openxmlformats.org/officeDocument/2006/relationships/notesMaster" Target="/ppt/notesMasters/notesMaster1.xml" Id="Raeabf3bc1a57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aacc55380a49cf" /><Relationship Type="http://schemas.openxmlformats.org/officeDocument/2006/relationships/notesMaster" Target="/ppt/notesMasters/notesMaster1.xml" Id="R0737366d05a348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讲师导入：请学员带入一个典型采购难题。重点贯穿问题识别、工具适配、局限分析、风险规避和实战。封面插图为AI生成的航空维修概念插图，并非厦门太古真实厂区照片。生成工具为内置image_gen，素材路径tmp/ppt-sample/hangar-illustration.png。提示词：浅蓝白色水彩与工程铅笔风格，机库中维修的客机和航材货架，无文字无品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建议第一天重点覆盖诊断及M01至M03，第二天覆盖M04至M06并安排工具综合评价、实施与投资回报、答疑和结业考试。原大纲的十个主题均纳入后续100页规划，不把课程简化成六个软件功能。考试为用户后来增加的培训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数据来源：本系统M02基础教学案例的实际运行截图tmp/full-training-M02.png。SUP-A总成本13460元、交期5天、满足约束否，SUP-B16140元、8天、满足约束是，SUP-C18200元、3天、满足约束是。以上为教学模拟数据，不能作为企业真实报价或当前市场价格。A不满足约束的具体原因须回到证书与交期输入核对，本页不推断具体原因。推荐B仅在本案例既定约束下成立，不能代替适航和业务审批。提问：若交付时限缩短为4天，方案如何变化？先让学员判断，再在系统中修改场景参数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截图来源：2026-10-28当前系统独立演示副本http://127.0.0.1:8082/learner，正式培训数据库未改动。与实际操作相对应：进入询价解析与比价，检查数据，辨识SRM询报价、ERP财务与物流、QMS文件校验，下载来源示例并准备CSV或JSON，再在页面下方做字段关联和校验。也可先使用基础样例。页面软件映射仅用于教学解释，不能视为复刻SAP官方界面、已接入厦门太古内网或具备全部官方功能。正式100页课件会按操作分步放大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课程依据：航材采购AI智能化实战工作坊-厦门太古.2026.10.23doc.pdf。两天，每天6小时。原大纲未规定分日课时，样稿排课为教学建议。典型问题不代表已证实的厦门太古内部管理缺陷。</a:t>
            </a:r>
          </a:p>
          <a:p xmlns:a="http://schemas.openxmlformats.org/drawingml/2006/main">
            <a:r>
              <a:t>截图来源：2026-10-28当前系统独立演示副本的管理员问题与复盘页面。学员先陈述目前功能、数据来源、岗位流程、具体问题和目标，再手工梳理并确认提交。管理员按六模块和学员编号分类处理，可导出咨询提示词到ChatGPT手动咨询，或在配置API后通过后端咨询。当前不代表已配置真实模型API。管理员核对结果，可编辑各部分，保存草稿，明确返回对应学员后学员才能看到。多轮问答不限一轮，后续问题仍由管理员核对返回。图表应说明数据来源和验证状态，学员陈述不等于已核实企业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c71a0ba4e4c6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5c6714ecb4d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a0b4f65a74d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9f2c55ce348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3800736eac4d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e52689e67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86ED08-7B4E-4FF5-A683-0E10D1620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AA6D30-7E87-46D9-9A83-33B498E2AB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AA5881-8A34-445C-B759-1CA33A76A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171EBB-FD1D-435B-ACAF-337430DD1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FFD542-D58D-4793-A674-E5A9507B1D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F67BC6-C38C-469F-8880-BB93CCB58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5A6E34-1790-47E3-ADD0-890B88DD09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554652-1104-4628-988C-BD1744C4BD6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64728A-C518-4821-839E-391FC3045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79EED8-C1D7-414F-A661-F2AF2225E4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362c35b4a64bc6" /><Relationship Type="http://schemas.openxmlformats.org/officeDocument/2006/relationships/slideLayout" Target="/ppt/slideLayouts/slideLayout1.xml" Id="Rb4b4954400da4050" /><Relationship Type="http://schemas.openxmlformats.org/officeDocument/2006/relationships/slideLayout" Target="/ppt/slideLayouts/slideLayout2.xml" Id="Rc9c5f27226674ed6" /><Relationship Type="http://schemas.openxmlformats.org/officeDocument/2006/relationships/slideLayout" Target="/ppt/slideLayouts/slideLayout3.xml" Id="Rcb7d720140b54be3" /><Relationship Type="http://schemas.openxmlformats.org/officeDocument/2006/relationships/slideLayout" Target="/ppt/slideLayouts/slideLayout4.xml" Id="R240ab10523ad4247" /><Relationship Type="http://schemas.openxmlformats.org/officeDocument/2006/relationships/slideLayout" Target="/ppt/slideLayouts/slideLayout5.xml" Id="R20eba2f379bc4d73" /><Relationship Type="http://schemas.openxmlformats.org/officeDocument/2006/relationships/slideLayout" Target="/ppt/slideLayouts/slideLayout6.xml" Id="R09c3c8bd0f3143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b4954400da4050"/>
    <p:sldLayoutId xmlns:r="http://schemas.openxmlformats.org/officeDocument/2006/relationships" id="2147483650" r:id="Rc9c5f27226674ed6"/>
    <p:sldLayoutId xmlns:r="http://schemas.openxmlformats.org/officeDocument/2006/relationships" id="2147483651" r:id="Rcb7d720140b54be3"/>
    <p:sldLayoutId xmlns:r="http://schemas.openxmlformats.org/officeDocument/2006/relationships" id="2147483652" r:id="R240ab10523ad4247"/>
    <p:sldLayoutId xmlns:r="http://schemas.openxmlformats.org/officeDocument/2006/relationships" id="2147483653" r:id="R20eba2f379bc4d73"/>
    <p:sldLayoutId xmlns:r="http://schemas.openxmlformats.org/officeDocument/2006/relationships" id="2147483654" r:id="R09c3c8bd0f31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28166e2204580" /><Relationship Type="http://schemas.openxmlformats.org/officeDocument/2006/relationships/image" Target="/ppt/media/image.png" Id="R1f52669c0f8e4e29" /><Relationship Type="http://schemas.openxmlformats.org/officeDocument/2006/relationships/notesSlide" Target="/ppt/notesSlides/notesSlide1.xml" Id="R7fffdecaac61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f32967bf04992" /><Relationship Type="http://schemas.openxmlformats.org/officeDocument/2006/relationships/notesSlide" Target="/ppt/notesSlides/notesSlide2.xml" Id="R0c73618d2bf0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32a23d78b418a" /><Relationship Type="http://schemas.openxmlformats.org/officeDocument/2006/relationships/chart" Target="/ppt/slides/charts/chart1.xml" Id="R12f32a77fa714c4c" /><Relationship Type="http://schemas.openxmlformats.org/officeDocument/2006/relationships/notesSlide" Target="/ppt/notesSlides/notesSlide3.xml" Id="Rac2b4a8789d2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3cb6a0fa244d8" /><Relationship Type="http://schemas.openxmlformats.org/officeDocument/2006/relationships/image" Target="/ppt/media/image2.png" Id="Rd3dd8ff3701d4068" /><Relationship Type="http://schemas.openxmlformats.org/officeDocument/2006/relationships/notesSlide" Target="/ppt/notesSlides/notesSlide4.xml" Id="Rdc8dc63efb1548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86d9c6404849de" /><Relationship Type="http://schemas.openxmlformats.org/officeDocument/2006/relationships/image" Target="/ppt/media/image3.png" Id="R831bff91bb8f443b" /><Relationship Type="http://schemas.openxmlformats.org/officeDocument/2006/relationships/notesSlide" Target="/ppt/notesSlides/notesSlide5.xml" Id="R79c858e829ac4f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总成本 CNY</c:v>
          </c:tx>
          <c:spPr>
            <a:solidFill xmlns:a="http://schemas.openxmlformats.org/drawingml/2006/main">
              <a:srgbClr val="477FA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SUP-A</c:v>
                </c:pt>
                <c:pt idx="1">
                  <c:v>SUP-B</c:v>
                </c:pt>
                <c:pt idx="2">
                  <c:v>SUP-C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13460</c:v>
                </c:pt>
                <c:pt idx="1">
                  <c:v>16140</c:v>
                </c:pt>
                <c:pt idx="2">
                  <c:v>18200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AF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30EC6-A12C-4282-B601-E326D8B9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8C2ED-6DA6-4AA3-86DD-5428AB74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5E8C1-F23E-4E53-9F18-EBA03FB1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6B9F3-4788-48BB-B2CC-C7E62391E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2669c0f8e4e29"/>
          <a:stretch xmlns:a="http://schemas.openxmlformats.org/drawingml/2006/main"/>
        </p:blipFill>
        <p:spPr>
          <a:xfrm xmlns:a="http://schemas.openxmlformats.org/drawingml/2006/main">
            <a:off x="4476750" y="944563"/>
            <a:ext cx="7524750" cy="501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61A74-1614-48EB-907E-88FE4B5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厦门太古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5337F-97F6-48EF-B8DD-56F4CC4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6381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航材采购</a:t>
            </a:r>
          </a:p>
          <a:p xmlns:a="http://schemas.openxmlformats.org/drawingml/2006/main">
            <a: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AI 智能化</a:t>
            </a:r>
          </a:p>
          <a:p xmlns:a="http://schemas.openxmlformats.org/drawingml/2006/main">
            <a:pPr algn="l">
              <a:def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实战工作坊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90643-E77E-41A1-944A-AA2925EC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两天课程与采购系统实训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4ED5F-19E5-4DF5-AF9B-4795A93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需求预测  /  询价比选  /  供应保障</a:t>
            </a:r>
          </a:p>
        </p:txBody>
      </p:sp>
    </p:spTree>
    <p:extLst>
      <p:ext uri="{BB962C8B-B14F-4D97-AF65-F5344CB8AC3E}">
        <p14:creationId xmlns:p14="http://schemas.microsoft.com/office/powerpoint/2010/main" val="840046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1541B-6343-4954-B10D-1D0DE4B2B847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372600" y="43719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73DBE-2596-428B-A675-A349DE3ABE10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515225" y="43719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23F9F-43FC-40FE-8874-962BE7F8456A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657850" y="43719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71965B-61EA-499E-BA1D-30E7822A43D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72600" y="21812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873A8-5930-4B87-A49D-7131F827F6D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15225" y="21812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542C4-FF64-4EC9-ADC3-F4E6705015C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657850" y="21812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C4269-2E0E-4FC0-88F5-0CBE2696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两天课程路线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27E81-78B8-4223-9477-A2292BDA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12 小时培训，六个业务模块贯穿课程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FF1DF-FD8C-4E4A-BA41-ED0BA4A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4497B-34EF-4C13-9534-442CBC8A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F3D45-E48C-4C89-914F-FAB7AD07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第一天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9D123-1983-4F34-9075-8F21A721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需求、询价与供应商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464C5-4934-460D-80A8-0271FF58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第二天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C4C98-A8AC-45C1-B032-53A296A2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交付、库存与紧急保障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6B0E2-0F51-4D51-AA92-67230F7B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问题诊断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14C6F-32D4-4D8D-AA26-1F65FCB0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典型风险与根因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09E6C-CFDA-4312-A864-D02C784C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M01 需求计划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9E346-0F1C-41CA-9678-708BA9E7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860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预测与预防性采购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82CAE-7F26-4F81-8DB6-F032F8B7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M02 询价比选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3E02E-BAB8-40AE-A4FB-0778AE6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860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三家报价比较表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15C95-A0C3-462F-ACEC-5695325B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0975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M03 供应风险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913BC-F992-4AFA-A315-FB57E35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860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供应保障策略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D21C8-35E6-4383-A759-A159636C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M04 订单交付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2ED35-EF14-47CE-9EFD-AE78E35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768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催交与异常预警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60D1E-2DA6-41D9-9DDB-9F25CEB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0050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M05 库存优化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CE451E-791A-44C9-9C93-7FA06193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8768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再订货点比较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B4A664-F455-4629-A14C-3D30CE3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M06 AOG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0C385-421F-40CC-9FA8-0C535BBD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768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紧急采购协同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35BF5-DB5C-47B0-80D4-F94F823F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657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F5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选型与结业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99CD6-CC8F-47BE-8E98-1C0F6574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8768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实施、收益与考试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E45248-79A7-449C-8453-792C914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6 小时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B3D791-3971-4FFC-8B76-1FF10A48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6 小时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87BCFF-C683-4CDD-AC18-EFA4E6E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建议排课。结业考试安排在第二天，题目依据最终课程内容确定</a:t>
            </a:r>
          </a:p>
        </p:txBody>
      </p:sp>
    </p:spTree>
    <p:extLst>
      <p:ext uri="{BB962C8B-B14F-4D97-AF65-F5344CB8AC3E}">
        <p14:creationId xmlns:p14="http://schemas.microsoft.com/office/powerpoint/2010/main" val="1048440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07A3D-B1AF-439C-A324-1FBFAD71196E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501188" y="39814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2D558-97D8-48EE-8CB2-7CE69DEBCD5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501188" y="30956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668C7-40A4-4B73-92F2-58CB2D5C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三家报价的成本与约束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55957-BF8E-4E82-874F-C061B05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M02 询价解析与比价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A0DF2-9E4A-4354-93E1-A0436F9E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F07D2-1978-4546-9C42-EB1592F9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A6834A2-2525-4901-8B4A-98253A39CD42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6477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32a77fa714c4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59337-7F7B-4995-901E-FC5944E6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教学模拟总成本（CNY）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9DAD3-58B5-4D4A-B15E-F9E82044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先检查适用约束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88B9E-166C-4FB6-AD0E-E70746A0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证书与适用性核对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664E6-F645-4959-AA2F-AA388A3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6232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交期满足需求日期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2D0B6-5A01-4DD7-8733-BD81363A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4815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可行方案比较总成本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CD6C5-963D-419F-AAF8-9FC947D5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67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SUP-A 约束不满足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C09E0-7A70-4663-8F3B-643D2EB1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本例推荐 SUP-B：16,140 元，8 天</a:t>
            </a:r>
          </a:p>
        </p:txBody>
      </p:sp>
    </p:spTree>
    <p:extLst>
      <p:ext uri="{BB962C8B-B14F-4D97-AF65-F5344CB8AC3E}">
        <p14:creationId xmlns:p14="http://schemas.microsoft.com/office/powerpoint/2010/main" val="1423554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59C69-2D4C-4F28-80B1-71981FB4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实训操作：采集与核对数据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E3322-52C9-4447-ADC9-E23032A5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M02 学员端实际界面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D7968-869E-493B-9F65-77ED66B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A805-B328-46A7-AA1D-21F78095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FB620-7DC8-48E7-A778-32A929A727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8ff3701d4068"/>
          <a:stretch xmlns:a="http://schemas.openxmlformats.org/drawingml/2006/main"/>
        </p:blipFill>
        <p:spPr>
          <a:xfrm xmlns:a="http://schemas.openxmlformats.org/drawingml/2006/main">
            <a:off x="609600" y="2465105"/>
            <a:ext cx="8191500" cy="31660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D012-67AD-4166-958B-B001233E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SRM 询报价、ERP 财务物流、QMS 文件校验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D575B-D804-410A-814C-7E40B0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288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4CAE7-ACF2-474F-8359-0F7ACCE5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确认业务模块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E80BC-77DF-4ACF-B8EA-15429E8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CB369-9CE5-4080-8236-E4B2D316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09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选择数据来源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3E8DD-1288-4695-9934-178E4E8B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BD5F9-35BE-4AF2-9D60-39911F8D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5339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导入模板并核对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7DD6-687D-49B8-856D-8850EF6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教学映射：SAP Ariba 询价评审。企业数据采用导出文件或人工填报</a:t>
            </a:r>
          </a:p>
        </p:txBody>
      </p:sp>
    </p:spTree>
    <p:extLst>
      <p:ext uri="{BB962C8B-B14F-4D97-AF65-F5344CB8AC3E}">
        <p14:creationId xmlns:p14="http://schemas.microsoft.com/office/powerpoint/2010/main" val="74864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92579-D83D-45FE-9F5C-5BAFAEB058E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48700" y="22002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2F5B1-4189-40DD-A61F-4DA5B256046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72150" y="22002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0120B-B6F3-4D2A-9A47-E533795A1C8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95600" y="22002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7FA8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F32A6-A702-4408-902E-0D6D1F65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企业适配复盘与持续讨论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F3E24-6D49-4973-B094-A999323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学员陈述事实，管理员核对后返回建议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A5B06-5C5C-4D3E-A711-38734F83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航材采购 AI 智能化实战工作坊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6BB70-E168-4939-A0E9-CD2194E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FBF7C-B1E8-46AD-9692-49D2615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学员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整理与确认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89EC-4D7B-453F-AB16-498F086F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811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分类与咨询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E7BA6-28FD-4506-A7CC-74BDF80E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811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编辑与返回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542C6-758A-4192-96F9-AAF717E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81175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BDD3E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学员</a:t>
            </a:r>
          </a:p>
          <a:p xmlns:a="http://schemas.openxmlformats.org/drawingml/2006/main">
            <a:pPr algn="ctr">
              <a:def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查看与追问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8565C-A349-49E5-AC96-E1BD33D595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bff91bb8f443b"/>
          <a:stretch xmlns:a="http://schemas.openxmlformats.org/drawingml/2006/main"/>
        </p:blipFill>
        <p:spPr>
          <a:xfrm xmlns:a="http://schemas.openxmlformats.org/drawingml/2006/main">
            <a:off x="1300163" y="3171825"/>
            <a:ext cx="5810250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3F633-2B3A-4251-BDD1-33DC306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34D"/>
                </a:solidFill>
                <a:latin typeface="PingFang SC"/>
                <a:ea typeface="PingFang SC"/>
                <a:cs typeface="PingFang SC"/>
              </a:rPr>
              <a:t>按模块与学员定位问题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C22AA-E5B7-4B1D-A9EE-685ECF14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67D91"/>
                </a:solidFill>
                <a:latin typeface="PingFang SC"/>
                <a:ea typeface="PingFang SC"/>
                <a:cs typeface="PingFang SC"/>
              </a:rPr>
              <a:t>图表、文字与流程共同说明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4A4FB-A4C4-4DB5-86E5-4CBD0FF8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6252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477FA8"/>
                </a:solidFill>
                <a:latin typeface="PingFang SC"/>
                <a:ea typeface="PingFang SC"/>
                <a:cs typeface="PingFang SC"/>
              </a:rPr>
              <a:t>回复后仍可继续提问</a:t>
            </a:r>
          </a:p>
        </p:txBody>
      </p:sp>
    </p:spTree>
    <p:extLst>
      <p:ext uri="{BB962C8B-B14F-4D97-AF65-F5344CB8AC3E}">
        <p14:creationId xmlns:p14="http://schemas.microsoft.com/office/powerpoint/2010/main" val="1336021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2026-10-28T09:00:12.6750000Z</dcterms:created>
  <dcterms:modified xsi:type="dcterms:W3CDTF">2026-10-28T09:00:12.6750000Z</dcterms:modified>
</coreProperties>
</file>