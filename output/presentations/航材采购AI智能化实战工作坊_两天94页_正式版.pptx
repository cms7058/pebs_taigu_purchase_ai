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4.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slides/charts/chart5.xml" ContentType="application/vnd.openxmlformats-officedocument.drawingml.chart+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slides/charts/chart6.xml" ContentType="application/vnd.openxmlformats-officedocument.drawingml.chart+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slides/charts/chart7.xml" ContentType="application/vnd.openxmlformats-officedocument.drawingml.chart+xml"/>
  <Override PartName="/ppt/notesSlides/notesSlide63.xml" ContentType="application/vnd.openxmlformats-officedocument.presentationml.notesSlide+xml"/>
  <Override PartName="/ppt/slides/slide64.xml" ContentType="application/vnd.openxmlformats-officedocument.presentationml.slide+xml"/>
  <Override PartName="/ppt/slides/charts/chart8.xml" ContentType="application/vnd.openxmlformats-officedocument.drawingml.chart+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slides/charts/chart9.xml" ContentType="application/vnd.openxmlformats-officedocument.drawingml.chart+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slides/charts/chart10.xml" ContentType="application/vnd.openxmlformats-officedocument.drawingml.chart+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7fc7fb967f54682" /><Relationship Type="http://schemas.openxmlformats.org/officeDocument/2006/relationships/extended-properties" Target="/docProps/app.xml" Id="R804b4cf0c8904167" /><Relationship Type="http://schemas.openxmlformats.org/officeDocument/2006/relationships/officeDocument" Target="/ppt/presentation.xml" Id="R7983ef3bbf0d42f1" /></Relationships>
</file>

<file path=ppt/presentation.xml><?xml version="1.0" encoding="utf-8"?>
<p:presentation xmlns:p="http://schemas.openxmlformats.org/presentationml/2006/main">
  <p:sldMasterIdLst>
    <p:sldMasterId xmlns:r="http://schemas.openxmlformats.org/officeDocument/2006/relationships" id="2147483648" r:id="R47dc2bb8894e4f6a"/>
  </p:sldMasterIdLst>
  <p:notesMasterIdLst>
    <p:notesMasterId xmlns:r="http://schemas.openxmlformats.org/officeDocument/2006/relationships" r:id="R25f8ae0e47bc4fb8"/>
  </p:notesMasterIdLst>
  <p:sldIdLst>
    <p:sldId xmlns:r="http://schemas.openxmlformats.org/officeDocument/2006/relationships" id="256" r:id="R8f945c8c4a6b42a9"/>
    <p:sldId xmlns:r="http://schemas.openxmlformats.org/officeDocument/2006/relationships" id="257" r:id="Rbc67f83207024788"/>
    <p:sldId xmlns:r="http://schemas.openxmlformats.org/officeDocument/2006/relationships" id="258" r:id="R71d264b13f3f4b29"/>
    <p:sldId xmlns:r="http://schemas.openxmlformats.org/officeDocument/2006/relationships" id="259" r:id="R2eebf53cc6de4360"/>
    <p:sldId xmlns:r="http://schemas.openxmlformats.org/officeDocument/2006/relationships" id="260" r:id="R8a084d2736c94cb0"/>
    <p:sldId xmlns:r="http://schemas.openxmlformats.org/officeDocument/2006/relationships" id="261" r:id="R0cd4e3f836d04efc"/>
    <p:sldId xmlns:r="http://schemas.openxmlformats.org/officeDocument/2006/relationships" id="262" r:id="R9c821d7025644b4d"/>
    <p:sldId xmlns:r="http://schemas.openxmlformats.org/officeDocument/2006/relationships" id="263" r:id="Rbd33322297094748"/>
    <p:sldId xmlns:r="http://schemas.openxmlformats.org/officeDocument/2006/relationships" id="264" r:id="R6eb66d16aca848ae"/>
    <p:sldId xmlns:r="http://schemas.openxmlformats.org/officeDocument/2006/relationships" id="265" r:id="Rae2473e1919744da"/>
    <p:sldId xmlns:r="http://schemas.openxmlformats.org/officeDocument/2006/relationships" id="266" r:id="Rcd967887148448ae"/>
    <p:sldId xmlns:r="http://schemas.openxmlformats.org/officeDocument/2006/relationships" id="267" r:id="Rc20c3b00a5c44715"/>
    <p:sldId xmlns:r="http://schemas.openxmlformats.org/officeDocument/2006/relationships" id="268" r:id="R0cea89dee2f24e5d"/>
    <p:sldId xmlns:r="http://schemas.openxmlformats.org/officeDocument/2006/relationships" id="269" r:id="R88f9c8e1b10d4d28"/>
    <p:sldId xmlns:r="http://schemas.openxmlformats.org/officeDocument/2006/relationships" id="270" r:id="Rbdd54bb009d94420"/>
    <p:sldId xmlns:r="http://schemas.openxmlformats.org/officeDocument/2006/relationships" id="271" r:id="R7edf65a913454f7a"/>
    <p:sldId xmlns:r="http://schemas.openxmlformats.org/officeDocument/2006/relationships" id="272" r:id="R42c3410c960f462a"/>
    <p:sldId xmlns:r="http://schemas.openxmlformats.org/officeDocument/2006/relationships" id="273" r:id="R6597744dc7374ffc"/>
    <p:sldId xmlns:r="http://schemas.openxmlformats.org/officeDocument/2006/relationships" id="274" r:id="R845e95e101244acb"/>
    <p:sldId xmlns:r="http://schemas.openxmlformats.org/officeDocument/2006/relationships" id="275" r:id="R2f47d17fe47f43ed"/>
    <p:sldId xmlns:r="http://schemas.openxmlformats.org/officeDocument/2006/relationships" id="276" r:id="R2707b2e9c5c843af"/>
    <p:sldId xmlns:r="http://schemas.openxmlformats.org/officeDocument/2006/relationships" id="277" r:id="R65c122ac2b564035"/>
    <p:sldId xmlns:r="http://schemas.openxmlformats.org/officeDocument/2006/relationships" id="278" r:id="Rf27572fb29bf40b2"/>
    <p:sldId xmlns:r="http://schemas.openxmlformats.org/officeDocument/2006/relationships" id="279" r:id="Rad3dc1e7a3054752"/>
    <p:sldId xmlns:r="http://schemas.openxmlformats.org/officeDocument/2006/relationships" id="280" r:id="R6952a2c17c8347ad"/>
    <p:sldId xmlns:r="http://schemas.openxmlformats.org/officeDocument/2006/relationships" id="281" r:id="R9eab42ffe9e74f62"/>
    <p:sldId xmlns:r="http://schemas.openxmlformats.org/officeDocument/2006/relationships" id="282" r:id="R7058c6500e1a4608"/>
    <p:sldId xmlns:r="http://schemas.openxmlformats.org/officeDocument/2006/relationships" id="283" r:id="R3201da46a8924874"/>
    <p:sldId xmlns:r="http://schemas.openxmlformats.org/officeDocument/2006/relationships" id="284" r:id="Rad78e34f616547f7"/>
    <p:sldId xmlns:r="http://schemas.openxmlformats.org/officeDocument/2006/relationships" id="285" r:id="Ra5a649c749c44d9f"/>
    <p:sldId xmlns:r="http://schemas.openxmlformats.org/officeDocument/2006/relationships" id="286" r:id="Rb16d9d4eb9354a89"/>
    <p:sldId xmlns:r="http://schemas.openxmlformats.org/officeDocument/2006/relationships" id="287" r:id="R3fe1cd70773c4ba0"/>
    <p:sldId xmlns:r="http://schemas.openxmlformats.org/officeDocument/2006/relationships" id="288" r:id="R2b418566dfaa443f"/>
    <p:sldId xmlns:r="http://schemas.openxmlformats.org/officeDocument/2006/relationships" id="289" r:id="R56c5f7b6b0054283"/>
    <p:sldId xmlns:r="http://schemas.openxmlformats.org/officeDocument/2006/relationships" id="290" r:id="Rbed2ca29abdc48c8"/>
    <p:sldId xmlns:r="http://schemas.openxmlformats.org/officeDocument/2006/relationships" id="291" r:id="Rabe0ea3c5bc54f1d"/>
    <p:sldId xmlns:r="http://schemas.openxmlformats.org/officeDocument/2006/relationships" id="292" r:id="R200fc56317464431"/>
    <p:sldId xmlns:r="http://schemas.openxmlformats.org/officeDocument/2006/relationships" id="293" r:id="R76c9f695d7004e3d"/>
    <p:sldId xmlns:r="http://schemas.openxmlformats.org/officeDocument/2006/relationships" id="294" r:id="Rc51de28c328d4540"/>
    <p:sldId xmlns:r="http://schemas.openxmlformats.org/officeDocument/2006/relationships" id="295" r:id="R7ed91e15ab794f06"/>
    <p:sldId xmlns:r="http://schemas.openxmlformats.org/officeDocument/2006/relationships" id="296" r:id="Rf1ff7c604b4e4d15"/>
    <p:sldId xmlns:r="http://schemas.openxmlformats.org/officeDocument/2006/relationships" id="297" r:id="R16fb96446d5347a2"/>
    <p:sldId xmlns:r="http://schemas.openxmlformats.org/officeDocument/2006/relationships" id="298" r:id="R18c591c760e0413b"/>
    <p:sldId xmlns:r="http://schemas.openxmlformats.org/officeDocument/2006/relationships" id="299" r:id="Rf79369cf6be649b4"/>
    <p:sldId xmlns:r="http://schemas.openxmlformats.org/officeDocument/2006/relationships" id="300" r:id="R41e291337f0c44e3"/>
    <p:sldId xmlns:r="http://schemas.openxmlformats.org/officeDocument/2006/relationships" id="301" r:id="Rbc6845bfdd2a4570"/>
    <p:sldId xmlns:r="http://schemas.openxmlformats.org/officeDocument/2006/relationships" id="302" r:id="Rd9dc5ed914a14be8"/>
    <p:sldId xmlns:r="http://schemas.openxmlformats.org/officeDocument/2006/relationships" id="303" r:id="R8aefdee195da4617"/>
    <p:sldId xmlns:r="http://schemas.openxmlformats.org/officeDocument/2006/relationships" id="304" r:id="R7c98b2430b9a4ff2"/>
    <p:sldId xmlns:r="http://schemas.openxmlformats.org/officeDocument/2006/relationships" id="305" r:id="R25cc6c141c8d4e0a"/>
    <p:sldId xmlns:r="http://schemas.openxmlformats.org/officeDocument/2006/relationships" id="306" r:id="R3e61f7a48c774f2a"/>
    <p:sldId xmlns:r="http://schemas.openxmlformats.org/officeDocument/2006/relationships" id="307" r:id="R0b66891119aa456d"/>
    <p:sldId xmlns:r="http://schemas.openxmlformats.org/officeDocument/2006/relationships" id="308" r:id="R642d963e204c4d68"/>
    <p:sldId xmlns:r="http://schemas.openxmlformats.org/officeDocument/2006/relationships" id="309" r:id="Re15c544269474fbd"/>
    <p:sldId xmlns:r="http://schemas.openxmlformats.org/officeDocument/2006/relationships" id="310" r:id="R3ccdf67518fa4673"/>
    <p:sldId xmlns:r="http://schemas.openxmlformats.org/officeDocument/2006/relationships" id="311" r:id="Rc15411426d7d4a9a"/>
    <p:sldId xmlns:r="http://schemas.openxmlformats.org/officeDocument/2006/relationships" id="312" r:id="Rf6df472c26c547c6"/>
    <p:sldId xmlns:r="http://schemas.openxmlformats.org/officeDocument/2006/relationships" id="313" r:id="R24d46d9e60a04e8d"/>
    <p:sldId xmlns:r="http://schemas.openxmlformats.org/officeDocument/2006/relationships" id="314" r:id="R7bf65152763a4b80"/>
    <p:sldId xmlns:r="http://schemas.openxmlformats.org/officeDocument/2006/relationships" id="315" r:id="Rf86a198f29964c8c"/>
    <p:sldId xmlns:r="http://schemas.openxmlformats.org/officeDocument/2006/relationships" id="316" r:id="R118a662ec5d94665"/>
    <p:sldId xmlns:r="http://schemas.openxmlformats.org/officeDocument/2006/relationships" id="317" r:id="R181571122c9e4657"/>
    <p:sldId xmlns:r="http://schemas.openxmlformats.org/officeDocument/2006/relationships" id="318" r:id="R8577c05df59e4a83"/>
    <p:sldId xmlns:r="http://schemas.openxmlformats.org/officeDocument/2006/relationships" id="319" r:id="Rb7b8faa357bd4eb8"/>
    <p:sldId xmlns:r="http://schemas.openxmlformats.org/officeDocument/2006/relationships" id="320" r:id="R679f0eea2234499e"/>
    <p:sldId xmlns:r="http://schemas.openxmlformats.org/officeDocument/2006/relationships" id="321" r:id="Rfc2533969ed04f1d"/>
    <p:sldId xmlns:r="http://schemas.openxmlformats.org/officeDocument/2006/relationships" id="322" r:id="Rc07ef5bb8f864a57"/>
    <p:sldId xmlns:r="http://schemas.openxmlformats.org/officeDocument/2006/relationships" id="323" r:id="R1524a8d3eb2b4996"/>
    <p:sldId xmlns:r="http://schemas.openxmlformats.org/officeDocument/2006/relationships" id="324" r:id="R9255947e97f74856"/>
    <p:sldId xmlns:r="http://schemas.openxmlformats.org/officeDocument/2006/relationships" id="325" r:id="R4097a9e3bdcd42d1"/>
    <p:sldId xmlns:r="http://schemas.openxmlformats.org/officeDocument/2006/relationships" id="326" r:id="R158c50118b7a4e96"/>
    <p:sldId xmlns:r="http://schemas.openxmlformats.org/officeDocument/2006/relationships" id="327" r:id="R27df5382a287467a"/>
    <p:sldId xmlns:r="http://schemas.openxmlformats.org/officeDocument/2006/relationships" id="328" r:id="Rb212ce2368ac49d0"/>
    <p:sldId xmlns:r="http://schemas.openxmlformats.org/officeDocument/2006/relationships" id="329" r:id="Rcfb660e4037840dd"/>
    <p:sldId xmlns:r="http://schemas.openxmlformats.org/officeDocument/2006/relationships" id="330" r:id="Rd0ec4fb8646d4393"/>
    <p:sldId xmlns:r="http://schemas.openxmlformats.org/officeDocument/2006/relationships" id="331" r:id="Rc632e2d534b440d8"/>
    <p:sldId xmlns:r="http://schemas.openxmlformats.org/officeDocument/2006/relationships" id="332" r:id="R820b466abd8e4b6e"/>
    <p:sldId xmlns:r="http://schemas.openxmlformats.org/officeDocument/2006/relationships" id="333" r:id="R8c340bad99b54e4f"/>
    <p:sldId xmlns:r="http://schemas.openxmlformats.org/officeDocument/2006/relationships" id="334" r:id="R5a6de065e8fb4acb"/>
    <p:sldId xmlns:r="http://schemas.openxmlformats.org/officeDocument/2006/relationships" id="335" r:id="R577ad41f95894102"/>
    <p:sldId xmlns:r="http://schemas.openxmlformats.org/officeDocument/2006/relationships" id="336" r:id="Rae6639b69adc4bc3"/>
    <p:sldId xmlns:r="http://schemas.openxmlformats.org/officeDocument/2006/relationships" id="337" r:id="R74c999e896bc4820"/>
    <p:sldId xmlns:r="http://schemas.openxmlformats.org/officeDocument/2006/relationships" id="338" r:id="R75d81dd21c354d89"/>
    <p:sldId xmlns:r="http://schemas.openxmlformats.org/officeDocument/2006/relationships" id="339" r:id="R1b063a59a47e42aa"/>
    <p:sldId xmlns:r="http://schemas.openxmlformats.org/officeDocument/2006/relationships" id="340" r:id="Rc639dcd956d641e7"/>
    <p:sldId xmlns:r="http://schemas.openxmlformats.org/officeDocument/2006/relationships" id="341" r:id="Rf806f5b5b1ff4f0a"/>
    <p:sldId xmlns:r="http://schemas.openxmlformats.org/officeDocument/2006/relationships" id="342" r:id="R679d6a01ba45467d"/>
    <p:sldId xmlns:r="http://schemas.openxmlformats.org/officeDocument/2006/relationships" id="343" r:id="Rad44165a87fb4960"/>
    <p:sldId xmlns:r="http://schemas.openxmlformats.org/officeDocument/2006/relationships" id="344" r:id="Rfe5bf180558f4cdc"/>
    <p:sldId xmlns:r="http://schemas.openxmlformats.org/officeDocument/2006/relationships" id="345" r:id="R32e17bbc36874f2b"/>
    <p:sldId xmlns:r="http://schemas.openxmlformats.org/officeDocument/2006/relationships" id="346" r:id="R4d95b2a7c06a4ef9"/>
    <p:sldId xmlns:r="http://schemas.openxmlformats.org/officeDocument/2006/relationships" id="347" r:id="R9b472945f48a4f2b"/>
    <p:sldId xmlns:r="http://schemas.openxmlformats.org/officeDocument/2006/relationships" id="348" r:id="R657a208342664306"/>
    <p:sldId xmlns:r="http://schemas.openxmlformats.org/officeDocument/2006/relationships" id="349" r:id="Rcef1b5a4c0d745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6c124568ea4ab5" /><Relationship Type="http://schemas.openxmlformats.org/officeDocument/2006/relationships/slideMaster" Target="/ppt/slideMasters/slideMaster1.xml" Id="R47dc2bb8894e4f6a" /><Relationship Type="http://schemas.openxmlformats.org/officeDocument/2006/relationships/notesMaster" Target="/ppt/notesMasters/notesMaster1.xml" Id="R25f8ae0e47bc4fb8" /><Relationship Type="http://schemas.openxmlformats.org/officeDocument/2006/relationships/presProps" Target="/ppt/presProps.xml" Id="R0fc0163c91074a53" /><Relationship Type="http://schemas.openxmlformats.org/officeDocument/2006/relationships/tableStyles" Target="/ppt/tableStyles.xml" Id="Ra6fc163f05fb4d39" /><Relationship Type="http://schemas.openxmlformats.org/officeDocument/2006/relationships/slide" Target="/ppt/slides/slide1.xml" Id="R8f945c8c4a6b42a9" /><Relationship Type="http://schemas.openxmlformats.org/officeDocument/2006/relationships/slide" Target="/ppt/slides/slide2.xml" Id="Rbc67f83207024788" /><Relationship Type="http://schemas.openxmlformats.org/officeDocument/2006/relationships/slide" Target="/ppt/slides/slide3.xml" Id="R71d264b13f3f4b29" /><Relationship Type="http://schemas.openxmlformats.org/officeDocument/2006/relationships/slide" Target="/ppt/slides/slide4.xml" Id="R2eebf53cc6de4360" /><Relationship Type="http://schemas.openxmlformats.org/officeDocument/2006/relationships/slide" Target="/ppt/slides/slide5.xml" Id="R8a084d2736c94cb0" /><Relationship Type="http://schemas.openxmlformats.org/officeDocument/2006/relationships/slide" Target="/ppt/slides/slide6.xml" Id="R0cd4e3f836d04efc" /><Relationship Type="http://schemas.openxmlformats.org/officeDocument/2006/relationships/slide" Target="/ppt/slides/slide7.xml" Id="R9c821d7025644b4d" /><Relationship Type="http://schemas.openxmlformats.org/officeDocument/2006/relationships/slide" Target="/ppt/slides/slide8.xml" Id="Rbd33322297094748" /><Relationship Type="http://schemas.openxmlformats.org/officeDocument/2006/relationships/slide" Target="/ppt/slides/slide9.xml" Id="R6eb66d16aca848ae" /><Relationship Type="http://schemas.openxmlformats.org/officeDocument/2006/relationships/slide" Target="/ppt/slides/slide10.xml" Id="Rae2473e1919744da" /><Relationship Type="http://schemas.openxmlformats.org/officeDocument/2006/relationships/slide" Target="/ppt/slides/slide11.xml" Id="Rcd967887148448ae" /><Relationship Type="http://schemas.openxmlformats.org/officeDocument/2006/relationships/slide" Target="/ppt/slides/slide12.xml" Id="Rc20c3b00a5c44715" /><Relationship Type="http://schemas.openxmlformats.org/officeDocument/2006/relationships/slide" Target="/ppt/slides/slide13.xml" Id="R0cea89dee2f24e5d" /><Relationship Type="http://schemas.openxmlformats.org/officeDocument/2006/relationships/slide" Target="/ppt/slides/slide14.xml" Id="R88f9c8e1b10d4d28" /><Relationship Type="http://schemas.openxmlformats.org/officeDocument/2006/relationships/slide" Target="/ppt/slides/slide15.xml" Id="Rbdd54bb009d94420" /><Relationship Type="http://schemas.openxmlformats.org/officeDocument/2006/relationships/slide" Target="/ppt/slides/slide16.xml" Id="R7edf65a913454f7a" /><Relationship Type="http://schemas.openxmlformats.org/officeDocument/2006/relationships/slide" Target="/ppt/slides/slide17.xml" Id="R42c3410c960f462a" /><Relationship Type="http://schemas.openxmlformats.org/officeDocument/2006/relationships/slide" Target="/ppt/slides/slide18.xml" Id="R6597744dc7374ffc" /><Relationship Type="http://schemas.openxmlformats.org/officeDocument/2006/relationships/slide" Target="/ppt/slides/slide19.xml" Id="R845e95e101244acb" /><Relationship Type="http://schemas.openxmlformats.org/officeDocument/2006/relationships/slide" Target="/ppt/slides/slide20.xml" Id="R2f47d17fe47f43ed" /><Relationship Type="http://schemas.openxmlformats.org/officeDocument/2006/relationships/slide" Target="/ppt/slides/slide21.xml" Id="R2707b2e9c5c843af" /><Relationship Type="http://schemas.openxmlformats.org/officeDocument/2006/relationships/slide" Target="/ppt/slides/slide22.xml" Id="R65c122ac2b564035" /><Relationship Type="http://schemas.openxmlformats.org/officeDocument/2006/relationships/slide" Target="/ppt/slides/slide23.xml" Id="Rf27572fb29bf40b2" /><Relationship Type="http://schemas.openxmlformats.org/officeDocument/2006/relationships/slide" Target="/ppt/slides/slide24.xml" Id="Rad3dc1e7a3054752" /><Relationship Type="http://schemas.openxmlformats.org/officeDocument/2006/relationships/slide" Target="/ppt/slides/slide25.xml" Id="R6952a2c17c8347ad" /><Relationship Type="http://schemas.openxmlformats.org/officeDocument/2006/relationships/slide" Target="/ppt/slides/slide26.xml" Id="R9eab42ffe9e74f62" /><Relationship Type="http://schemas.openxmlformats.org/officeDocument/2006/relationships/slide" Target="/ppt/slides/slide27.xml" Id="R7058c6500e1a4608" /><Relationship Type="http://schemas.openxmlformats.org/officeDocument/2006/relationships/slide" Target="/ppt/slides/slide28.xml" Id="R3201da46a8924874" /><Relationship Type="http://schemas.openxmlformats.org/officeDocument/2006/relationships/slide" Target="/ppt/slides/slide29.xml" Id="Rad78e34f616547f7" /><Relationship Type="http://schemas.openxmlformats.org/officeDocument/2006/relationships/slide" Target="/ppt/slides/slide30.xml" Id="Ra5a649c749c44d9f" /><Relationship Type="http://schemas.openxmlformats.org/officeDocument/2006/relationships/slide" Target="/ppt/slides/slide31.xml" Id="Rb16d9d4eb9354a89" /><Relationship Type="http://schemas.openxmlformats.org/officeDocument/2006/relationships/slide" Target="/ppt/slides/slide32.xml" Id="R3fe1cd70773c4ba0" /><Relationship Type="http://schemas.openxmlformats.org/officeDocument/2006/relationships/slide" Target="/ppt/slides/slide33.xml" Id="R2b418566dfaa443f" /><Relationship Type="http://schemas.openxmlformats.org/officeDocument/2006/relationships/slide" Target="/ppt/slides/slide34.xml" Id="R56c5f7b6b0054283" /><Relationship Type="http://schemas.openxmlformats.org/officeDocument/2006/relationships/slide" Target="/ppt/slides/slide35.xml" Id="Rbed2ca29abdc48c8" /><Relationship Type="http://schemas.openxmlformats.org/officeDocument/2006/relationships/slide" Target="/ppt/slides/slide36.xml" Id="Rabe0ea3c5bc54f1d" /><Relationship Type="http://schemas.openxmlformats.org/officeDocument/2006/relationships/slide" Target="/ppt/slides/slide37.xml" Id="R200fc56317464431" /><Relationship Type="http://schemas.openxmlformats.org/officeDocument/2006/relationships/slide" Target="/ppt/slides/slide38.xml" Id="R76c9f695d7004e3d" /><Relationship Type="http://schemas.openxmlformats.org/officeDocument/2006/relationships/slide" Target="/ppt/slides/slide39.xml" Id="Rc51de28c328d4540" /><Relationship Type="http://schemas.openxmlformats.org/officeDocument/2006/relationships/slide" Target="/ppt/slides/slide40.xml" Id="R7ed91e15ab794f06" /><Relationship Type="http://schemas.openxmlformats.org/officeDocument/2006/relationships/slide" Target="/ppt/slides/slide41.xml" Id="Rf1ff7c604b4e4d15" /><Relationship Type="http://schemas.openxmlformats.org/officeDocument/2006/relationships/slide" Target="/ppt/slides/slide42.xml" Id="R16fb96446d5347a2" /><Relationship Type="http://schemas.openxmlformats.org/officeDocument/2006/relationships/slide" Target="/ppt/slides/slide43.xml" Id="R18c591c760e0413b" /><Relationship Type="http://schemas.openxmlformats.org/officeDocument/2006/relationships/slide" Target="/ppt/slides/slide44.xml" Id="Rf79369cf6be649b4" /><Relationship Type="http://schemas.openxmlformats.org/officeDocument/2006/relationships/slide" Target="/ppt/slides/slide45.xml" Id="R41e291337f0c44e3" /><Relationship Type="http://schemas.openxmlformats.org/officeDocument/2006/relationships/slide" Target="/ppt/slides/slide46.xml" Id="Rbc6845bfdd2a4570" /><Relationship Type="http://schemas.openxmlformats.org/officeDocument/2006/relationships/slide" Target="/ppt/slides/slide47.xml" Id="Rd9dc5ed914a14be8" /><Relationship Type="http://schemas.openxmlformats.org/officeDocument/2006/relationships/slide" Target="/ppt/slides/slide48.xml" Id="R8aefdee195da4617" /><Relationship Type="http://schemas.openxmlformats.org/officeDocument/2006/relationships/slide" Target="/ppt/slides/slide49.xml" Id="R7c98b2430b9a4ff2" /><Relationship Type="http://schemas.openxmlformats.org/officeDocument/2006/relationships/slide" Target="/ppt/slides/slide50.xml" Id="R25cc6c141c8d4e0a" /><Relationship Type="http://schemas.openxmlformats.org/officeDocument/2006/relationships/slide" Target="/ppt/slides/slide51.xml" Id="R3e61f7a48c774f2a" /><Relationship Type="http://schemas.openxmlformats.org/officeDocument/2006/relationships/slide" Target="/ppt/slides/slide52.xml" Id="R0b66891119aa456d" /><Relationship Type="http://schemas.openxmlformats.org/officeDocument/2006/relationships/slide" Target="/ppt/slides/slide53.xml" Id="R642d963e204c4d68" /><Relationship Type="http://schemas.openxmlformats.org/officeDocument/2006/relationships/slide" Target="/ppt/slides/slide54.xml" Id="Re15c544269474fbd" /><Relationship Type="http://schemas.openxmlformats.org/officeDocument/2006/relationships/slide" Target="/ppt/slides/slide55.xml" Id="R3ccdf67518fa4673" /><Relationship Type="http://schemas.openxmlformats.org/officeDocument/2006/relationships/slide" Target="/ppt/slides/slide56.xml" Id="Rc15411426d7d4a9a" /><Relationship Type="http://schemas.openxmlformats.org/officeDocument/2006/relationships/slide" Target="/ppt/slides/slide57.xml" Id="Rf6df472c26c547c6" /><Relationship Type="http://schemas.openxmlformats.org/officeDocument/2006/relationships/slide" Target="/ppt/slides/slide58.xml" Id="R24d46d9e60a04e8d" /><Relationship Type="http://schemas.openxmlformats.org/officeDocument/2006/relationships/slide" Target="/ppt/slides/slide59.xml" Id="R7bf65152763a4b80" /><Relationship Type="http://schemas.openxmlformats.org/officeDocument/2006/relationships/slide" Target="/ppt/slides/slide60.xml" Id="Rf86a198f29964c8c" /><Relationship Type="http://schemas.openxmlformats.org/officeDocument/2006/relationships/slide" Target="/ppt/slides/slide61.xml" Id="R118a662ec5d94665" /><Relationship Type="http://schemas.openxmlformats.org/officeDocument/2006/relationships/slide" Target="/ppt/slides/slide62.xml" Id="R181571122c9e4657" /><Relationship Type="http://schemas.openxmlformats.org/officeDocument/2006/relationships/slide" Target="/ppt/slides/slide63.xml" Id="R8577c05df59e4a83" /><Relationship Type="http://schemas.openxmlformats.org/officeDocument/2006/relationships/slide" Target="/ppt/slides/slide64.xml" Id="Rb7b8faa357bd4eb8" /><Relationship Type="http://schemas.openxmlformats.org/officeDocument/2006/relationships/slide" Target="/ppt/slides/slide65.xml" Id="R679f0eea2234499e" /><Relationship Type="http://schemas.openxmlformats.org/officeDocument/2006/relationships/slide" Target="/ppt/slides/slide66.xml" Id="Rfc2533969ed04f1d" /><Relationship Type="http://schemas.openxmlformats.org/officeDocument/2006/relationships/slide" Target="/ppt/slides/slide67.xml" Id="Rc07ef5bb8f864a57" /><Relationship Type="http://schemas.openxmlformats.org/officeDocument/2006/relationships/slide" Target="/ppt/slides/slide68.xml" Id="R1524a8d3eb2b4996" /><Relationship Type="http://schemas.openxmlformats.org/officeDocument/2006/relationships/slide" Target="/ppt/slides/slide69.xml" Id="R9255947e97f74856" /><Relationship Type="http://schemas.openxmlformats.org/officeDocument/2006/relationships/slide" Target="/ppt/slides/slide70.xml" Id="R4097a9e3bdcd42d1" /><Relationship Type="http://schemas.openxmlformats.org/officeDocument/2006/relationships/slide" Target="/ppt/slides/slide71.xml" Id="R158c50118b7a4e96" /><Relationship Type="http://schemas.openxmlformats.org/officeDocument/2006/relationships/slide" Target="/ppt/slides/slide72.xml" Id="R27df5382a287467a" /><Relationship Type="http://schemas.openxmlformats.org/officeDocument/2006/relationships/slide" Target="/ppt/slides/slide73.xml" Id="Rb212ce2368ac49d0" /><Relationship Type="http://schemas.openxmlformats.org/officeDocument/2006/relationships/slide" Target="/ppt/slides/slide74.xml" Id="Rcfb660e4037840dd" /><Relationship Type="http://schemas.openxmlformats.org/officeDocument/2006/relationships/slide" Target="/ppt/slides/slide75.xml" Id="Rd0ec4fb8646d4393" /><Relationship Type="http://schemas.openxmlformats.org/officeDocument/2006/relationships/slide" Target="/ppt/slides/slide76.xml" Id="Rc632e2d534b440d8" /><Relationship Type="http://schemas.openxmlformats.org/officeDocument/2006/relationships/slide" Target="/ppt/slides/slide77.xml" Id="R820b466abd8e4b6e" /><Relationship Type="http://schemas.openxmlformats.org/officeDocument/2006/relationships/slide" Target="/ppt/slides/slide78.xml" Id="R8c340bad99b54e4f" /><Relationship Type="http://schemas.openxmlformats.org/officeDocument/2006/relationships/slide" Target="/ppt/slides/slide79.xml" Id="R5a6de065e8fb4acb" /><Relationship Type="http://schemas.openxmlformats.org/officeDocument/2006/relationships/slide" Target="/ppt/slides/slide80.xml" Id="R577ad41f95894102" /><Relationship Type="http://schemas.openxmlformats.org/officeDocument/2006/relationships/slide" Target="/ppt/slides/slide81.xml" Id="Rae6639b69adc4bc3" /><Relationship Type="http://schemas.openxmlformats.org/officeDocument/2006/relationships/slide" Target="/ppt/slides/slide82.xml" Id="R74c999e896bc4820" /><Relationship Type="http://schemas.openxmlformats.org/officeDocument/2006/relationships/slide" Target="/ppt/slides/slide83.xml" Id="R75d81dd21c354d89" /><Relationship Type="http://schemas.openxmlformats.org/officeDocument/2006/relationships/slide" Target="/ppt/slides/slide84.xml" Id="R1b063a59a47e42aa" /><Relationship Type="http://schemas.openxmlformats.org/officeDocument/2006/relationships/slide" Target="/ppt/slides/slide85.xml" Id="Rc639dcd956d641e7" /><Relationship Type="http://schemas.openxmlformats.org/officeDocument/2006/relationships/slide" Target="/ppt/slides/slide86.xml" Id="Rf806f5b5b1ff4f0a" /><Relationship Type="http://schemas.openxmlformats.org/officeDocument/2006/relationships/slide" Target="/ppt/slides/slide87.xml" Id="R679d6a01ba45467d" /><Relationship Type="http://schemas.openxmlformats.org/officeDocument/2006/relationships/slide" Target="/ppt/slides/slide88.xml" Id="Rad44165a87fb4960" /><Relationship Type="http://schemas.openxmlformats.org/officeDocument/2006/relationships/slide" Target="/ppt/slides/slide89.xml" Id="Rfe5bf180558f4cdc" /><Relationship Type="http://schemas.openxmlformats.org/officeDocument/2006/relationships/slide" Target="/ppt/slides/slide90.xml" Id="R32e17bbc36874f2b" /><Relationship Type="http://schemas.openxmlformats.org/officeDocument/2006/relationships/slide" Target="/ppt/slides/slide91.xml" Id="R4d95b2a7c06a4ef9" /><Relationship Type="http://schemas.openxmlformats.org/officeDocument/2006/relationships/slide" Target="/ppt/slides/slide92.xml" Id="R9b472945f48a4f2b" /><Relationship Type="http://schemas.openxmlformats.org/officeDocument/2006/relationships/slide" Target="/ppt/slides/slide93.xml" Id="R657a208342664306" /><Relationship Type="http://schemas.openxmlformats.org/officeDocument/2006/relationships/slide" Target="/ppt/slides/slide94.xml" Id="Rcef1b5a4c0d745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0e1c42231c45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4f60f4b72043cc" /><Relationship Type="http://schemas.openxmlformats.org/officeDocument/2006/relationships/notesMaster" Target="/ppt/notesMasters/notesMaster1.xml" Id="Rc9f39191400540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98292262544abf" /><Relationship Type="http://schemas.openxmlformats.org/officeDocument/2006/relationships/notesMaster" Target="/ppt/notesMasters/notesMaster1.xml" Id="R5b235e229c6545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749ced64e54f67" /><Relationship Type="http://schemas.openxmlformats.org/officeDocument/2006/relationships/notesMaster" Target="/ppt/notesMasters/notesMaster1.xml" Id="R8aab203d9e9b4b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e0b6eda07b46d8" /><Relationship Type="http://schemas.openxmlformats.org/officeDocument/2006/relationships/notesMaster" Target="/ppt/notesMasters/notesMaster1.xml" Id="Rd17a02a2f2074b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136fd4ccb24baf" /><Relationship Type="http://schemas.openxmlformats.org/officeDocument/2006/relationships/notesMaster" Target="/ppt/notesMasters/notesMaster1.xml" Id="Rf9542f7eaebc4e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a75e47acac49b7" /><Relationship Type="http://schemas.openxmlformats.org/officeDocument/2006/relationships/notesMaster" Target="/ppt/notesMasters/notesMaster1.xml" Id="R3fd7d469b79749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ac8a2e71094a49" /><Relationship Type="http://schemas.openxmlformats.org/officeDocument/2006/relationships/notesMaster" Target="/ppt/notesMasters/notesMaster1.xml" Id="Rbecccb337cd44b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9cd8fbb3b04299" /><Relationship Type="http://schemas.openxmlformats.org/officeDocument/2006/relationships/notesMaster" Target="/ppt/notesMasters/notesMaster1.xml" Id="Rf81fe52af30644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960630ab524415" /><Relationship Type="http://schemas.openxmlformats.org/officeDocument/2006/relationships/notesMaster" Target="/ppt/notesMasters/notesMaster1.xml" Id="R982bf7be572a49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93c2ed02694a1d" /><Relationship Type="http://schemas.openxmlformats.org/officeDocument/2006/relationships/notesMaster" Target="/ppt/notesMasters/notesMaster1.xml" Id="R17c944d1a68640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5be40754684a6c" /><Relationship Type="http://schemas.openxmlformats.org/officeDocument/2006/relationships/notesMaster" Target="/ppt/notesMasters/notesMaster1.xml" Id="R21f2d3f778104c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1356d8985445d5" /><Relationship Type="http://schemas.openxmlformats.org/officeDocument/2006/relationships/notesMaster" Target="/ppt/notesMasters/notesMaster1.xml" Id="R52979a89b3b143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faa8e7ed234381" /><Relationship Type="http://schemas.openxmlformats.org/officeDocument/2006/relationships/notesMaster" Target="/ppt/notesMasters/notesMaster1.xml" Id="R05bd095d8f3845c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8e6b419296405f" /><Relationship Type="http://schemas.openxmlformats.org/officeDocument/2006/relationships/notesMaster" Target="/ppt/notesMasters/notesMaster1.xml" Id="R381a09cda4fb4d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f5b6fad983147a5" /><Relationship Type="http://schemas.openxmlformats.org/officeDocument/2006/relationships/notesMaster" Target="/ppt/notesMasters/notesMaster1.xml" Id="R3ead7ae1d1c947c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1b561da354c4ce4" /><Relationship Type="http://schemas.openxmlformats.org/officeDocument/2006/relationships/notesMaster" Target="/ppt/notesMasters/notesMaster1.xml" Id="R36a80e8c115844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c85bb53daa4dd6" /><Relationship Type="http://schemas.openxmlformats.org/officeDocument/2006/relationships/notesMaster" Target="/ppt/notesMasters/notesMaster1.xml" Id="R966fbb736a7f4a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1175ac021e04987" /><Relationship Type="http://schemas.openxmlformats.org/officeDocument/2006/relationships/notesMaster" Target="/ppt/notesMasters/notesMaster1.xml" Id="Red5cd0f3ab824f7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bf5f26ea3414df3" /><Relationship Type="http://schemas.openxmlformats.org/officeDocument/2006/relationships/notesMaster" Target="/ppt/notesMasters/notesMaster1.xml" Id="Refd85be676974a9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ee9b33021e2404a" /><Relationship Type="http://schemas.openxmlformats.org/officeDocument/2006/relationships/notesMaster" Target="/ppt/notesMasters/notesMaster1.xml" Id="Rce7bbbda838f471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d111c337e3242a8" /><Relationship Type="http://schemas.openxmlformats.org/officeDocument/2006/relationships/notesMaster" Target="/ppt/notesMasters/notesMaster1.xml" Id="R64ef839974f4443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2cad08ed1d145a1" /><Relationship Type="http://schemas.openxmlformats.org/officeDocument/2006/relationships/notesMaster" Target="/ppt/notesMasters/notesMaster1.xml" Id="R496199a05391444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81a1edf59124c5f" /><Relationship Type="http://schemas.openxmlformats.org/officeDocument/2006/relationships/notesMaster" Target="/ppt/notesMasters/notesMaster1.xml" Id="Rd1b9dc54bad2456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14436aac6994874" /><Relationship Type="http://schemas.openxmlformats.org/officeDocument/2006/relationships/notesMaster" Target="/ppt/notesMasters/notesMaster1.xml" Id="R55c7b2eefdef426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410685da9de49d4" /><Relationship Type="http://schemas.openxmlformats.org/officeDocument/2006/relationships/notesMaster" Target="/ppt/notesMasters/notesMaster1.xml" Id="Rcb886156c494411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237b4adf786483d" /><Relationship Type="http://schemas.openxmlformats.org/officeDocument/2006/relationships/notesMaster" Target="/ppt/notesMasters/notesMaster1.xml" Id="Rc3a2682e31cf440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b15e00d4be941a5" /><Relationship Type="http://schemas.openxmlformats.org/officeDocument/2006/relationships/notesMaster" Target="/ppt/notesMasters/notesMaster1.xml" Id="Rac933f987ebc46f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7bdc1adca5d4ac4" /><Relationship Type="http://schemas.openxmlformats.org/officeDocument/2006/relationships/notesMaster" Target="/ppt/notesMasters/notesMaster1.xml" Id="Rc7ab3e7f036d4d4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8fa236ccf28497d" /><Relationship Type="http://schemas.openxmlformats.org/officeDocument/2006/relationships/notesMaster" Target="/ppt/notesMasters/notesMaster1.xml" Id="Rb20072d3c5b0482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6be83bdf47e4ce0" /><Relationship Type="http://schemas.openxmlformats.org/officeDocument/2006/relationships/notesMaster" Target="/ppt/notesMasters/notesMaster1.xml" Id="R92b58c5e4d38475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3c62f11a3554291" /><Relationship Type="http://schemas.openxmlformats.org/officeDocument/2006/relationships/notesMaster" Target="/ppt/notesMasters/notesMaster1.xml" Id="R7b54a20a09854e8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9ec183539d04d29" /><Relationship Type="http://schemas.openxmlformats.org/officeDocument/2006/relationships/notesMaster" Target="/ppt/notesMasters/notesMaster1.xml" Id="R66ec65963cea40c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4c2cbd3095d4310" /><Relationship Type="http://schemas.openxmlformats.org/officeDocument/2006/relationships/notesMaster" Target="/ppt/notesMasters/notesMaster1.xml" Id="R2cd11668443241a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01f1ad7d3254e13" /><Relationship Type="http://schemas.openxmlformats.org/officeDocument/2006/relationships/notesMaster" Target="/ppt/notesMasters/notesMaster1.xml" Id="R4d7bf64406564d3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b055e91973545df" /><Relationship Type="http://schemas.openxmlformats.org/officeDocument/2006/relationships/notesMaster" Target="/ppt/notesMasters/notesMaster1.xml" Id="R5ba7e69762d3441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1bc786fd9bb43f9" /><Relationship Type="http://schemas.openxmlformats.org/officeDocument/2006/relationships/notesMaster" Target="/ppt/notesMasters/notesMaster1.xml" Id="Rbb5ef5ad37994a0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e00f2c8ef1140ae" /><Relationship Type="http://schemas.openxmlformats.org/officeDocument/2006/relationships/notesMaster" Target="/ppt/notesMasters/notesMaster1.xml" Id="R3567869fa377452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b298edd06904ab7" /><Relationship Type="http://schemas.openxmlformats.org/officeDocument/2006/relationships/notesMaster" Target="/ppt/notesMasters/notesMaster1.xml" Id="R644d5c6943184aa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ddf68c506884ae7" /><Relationship Type="http://schemas.openxmlformats.org/officeDocument/2006/relationships/notesMaster" Target="/ppt/notesMasters/notesMaster1.xml" Id="Rb5d3d3020e4f4a2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6f42b1506854b49" /><Relationship Type="http://schemas.openxmlformats.org/officeDocument/2006/relationships/notesMaster" Target="/ppt/notesMasters/notesMaster1.xml" Id="Ra71b50cdae0147d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1011ca7ea134ba0" /><Relationship Type="http://schemas.openxmlformats.org/officeDocument/2006/relationships/notesMaster" Target="/ppt/notesMasters/notesMaster1.xml" Id="Rf4246938aae446c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c6d44b7a36d455a" /><Relationship Type="http://schemas.openxmlformats.org/officeDocument/2006/relationships/notesMaster" Target="/ppt/notesMasters/notesMaster1.xml" Id="R3cbf3251adfc4f7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7bca69bee2a40b1" /><Relationship Type="http://schemas.openxmlformats.org/officeDocument/2006/relationships/notesMaster" Target="/ppt/notesMasters/notesMaster1.xml" Id="Rddcc6aa0bb50490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60764d6c7b04ef7" /><Relationship Type="http://schemas.openxmlformats.org/officeDocument/2006/relationships/notesMaster" Target="/ppt/notesMasters/notesMaster1.xml" Id="R53f38b931c3e49b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e12fe85f4984a28" /><Relationship Type="http://schemas.openxmlformats.org/officeDocument/2006/relationships/notesMaster" Target="/ppt/notesMasters/notesMaster1.xml" Id="R7860d2290e304bb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4c7a7d3e8a14d77" /><Relationship Type="http://schemas.openxmlformats.org/officeDocument/2006/relationships/notesMaster" Target="/ppt/notesMasters/notesMaster1.xml" Id="R6b74cb631622459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94a14ccc53541df" /><Relationship Type="http://schemas.openxmlformats.org/officeDocument/2006/relationships/notesMaster" Target="/ppt/notesMasters/notesMaster1.xml" Id="R0d0f80fb953e4b1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824cfc2662c4694" /><Relationship Type="http://schemas.openxmlformats.org/officeDocument/2006/relationships/notesMaster" Target="/ppt/notesMasters/notesMaster1.xml" Id="R31d12028588a49d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41427e7feff41f3" /><Relationship Type="http://schemas.openxmlformats.org/officeDocument/2006/relationships/notesMaster" Target="/ppt/notesMasters/notesMaster1.xml" Id="R17d3c9a15b6a444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9c438b1e2af4d2a" /><Relationship Type="http://schemas.openxmlformats.org/officeDocument/2006/relationships/notesMaster" Target="/ppt/notesMasters/notesMaster1.xml" Id="R902038a4ec8a4ec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1fde7e777534cf7" /><Relationship Type="http://schemas.openxmlformats.org/officeDocument/2006/relationships/notesMaster" Target="/ppt/notesMasters/notesMaster1.xml" Id="Rc3a47143e26440c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88b5ad1a9f349d5" /><Relationship Type="http://schemas.openxmlformats.org/officeDocument/2006/relationships/notesMaster" Target="/ppt/notesMasters/notesMaster1.xml" Id="R0ba5724426ad4a6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5205ab253df4ea3" /><Relationship Type="http://schemas.openxmlformats.org/officeDocument/2006/relationships/notesMaster" Target="/ppt/notesMasters/notesMaster1.xml" Id="R3c0381cbbfbf425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54f218ea1774309" /><Relationship Type="http://schemas.openxmlformats.org/officeDocument/2006/relationships/notesMaster" Target="/ppt/notesMasters/notesMaster1.xml" Id="R8142c6178156460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9a4ddd9546f4d3e" /><Relationship Type="http://schemas.openxmlformats.org/officeDocument/2006/relationships/notesMaster" Target="/ppt/notesMasters/notesMaster1.xml" Id="R089217e801c14bd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14d046149c54c02" /><Relationship Type="http://schemas.openxmlformats.org/officeDocument/2006/relationships/notesMaster" Target="/ppt/notesMasters/notesMaster1.xml" Id="Rfdb5063f2e0b475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a49801841734a5a" /><Relationship Type="http://schemas.openxmlformats.org/officeDocument/2006/relationships/notesMaster" Target="/ppt/notesMasters/notesMaster1.xml" Id="Raf87dd64a6ce43a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9ee7dd888bf4768" /><Relationship Type="http://schemas.openxmlformats.org/officeDocument/2006/relationships/notesMaster" Target="/ppt/notesMasters/notesMaster1.xml" Id="R23a896bd1241460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f764813eec04aba" /><Relationship Type="http://schemas.openxmlformats.org/officeDocument/2006/relationships/notesMaster" Target="/ppt/notesMasters/notesMaster1.xml" Id="R5ff3f9f9424540ea"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9b0b7bfd69f4277" /><Relationship Type="http://schemas.openxmlformats.org/officeDocument/2006/relationships/notesMaster" Target="/ppt/notesMasters/notesMaster1.xml" Id="Rf853c6691edb4e2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40a2a580b3e24fb2" /><Relationship Type="http://schemas.openxmlformats.org/officeDocument/2006/relationships/notesMaster" Target="/ppt/notesMasters/notesMaster1.xml" Id="R3dce37cd34534f8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ffbf5724feb48f0" /><Relationship Type="http://schemas.openxmlformats.org/officeDocument/2006/relationships/notesMaster" Target="/ppt/notesMasters/notesMaster1.xml" Id="R74ee3230199040c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98d4d77b8db747f6" /><Relationship Type="http://schemas.openxmlformats.org/officeDocument/2006/relationships/notesMaster" Target="/ppt/notesMasters/notesMaster1.xml" Id="R31777f49ecac449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8507980699584cdb" /><Relationship Type="http://schemas.openxmlformats.org/officeDocument/2006/relationships/notesMaster" Target="/ppt/notesMasters/notesMaster1.xml" Id="R556d9c073e754a58"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25cfc818e40a4c95" /><Relationship Type="http://schemas.openxmlformats.org/officeDocument/2006/relationships/notesMaster" Target="/ppt/notesMasters/notesMaster1.xml" Id="Raf9e9d3384e24a9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5d50714e0472432f" /><Relationship Type="http://schemas.openxmlformats.org/officeDocument/2006/relationships/notesMaster" Target="/ppt/notesMasters/notesMaster1.xml" Id="R6514ab9db7104d1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719bc25b5ef648b5" /><Relationship Type="http://schemas.openxmlformats.org/officeDocument/2006/relationships/notesMaster" Target="/ppt/notesMasters/notesMaster1.xml" Id="R380df33c9eeb4e9f"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71acdc3504054dc8" /><Relationship Type="http://schemas.openxmlformats.org/officeDocument/2006/relationships/notesMaster" Target="/ppt/notesMasters/notesMaster1.xml" Id="R1828e2dd48b04bdf"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e018a7b7d99475f" /><Relationship Type="http://schemas.openxmlformats.org/officeDocument/2006/relationships/notesMaster" Target="/ppt/notesMasters/notesMaster1.xml" Id="R22984fad4f134326"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359e29b050dc4fe9" /><Relationship Type="http://schemas.openxmlformats.org/officeDocument/2006/relationships/notesMaster" Target="/ppt/notesMasters/notesMaster1.xml" Id="R1c5f9a1b33114d5f"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32344b0876f44b9f" /><Relationship Type="http://schemas.openxmlformats.org/officeDocument/2006/relationships/notesMaster" Target="/ppt/notesMasters/notesMaster1.xml" Id="R1258096580ec491d"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4eaa5b96b3904bec" /><Relationship Type="http://schemas.openxmlformats.org/officeDocument/2006/relationships/notesMaster" Target="/ppt/notesMasters/notesMaster1.xml" Id="R3f90e0b87b4a4b3c"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5905a74f690046b9" /><Relationship Type="http://schemas.openxmlformats.org/officeDocument/2006/relationships/notesMaster" Target="/ppt/notesMasters/notesMaster1.xml" Id="Rc82575096a31479e"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29a346a5896e49c9" /><Relationship Type="http://schemas.openxmlformats.org/officeDocument/2006/relationships/notesMaster" Target="/ppt/notesMasters/notesMaster1.xml" Id="Ra6f30eeca4b14f8f"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b0e9930b60ef486f" /><Relationship Type="http://schemas.openxmlformats.org/officeDocument/2006/relationships/notesMaster" Target="/ppt/notesMasters/notesMaster1.xml" Id="R45454800a8264cf6"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65e1d7f3010248cc" /><Relationship Type="http://schemas.openxmlformats.org/officeDocument/2006/relationships/notesMaster" Target="/ppt/notesMasters/notesMaster1.xml" Id="Rc57e6d33301c49a3"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a97c83ceffec4b00" /><Relationship Type="http://schemas.openxmlformats.org/officeDocument/2006/relationships/notesMaster" Target="/ppt/notesMasters/notesMaster1.xml" Id="R48e4bbf7797a4e94"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cdf3eb3dac824651" /><Relationship Type="http://schemas.openxmlformats.org/officeDocument/2006/relationships/notesMaster" Target="/ppt/notesMasters/notesMaster1.xml" Id="R68eee689bc3748c6"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31977304d9ab4572" /><Relationship Type="http://schemas.openxmlformats.org/officeDocument/2006/relationships/notesMaster" Target="/ppt/notesMasters/notesMaster1.xml" Id="R9d13cb9da29f4e4f"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9a765f296e074972" /><Relationship Type="http://schemas.openxmlformats.org/officeDocument/2006/relationships/notesMaster" Target="/ppt/notesMasters/notesMaster1.xml" Id="Rbcfe46ede8014864"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00316f4f45794780" /><Relationship Type="http://schemas.openxmlformats.org/officeDocument/2006/relationships/notesMaster" Target="/ppt/notesMasters/notesMaster1.xml" Id="Rfa3d7298f256493f"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6ece1c7aed5c4746" /><Relationship Type="http://schemas.openxmlformats.org/officeDocument/2006/relationships/notesMaster" Target="/ppt/notesMasters/notesMaster1.xml" Id="R7c19d5b71e724f78"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4ad1987093a84b6a" /><Relationship Type="http://schemas.openxmlformats.org/officeDocument/2006/relationships/notesMaster" Target="/ppt/notesMasters/notesMaster1.xml" Id="R89db03feca1449c6"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1f7bf574767a4725" /><Relationship Type="http://schemas.openxmlformats.org/officeDocument/2006/relationships/notesMaster" Target="/ppt/notesMasters/notesMaster1.xml" Id="R7749cda3d0964680"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2c0e48c53b354461" /><Relationship Type="http://schemas.openxmlformats.org/officeDocument/2006/relationships/notesMaster" Target="/ppt/notesMasters/notesMaster1.xml" Id="R5a48c74ce99a43c4"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f0f2e67368124856" /><Relationship Type="http://schemas.openxmlformats.org/officeDocument/2006/relationships/notesMaster" Target="/ppt/notesMasters/notesMaster1.xml" Id="R4cc0f36b4b3b450f"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ca165c8884684f16" /><Relationship Type="http://schemas.openxmlformats.org/officeDocument/2006/relationships/notesMaster" Target="/ppt/notesMasters/notesMaster1.xml" Id="R20503e8caf7c495c"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3fb44777657a4880" /><Relationship Type="http://schemas.openxmlformats.org/officeDocument/2006/relationships/notesMaster" Target="/ppt/notesMasters/notesMaster1.xml" Id="Rf67db75f9434441f"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0c01fe4eb356466f" /><Relationship Type="http://schemas.openxmlformats.org/officeDocument/2006/relationships/notesMaster" Target="/ppt/notesMasters/notesMaster1.xml" Id="Rb7499f718f554be4"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b444cbf3c1ab4538" /><Relationship Type="http://schemas.openxmlformats.org/officeDocument/2006/relationships/notesMaster" Target="/ppt/notesMasters/notesMaster1.xml" Id="R97009d6b09e74148"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8fb59d1869384391" /><Relationship Type="http://schemas.openxmlformats.org/officeDocument/2006/relationships/notesMaster" Target="/ppt/notesMasters/notesMaster1.xml" Id="Rfb6da36e2b2f4fde"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9cf2f142d87743eb" /><Relationship Type="http://schemas.openxmlformats.org/officeDocument/2006/relationships/notesMaster" Target="/ppt/notesMasters/notesMaster1.xml" Id="Rc3980d5d429140e1"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0301be14c3f24473" /><Relationship Type="http://schemas.openxmlformats.org/officeDocument/2006/relationships/notesMaster" Target="/ppt/notesMasters/notesMaster1.xml" Id="Rf0b1170f939640ce"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46c3eb8c56b34be9" /><Relationship Type="http://schemas.openxmlformats.org/officeDocument/2006/relationships/notesMaster" Target="/ppt/notesMasters/notesMaster1.xml" Id="R69e2394a97e540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保留用户指定原样稿第一页。封面航空维修插图为AI生成概念场景，不是企业厂区照片。第一天09:00—09:01，导入1分钟。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【教学安排】第1天，导入与问题诊断，本页2分钟，建议时段09:01—09:03。示例每天09:00—12:00、13:30—16:30，午休不计课时。</a:t>
            </a:r>
          </a:p>
          <a:p xmlns:a="http://schemas.openxmlformats.org/drawingml/2006/main">
            <a:r>
              <a:t>【讲师说明】原课程大纲只规定两天、每天6小时。章节时间由本课件安排，不冒充原文逐章规定。第二天合计70+80+70+45+55+30+10=360分钟。示例日程09:00—12:00、13:30—16:30，午休不计课时。正式开课可整体平移时间。封面计入94页。</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【教学安排】第1天，导入与问题诊断，本页3分钟，建议时段09:03—09:06。示例每天09:00—12:00、13:30—16:30，午休不计课时。</a:t>
            </a:r>
          </a:p>
          <a:p xmlns:a="http://schemas.openxmlformats.org/drawingml/2006/main">
            <a:r>
              <a:t>【讲师说明】请学员为自己的问题建立四栏记录。课程目标不以完成软件操作次数替代业务判断，最后应能解释为何选择某方案、哪些前提尚未验证。每个专题结束检查输出是否具有来源和执行责任。</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【教学安排】第1天，导入与问题诊断，本页4分钟，建议时段09:06—09:10。示例每天09:00—12:00、13:30—16:30，午休不计课时。</a:t>
            </a:r>
          </a:p>
          <a:p xmlns:a="http://schemas.openxmlformats.org/drawingml/2006/main">
            <a:r>
              <a:t>【讲师说明】典型问题是诊断入口，不代表厦门太古已存在这些内部缺陷。每人选一个具体事件，先陈述现象与影响，再补证据。避免直接以“需要AI”作为问题定义。</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【教学安排】第1天，导入与问题诊断，本页4分钟，建议时段09:10—09:14。示例每天09:00—12:00、13:30—16:30，午休不计课时。</a:t>
            </a:r>
          </a:p>
          <a:p xmlns:a="http://schemas.openxmlformats.org/drawingml/2006/main">
            <a:r>
              <a:t>【讲师说明】总需求20件、账面32件、按期可用11件，逐件号正缺口4+3+0+2=9件。不是用库存总量减需求总量。数据为课堂假设，差额原因仍待验证；数量不代表库存资金占用，也不意味着证书或计划一定出错。</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【教学安排】第1天，导入与问题诊断，本页4分钟，建议时段09:14—09:18。示例每天09:00—12:00、13:30—16:30，午休不计课时。</a:t>
            </a:r>
          </a:p>
          <a:p xmlns:a="http://schemas.openxmlformats.org/drawingml/2006/main">
            <a:r>
              <a:t>【讲师说明】用同一件号和订单行串联信息流、物流、资金流。讲师追问：订单已确认是否等于已经到货？到货是否等于可以装机？已付款是否等于已完成质量确认？三者不能用一个状态替代。此流程是教学核对框架，不是企业现行审批图。</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【教学安排】第1天，导入与问题诊断，本页5分钟，建议时段09:18—09:23。示例每天09:00—12:00、13:30—16:30，午休不计课时。</a:t>
            </a:r>
          </a:p>
          <a:p xmlns:a="http://schemas.openxmlformats.org/drawingml/2006/main">
            <a:r>
              <a:t>【讲师说明】运用5Why分析一条候选因果链，不能把先后关系直接当因果。若采购已经同步订单但供应商没有能力调整承诺，则根因需要继续追溯能力、库存或运输约束。每一节点指出一项可查证记录。</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【教学安排】第1天，导入与问题诊断，本页5分钟，建议时段09:23—09:28。示例每天09:00—12:00、13:30—16:30，午休不计课时。</a:t>
            </a:r>
          </a:p>
          <a:p xmlns:a="http://schemas.openxmlformats.org/drawingml/2006/main">
            <a:r>
              <a:t>【讲师说明】采用TOC约束思路识别限制交付的环节。表格是教学排序依据，不是固定企业评级。不能把低金额等同于低风险。让学员用自己的一项问题说明“影响大”的证据和短期能采取的控制措施。</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【教学安排】第1天，导入与问题诊断，本页5分钟，建议时段09:28—09:33。示例每天09:00—12:00、13:30—16:30，午休不计课时。</a:t>
            </a:r>
          </a:p>
          <a:p xmlns:a="http://schemas.openxmlformats.org/drawingml/2006/main">
            <a:r>
              <a:t>【讲师说明】表内为模拟示例。企业真实系统名称、私有字段和导出权限须现场确认。缺失值应标注待确认，不能默认0。补充字段要写明业务用途，便于后续系统实训采集。</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【教学安排】第1天，导入与问题诊断，本页5分钟，建议时段09:33—09:38。示例每天09:00—12:00、13:30—16:30，午休不计课时。</a:t>
            </a:r>
          </a:p>
          <a:p xmlns:a="http://schemas.openxmlformats.org/drawingml/2006/main">
            <a:r>
              <a:t>【讲师说明】以鱼骨图组织潜在原因，不能将图上的分支当作已证实企业缺陷。请学员补充每个分支的一项事实与一份记录，再用第7页5Why逐步追问最可能的原因，用第8页TOC思路确定优先处理点。需求、库存、供应、数据、流程、协同为本课教学分类，并非固定行业鱼骨分类。要求写出可观测的具体情境，不能停留在人员意识不足等笼统判断。最终形成问题、证据和待确认根因清单。</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【教学安排】第1天，导入与问题诊断，本页22分钟，建议时段09:38—10:00。示例每天09:00—12:00、13:30—16:30，午休不计课时。</a:t>
            </a:r>
          </a:p>
          <a:p xmlns:a="http://schemas.openxmlformats.org/drawingml/2006/main">
            <a:r>
              <a:t>【讲师说明】建议分配：3分钟选问题，8分钟梳理时间线与假设，6分钟核对证据及优先级，5分钟汇报。讲师只追问证据与逻辑，暂不要求进入系统。所有未核实的厦门太古实际情况均标为待确认。</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【教学安排】第1天，需求预测与采购计划，本页3分钟，建议时段10:00—10:03。示例每天09:00—12:00、13:30—16:30，午休不计课时。</a:t>
            </a:r>
          </a:p>
          <a:p xmlns:a="http://schemas.openxmlformats.org/drawingml/2006/main">
            <a:r>
              <a:t>【讲师说明】用学员的问题回扣计划、库存、在途和交期之间的关系。本专题模型为基本缺口算例，不是企业完整预测算法。先判断输入口径，再运行计算。</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【教学安排】第1天，需求预测与采购计划，本页6分钟，建议时段10:03—10:09。示例每天09:00—12:00、13:30—16:30，午休不计课时。</a:t>
            </a:r>
          </a:p>
          <a:p xmlns:a="http://schemas.openxmlformats.org/drawingml/2006/main">
            <a:r>
              <a:t>【讲师说明】分类用于教学讨论，不是标准物料分类政策。请学员说明计划需求与统计消耗是否可能重复。低频需求后续应选择适合的事件或间歇需求方法并回测，本课不宣称简单均值具有预测精度保证。</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【教学安排】第1天，需求预测与采购计划，本页5分钟，建议时段10:09—10:14。示例每天09:00—12:00、13:30—16:30，午休不计课时。</a:t>
            </a:r>
          </a:p>
          <a:p xmlns:a="http://schemas.openxmlformats.org/drawingml/2006/main">
            <a:r>
              <a:t>【讲师说明】对应系统M01三个数据源。此处是通用教学架构，不代表厦门太古现有私有系统。不同库位汇总和物权范围要事先约定，在途只统计需求前可用部分。</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【教学安排】第1天，需求预测与采购计划，本页8分钟，建议时段10:14—10:22。示例每天09:00—12:00、13:30—16:30，午休不计课时。</a:t>
            </a:r>
          </a:p>
          <a:p xmlns:a="http://schemas.openxmlformats.org/drawingml/2006/main">
            <a:r>
              <a:t>【讲师说明】公式与系统M01实现一致，向上取整后截断负值。默认倍率1。此模型没有显式模拟需求分布、交期波动、维修事件相关性与替代约束。PN-1001的计划和非计划需求已假定互不重复。</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【教学安排】第1天，需求预测与采购计划，本页6分钟，建议时段10:22—10:28。示例每天09:00—12:00、13:30—16:30，午休不计课时。</a:t>
            </a:r>
          </a:p>
          <a:p xmlns:a="http://schemas.openxmlformats.org/drawingml/2006/main">
            <a:r>
              <a:t>【讲师说明】系统规则是在有缺口的件号中选择最长交期，PN-1001为30天、PN-1002为45天、PN-1003为20天。真实业务还须看需求日期和关键路径，不能以最长交期作为唯一采购优先级。</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【教学安排】第1天，需求预测与采购计划，本页8分钟，建议时段10:28—10:36。示例每天09:00—12:00、13:30—16:30，午休不计课时。</a:t>
            </a:r>
          </a:p>
          <a:p xmlns:a="http://schemas.openxmlformats.org/drawingml/2006/main">
            <a:r>
              <a:t>【讲师说明】用需求日倒推采购、运输及内部处理时间。系统当前M01算例只按有缺口件号的交期排序，没有完整关键路径排程。让学员指出新增需求日字段后如何用于人工复核，不能把补充字段视为自动加入公式。</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【教学安排】第1天，需求预测与采购计划，本页5分钟，建议时段10:36—10:41。示例每天09:00—12:00、13:30—16:30，午休不计课时。</a:t>
            </a:r>
          </a:p>
          <a:p xmlns:a="http://schemas.openxmlformats.org/drawingml/2006/main">
            <a:r>
              <a:t>【讲师说明】PN-1001为ceil(35×1.2−24)=18；PN-1002为ceil(17×1.2−10)=11；PN-1003为ceil(14×1.2−16)=1。倍率是假设，不是预测结果，更不是企业需求将增长20%的判断。</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【教学安排】第1天，需求预测与采购计划，本页5分钟，建议时段10:41—10:46。示例每天09:00—12:00、13:30—16:30，午休不计课时。</a:t>
            </a:r>
          </a:p>
          <a:p xmlns:a="http://schemas.openxmlformats.org/drawingml/2006/main">
            <a:r>
              <a:t>【讲师说明】讲师讨论AI文本整理、数值计算和业务审批三者的区别。预测工具不能凭空补出真实维修计划，大模型给出的数字应回到确定数据和可复算公式。</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【教学安排】第1天，需求预测与采购计划，本页8分钟，建议时段10:46—10:54。示例每天09:00—12:00、13:30—16:30，午休不计课时。</a:t>
            </a:r>
          </a:p>
          <a:p xmlns:a="http://schemas.openxmlformats.org/drawingml/2006/main">
            <a:r>
              <a:t>【讲师说明】截图为当前培训系统M01三个来源的真实界面。按教学模板从导出文件或人工填报采集，并保留来源与截至时间。没有实际企业接口授权，不能宣称已经连通内网。</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【教学安排】第1天，需求预测与采购计划，本页6分钟，建议时段10:54—11:00。示例每天09:00—12:00、13:30—16:30，午休不计课时。</a:t>
            </a:r>
          </a:p>
          <a:p xmlns:a="http://schemas.openxmlformats.org/drawingml/2006/main">
            <a:r>
              <a:t>【讲师说明】截图对应M01基础样例，不是24行分源数据。结果不能证明采购方案一定能满足维修要求，还须补需求日、批准的替代关系及现实供应承诺。</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【教学安排】第1天，需求预测与采购计划，本页25分钟，建议时段11:00—11:25。示例每天09:00—12:00、13:30—16:30，午休不计课时。</a:t>
            </a:r>
          </a:p>
          <a:p xmlns:a="http://schemas.openxmlformats.org/drawingml/2006/main">
            <a:r>
              <a:t>【讲师说明】建议5分钟核对数据、8分钟基线与情景计算、7分钟写方案和前提、5分钟组内互评。允许自增字段，但标准公式只使用受支持输入；新字段如果参与决策，需明确人工如何使用。</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【教学安排】第1天，需求预测与采购计划，本页15分钟，建议时段11:25—11:40。示例每天09:00—12:00、13:30—16:30，午休不计课时。</a:t>
            </a:r>
          </a:p>
          <a:p xmlns:a="http://schemas.openxmlformats.org/drawingml/2006/main">
            <a:r>
              <a:t>【讲师说明】15分钟专题复盘，邀请两组展示相反的判断，并回到输入前提比较。课程不对厦门太古做未经核实的诊断。系统历史记录用于留存本人的过程和结论，管理员复盘进一步核对企业陈述。</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【教学安排】第1天，智能寻源、询价与价格管理，本页3分钟，建议时段11:40—11:43。示例每天09:00—12:00、13:30—16:30，午休不计课时。</a:t>
            </a:r>
          </a:p>
          <a:p xmlns:a="http://schemas.openxmlformats.org/drawingml/2006/main">
            <a:r>
              <a:t>【讲师说明】先让学员回忆比价时最难对齐的字段。本专题只采用明确的教学总成本项，不声称涵盖真实税费、付款条件、维修担保等全部商业约束。</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【教学安排】第1天，智能寻源、询价与价格管理，本页6分钟，建议时段11:43—11:49。示例每天09:00—12:00、13:30—16:30，午休不计课时。</a:t>
            </a:r>
          </a:p>
          <a:p xmlns:a="http://schemas.openxmlformats.org/drawingml/2006/main">
            <a:r>
              <a:t>【讲师说明】AI可以辅助提取但不能把未提供的证书状态猜成通过。交期“现货”不等于已确认运输到达日。报价版本变化后应重新比较并保留旧版本。</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【教学安排】第1天，智能寻源、询价与价格管理，本页7分钟，建议时段11:49—11:56。示例每天09:00—12:00、13:30—16:30，午休不计课时。</a:t>
            </a:r>
          </a:p>
          <a:p xmlns:a="http://schemas.openxmlformats.org/drawingml/2006/main">
            <a:r>
              <a:t>【讲师说明】此页是通用填报模板，不是任何原厂私有字段定义。真实报价需使用获授权的脱敏记录。让学员选一个字段说明如何追溯原文及谁负责确认。</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【教学安排】第1天，智能寻源、询价与价格管理，本页7分钟，建议时段11:56—12:00、13:30—13:33。示例每天09:00—12:00、13:30—16:30，午休不计课时。</a:t>
            </a:r>
          </a:p>
          <a:p xmlns:a="http://schemas.openxmlformats.org/drawingml/2006/main">
            <a:r>
              <a:t>【讲师说明】数据来自系统M02基础教学案例，证书状态为人为设定的课堂输入，不代表真实供应商。汇率单位为CNY/原币，运费为整单人民币。先问哪家不能进入商业比较，再计算成本。</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【教学安排】第1天，智能寻源、询价与价格管理，本页7分钟，建议时段13:33—13:40。示例每天09:00—12:00、13:30—16:30，午休不计课时。</a:t>
            </a:r>
          </a:p>
          <a:p xmlns:a="http://schemas.openxmlformats.org/drawingml/2006/main">
            <a:r>
              <a:t>【讲师说明】该公式与系统M02一致，不等同于完整的到岸成本或采购全生命周期成本。任何未知费用保持待确认，不能擅自填0，也不能未经证据给风险成本定价。</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【教学安排】第1天，智能寻源、询价与价格管理，本页5分钟，建议时段13:40—13:45。示例每天09:00—12:00、13:30—16:30，午休不计课时。</a:t>
            </a:r>
          </a:p>
          <a:p xmlns:a="http://schemas.openxmlformats.org/drawingml/2006/main">
            <a:r>
              <a:t>【讲师说明】A单价较低但没有通过案例设定的证书检查，不能用低成本抵消这一约束。B与C均在10天内，B成本更低。讲师追问：这是否意味着B在所有情境下都最优？</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【教学安排】第1天，智能寻源、询价与价格管理，本页7分钟，建议时段13:45—13:52。示例每天09:00—12:00、13:30—16:30，午休不计课时。</a:t>
            </a:r>
          </a:p>
          <a:p xmlns:a="http://schemas.openxmlformats.org/drawingml/2006/main">
            <a:r>
              <a:t>【讲师说明】本例改为4天期限后选择SUP-C，总成本18200元。与10天情境相比多2060元，但不能据此推定提前交付的真实收益。应由计划确认缺料影响和紧迫程度。</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【教学安排】第1天，智能寻源、询价与价格管理，本页5分钟，建议时段13:52—13:57。示例每天09:00—12:00、13:30—16:30，午休不计课时。</a:t>
            </a:r>
          </a:p>
          <a:p xmlns:a="http://schemas.openxmlformats.org/drawingml/2006/main">
            <a:r>
              <a:t>【讲师说明】课程列举SAP Ariba、Coupa、JAGGAER及国内采购平台作为评价对象，不能据此断定任一产品默认包含所有航空规则。此页是选型核对框架，产品适配还须以官方文档、具体版本和实测确认。JAGGAER官方sourcing页面核查于2026-10-28：https://www.jaggaer.com/solutions/sourcing。</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【教学安排】第1天，智能寻源、询价与价格管理，本页5分钟，建议时段13:57—14:02。示例每天09:00—12:00、13:30—16:30，午休不计课时。</a:t>
            </a:r>
          </a:p>
          <a:p xmlns:a="http://schemas.openxmlformats.org/drawingml/2006/main">
            <a:r>
              <a:t>【讲师说明】IATA MRO SmartHub官方说明将FMV描述为件号及件况层面的中性参考，不能推定针对某一序列号的最终成交价。此页不引用平台任何节省比例，也不承诺数据覆盖当前所需航材。来源：https://www.iata.org/en/services/data/mro-insights/mro-smarthub/。</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【教学安排】第1天，智能寻源、询价与价格管理，本页7分钟，建议时段14:02—14:09。示例每天09:00—12:00、13:30—16:30，午休不计课时。</a:t>
            </a:r>
          </a:p>
          <a:p xmlns:a="http://schemas.openxmlformats.org/drawingml/2006/main">
            <a:r>
              <a:t>【讲师说明】不用模型的自信表述作为验证标准。AI抽取后采用字段级比对和业务复核。空白、歧义、冲突进入待确认清单。可让两名学员对同一原文独立提取，比较差异。</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【教学安排】第1天，智能寻源、询价与价格管理，本页6分钟，建议时段14:09—14:15。示例每天09:00—12:00、13:30—16:30，午休不计课时。</a:t>
            </a:r>
          </a:p>
          <a:p xmlns:a="http://schemas.openxmlformats.org/drawingml/2006/main">
            <a:r>
              <a:t>【讲师说明】截图为培训系统M02真实界面。软件对应是教学映射，实际软件功能以厂商版本和许可为准。展示来源是为解释成本与约束证据，并非介绍平台本身的导航功能。</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【教学安排】第1天，智能寻源、询价与价格管理，本页5分钟，建议时段14:15—14:20。示例每天09:00—12:00、13:30—16:30，午休不计课时。</a:t>
            </a:r>
          </a:p>
          <a:p xmlns:a="http://schemas.openxmlformats.org/drawingml/2006/main">
            <a:r>
              <a:t>【讲师说明】截图为10天基础情境。要求学员说明为什么选择B、为什么排除A，及期限改变后结果何以变化。不能用旧截图当作4天计算的结果。</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【教学安排】第1天，智能寻源、询价与价格管理，本页25分钟，建议时段14:20—14:45。示例每天09:00—12:00、13:30—16:30，午休不计课时。</a:t>
            </a:r>
          </a:p>
          <a:p xmlns:a="http://schemas.openxmlformats.org/drawingml/2006/main">
            <a:r>
              <a:t>【讲师说明】建议5分钟核对数据、8分钟计算两情景、7分钟解释取舍、5分钟互审。若学员选择其他方案，先核对是否改变前提，不直接判为业务错误。系统评分依教学规则，现实决策另需授权复核。</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【教学安排】第1天，智能寻源、询价与价格管理，本页15分钟，建议时段14:45—15:00。示例每天09:00—12:00、13:30—16:30，午休不计课时。</a:t>
            </a:r>
          </a:p>
          <a:p xmlns:a="http://schemas.openxmlformats.org/drawingml/2006/main">
            <a:r>
              <a:t>【讲师说明】15分钟复盘。比较学员依据，而非宣传任何工具能自动做出最优采购决策。把问题与建议记入本人历史练习，涉及企业适配再提交管理员核对。</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【教学安排】第1天，供应商管理与风险控制，本页3分钟，建议时段15:00—15:03。示例每天09:00—12:00、13:30—16:30，午休不计课时。</a:t>
            </a:r>
          </a:p>
          <a:p xmlns:a="http://schemas.openxmlformats.org/drawingml/2006/main">
            <a:r>
              <a:t>【讲师说明】资质合格不保证交付能力，历史分数也不是未来概率。请学员举出“表现好但不能失去”的供应商情景，讨论退出成本和备选保障。不得披露未经授权的供应商信息。</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【教学安排】第1天，供应商管理与风险控制，本页7分钟，建议时段15:03—15:10。示例每天09:00—12:00、13:30—16:30，午休不计课时。</a:t>
            </a:r>
          </a:p>
          <a:p xmlns:a="http://schemas.openxmlformats.org/drawingml/2006/main">
            <a:r>
              <a:t>【讲师说明】这些维度不能简单用一个加权总分互相抵消。资格判定应依据企业批准规则，本课30天阈值仅为教学设定。</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【教学安排】第1天，供应商管理与风险控制，本页8分钟，建议时段15:10—15:18。示例每天09:00—12:00、13:30—16:30，午休不计课时。</a:t>
            </a:r>
          </a:p>
          <a:p xmlns:a="http://schemas.openxmlformats.org/drawingml/2006/main">
            <a:r>
              <a:t>【讲师说明】这是模拟数据，不代表真实企业供应商。A份额高并非自动判定不可采购，C资质剩余短也不能被评分掩盖。份额的统计窗口、金额或数量口径须统一。</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【教学安排】第1天，供应商管理与风险控制，本页7分钟，建议时段15:18—15:25。示例每天09:00—12:00、13:30—16:30，午休不计课时。</a:t>
            </a:r>
          </a:p>
          <a:p xmlns:a="http://schemas.openxmlformats.org/drawingml/2006/main">
            <a:r>
              <a:t>【讲师说明】公式与系统M03基础规则一致。份额维度是本案例构造的集中度代理，不等于完善风险模型。权重之和100%，真实评分须解释业务依据并验证稳定性。</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【教学安排】第1天，供应商管理与风险控制，本页8分钟，建议时段15:25—15:33。示例每天09:00—12:00、13:30—16:30，午休不计课时。</a:t>
            </a:r>
          </a:p>
          <a:p xmlns:a="http://schemas.openxmlformats.org/drawingml/2006/main">
            <a:r>
              <a:t>【讲师说明】A=39.2+34.65+6.25=80.1；B=91.1；C=34+33.25+23.75=91.0。C资格剩余15天，小于30天下限，不能仅看91分入选。系统标记2家风险。</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【教学安排】第1天，供应商管理与风险控制，本页7分钟，建议时段15:33—15:40。示例每天09:00—12:00、13:30—16:30，午休不计课时。</a:t>
            </a:r>
          </a:p>
          <a:p xmlns:a="http://schemas.openxmlformats.org/drawingml/2006/main">
            <a:r>
              <a:t>【讲师说明】以关键件和维修交付为边界，不能为降低集中度而把份额分配给未获批准的来源。先验证备选能力，再讨论分配比例；每个方案保留审批及成本前提。</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【教学安排】第1天，供应商管理与风险控制，本页8分钟，建议时段15:40—15:48。示例每天09:00—12:00、13:30—16:30，午休不计课时。</a:t>
            </a:r>
          </a:p>
          <a:p xmlns:a="http://schemas.openxmlformats.org/drawingml/2006/main">
            <a:r>
              <a:t>【讲师说明】大模型或外部监测可能提供线索，但需验证时间、来源与关联实体。管理员或业务负责人确认后才能形成正式处置。SAP官方供应商管理页面可核实其生命周期、绩效与风险产品范围：https://www.sap.com/products/spend-management/supplier-management.html。</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【教学安排】第1天，供应商管理与风险控制，本页7分钟，建议时段15:48—15:55。示例每天09:00—12:00、13:30—16:30，午休不计课时。</a:t>
            </a:r>
          </a:p>
          <a:p xmlns:a="http://schemas.openxmlformats.org/drawingml/2006/main">
            <a:r>
              <a:t>【讲师说明】截图为M03基础样例，不是企业风险等级。自定义字段如关键件覆盖数可作为讨论依据，但不会自动进入既有评分公式。需说明怎样人工复核。</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【教学安排】第1天，供应商管理与风险控制，本页25分钟，建议时段15:55—16:20。示例每天09:00—12:00、13:30—16:30，午休不计课时。</a:t>
            </a:r>
          </a:p>
          <a:p xmlns:a="http://schemas.openxmlformats.org/drawingml/2006/main">
            <a:r>
              <a:t>【讲师说明】建议5分钟核对、8分钟计算与敏感性讨论、7分钟形成保障动作、5分钟交叉复核。改变参数后重新运行，保留基线，不能把分数上升等同于真实风险下降。</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【教学安排】第1天，供应商管理与风险控制，本页10分钟，建议时段16:20—16:30。示例每天09:00—12:00、13:30—16:30，午休不计课时。</a:t>
            </a:r>
          </a:p>
          <a:p xmlns:a="http://schemas.openxmlformats.org/drawingml/2006/main">
            <a:r>
              <a:t>【讲师说明】10分钟复盘，要求每人选一项尚未证实的假设，写清明天需要哪份记录。第一天不安排结业考试。系统历史练习用于本人复盘，企业建议需管理员核对后返回。</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【教学安排】第2天，订单执行与交付管理，本页3分钟，建议时段09:00—09:03。示例每天09:00—12:00、13:30—16:30，午休不计课时。</a:t>
            </a:r>
          </a:p>
          <a:p xmlns:a="http://schemas.openxmlformats.org/drawingml/2006/main">
            <a:r>
              <a:t>【讲师说明】用第一天的未确认问题开场。确认订单的原承诺、最新确认和维修需求是三个不同时间，不能用邮件回复数量衡量交付保障。</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【教学安排】第2天，订单执行与交付管理，本页5分钟，建议时段09:03—09:08。示例每天09:00—12:00、13:30—16:30，午休不计课时。</a:t>
            </a:r>
          </a:p>
          <a:p xmlns:a="http://schemas.openxmlformats.org/drawingml/2006/main">
            <a:r>
              <a:t>【讲师说明】先看最新确认能否覆盖维修需求，再分析相对原承诺变化。已到货还须考虑接收与质量核对，系统案例用相对今天的第N天简化说明。</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【教学安排】第2天，订单执行与交付管理，本页6分钟，建议时段09:08—09:14。示例每天09:00—12:00、13:30—16:30，午休不计课时。</a:t>
            </a:r>
          </a:p>
          <a:p xmlns:a="http://schemas.openxmlformats.org/drawingml/2006/main">
            <a:r>
              <a:t>【讲师说明】不要把相对日期当自然日历。先独立计算需求日前可用性，再核对原承诺变化。此案例未模拟工作包依赖、替代库存和收货处理时间，风险不是已经发生的停工损失。</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【教学安排】第2天，订单执行与交付管理，本页7分钟，建议时段09:14—09:21。示例每天09:00—12:00、13:30—16:30，午休不计课时。</a:t>
            </a:r>
          </a:p>
          <a:p xmlns:a="http://schemas.openxmlformats.org/drawingml/2006/main">
            <a:r>
              <a:t>【讲师说明】缺口=max(最新确认−维修需求+缓冲,0)。相对原承诺变化为最新确认−原承诺。案例按最大缺口选择PO-102，真实优先级还需要结合维修关键路径与替代保障。</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【教学安排】第2天，订单执行与交付管理，本页6分钟，建议时段09:21—09:27。示例每天09:00—12:00、13:30—16:30，午休不计课时。</a:t>
            </a:r>
          </a:p>
          <a:p xmlns:a="http://schemas.openxmlformats.org/drawingml/2006/main">
            <a:r>
              <a:t>【讲师说明】教学流程，不冒充企业催交制度。模型可帮助总结邮件但不能代供应商作出承诺。若信息相互矛盾，保留冲突并指定业务人员确认。</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【教学安排】第2天，订单执行与交付管理，本页6分钟，建议时段09:27—09:33。示例每天09:00—12:00、13:30—16:30，午休不计课时。</a:t>
            </a:r>
          </a:p>
          <a:p xmlns:a="http://schemas.openxmlformats.org/drawingml/2006/main">
            <a:r>
              <a:t>【讲师说明】表中触发是候选教学规则，不是企业正式阈值。真实预警应去重，跟踪首次发现、负责人与关闭证据。不能把每封邮件都升级成异常。</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【教学安排】第2天，订单执行与交付管理，本页5分钟，建议时段09:33—09:38。示例每天09:00—12:00、13:30—16:30，午休不计课时。</a:t>
            </a:r>
          </a:p>
          <a:p xmlns:a="http://schemas.openxmlformats.org/drawingml/2006/main">
            <a:r>
              <a:t>【讲师说明】本页讨论目标工作方式，不宣称培训系统已自动读取真实邮箱或发送催交。未获授权的外部消息不能直接发送。管理员核对后的文本可用于讨论，不作为供应商承诺。</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【教学安排】第2天，订单执行与交付管理，本页5分钟，建议时段09:38—09:43。示例每天09:00—12:00、13:30—16:30，午休不计课时。</a:t>
            </a:r>
          </a:p>
          <a:p xmlns:a="http://schemas.openxmlformats.org/drawingml/2006/main">
            <a:r>
              <a:t>【讲师说明】截图为缓冲0天基础情境。若将提前到货缓冲改为2天，缺口变为4、7、0天，但并未改变供应商的真实交期。参数是要求变化，不是交付改善。</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【教学安排】第2天，订单执行与交付管理，本页20分钟，建议时段09:43—10:03。示例每天09:00—12:00、13:30—16:30，午休不计课时。</a:t>
            </a:r>
          </a:p>
          <a:p xmlns:a="http://schemas.openxmlformats.org/drawingml/2006/main">
            <a:r>
              <a:t>【讲师说明】建议4分钟复核数据、6分钟两情景计算、6分钟写行动、4分钟互审。催交请求需包含明确对象和需要确认的日期，不得编造供应商承诺。</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【教学安排】第2天，订单执行与交付管理，本页7分钟，建议时段10:03—10:10。示例每天09:00—12:00、13:30—16:30，午休不计课时。</a:t>
            </a:r>
          </a:p>
          <a:p xmlns:a="http://schemas.openxmlformats.org/drawingml/2006/main">
            <a:r>
              <a:t>【讲师说明】7分钟复盘。把系统数字与现实交付影响分开。缺少维修工序和替代保障信息时，不估算停场损失或客户罚款。</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【教学安排】第2天，库存管理与数学优化，本页3分钟，建议时段10:10—10:13。示例每天09:00—12:00、13:30—16:30，午休不计课时。</a:t>
            </a:r>
          </a:p>
          <a:p xmlns:a="http://schemas.openxmlformats.org/drawingml/2006/main">
            <a:r>
              <a:t>【讲师说明】回看第5页的9件缺口，不直接用本专题模型解释全部原因。先排除数据和可用性问题，再选择需求及补货模型。</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【教学安排】第2天，库存管理与数学优化，本页6分钟，建议时段10:13—10:19。示例每天09:00—12:00、13:30—16:30，午休不计课时。</a:t>
            </a:r>
          </a:p>
          <a:p xmlns:a="http://schemas.openxmlformats.org/drawingml/2006/main">
            <a:r>
              <a:t>【讲师说明】分类是教学诊断框架，不是完整的ABC/XYZ政策。高价值与关键性不必然一致。低频关键件可能需要事件、可靠性和保障方案联合判断，不能机械提高z。</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【教学安排】第2天，库存管理与数学优化，本页6分钟，建议时段10:19—10:25。示例每天09:00—12:00、13:30—16:30，午休不计课时。</a:t>
            </a:r>
          </a:p>
          <a:p xmlns:a="http://schemas.openxmlformats.org/drawingml/2006/main">
            <a:r>
              <a:t>【讲师说明】对应培训系统M05三个来源。实际日需求标准差如何估计，需以完整时间序列和窗口说明为前提；不能把只有发生需求的天数当所有天数。</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【教学安排】第2天，库存管理与数学优化，本页7分钟，建议时段10:25—10:32。示例每天09:00—12:00、13:30—16:30，午休不计课时。</a:t>
            </a:r>
          </a:p>
          <a:p xmlns:a="http://schemas.openxmlformats.org/drawingml/2006/main">
            <a:r>
              <a:t>【讲师说明】与系统M05实现一致：z=1.65、日均1.5、标准差0.8、交期30天、价值500元、持有率20%。安全库存计算不取整，ROP向上取整。模型并未估计真实间歇性需求的服务水平，z不可直接解释为企业实际缺货改善比例。</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【教学安排】第2天，库存管理与数学优化，本页6分钟，建议时段10:32—10:38。示例每天09:00—12:00、13:30—16:30，午休不计课时。</a:t>
            </a:r>
          </a:p>
          <a:p xmlns:a="http://schemas.openxmlformats.org/drawingml/2006/main">
            <a:r>
              <a:t>【讲师说明】案例仅为计算练习。问学员这些统计量能否由自己的企业数据估计，哪些数据清洗会改变结果。不要把模拟件号与第5页四件号混为一组。</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【教学安排】第2天，库存管理与数学优化，本页6分钟，建议时段10:38—10:44。示例每天09:00—12:00、13:30—16:30，午休不计课时。</a:t>
            </a:r>
          </a:p>
          <a:p xmlns:a="http://schemas.openxmlformats.org/drawingml/2006/main">
            <a:r>
              <a:t>【讲师说明】系统输出安全库存7.23、5.53、7.67，分别按未取整数计算成本。三项合计3396.81元，逐项四舍五入后的和与未取整合计可能出现分差，展示总额以完整计算后取两位为准。</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【教学安排】第2天，库存管理与数学优化，本页6分钟，建议时段10:44—10:50。示例每天09:00—12:00、13:30—16:30，午休不计课时。</a:t>
            </a:r>
          </a:p>
          <a:p xmlns:a="http://schemas.openxmlformats.org/drawingml/2006/main">
            <a:r>
              <a:t>【讲师说明】两情景已在系统副本复算，年持有率均20%。模型没有计算实际缺货率、停工损失或节省费用，不能宣称增加成本已经换来具体服务收益。需与同口径缺料、满足率和实际需求回测结合。</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【教学安排】第2天，库存管理与数学优化，本页6分钟，建议时段10:50—10:56。示例每天09:00—12:00、13:30—16:30，午休不计课时。</a:t>
            </a:r>
          </a:p>
          <a:p xmlns:a="http://schemas.openxmlformats.org/drawingml/2006/main">
            <a:r>
              <a:t>【讲师说明】这些是候选业务方案，不是当前系统均已自动优化的功能。替代和物权条件需由获授权岗位核实。比较前应统一到达时点、可用性和成本边界。</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【教学安排】第2天，库存管理与数学优化，本页6分钟，建议时段10:56—11:02。示例每天09:00—12:00、13:30—16:30，午休不计课时。</a:t>
            </a:r>
          </a:p>
          <a:p xmlns:a="http://schemas.openxmlformats.org/drawingml/2006/main">
            <a:r>
              <a:t>【讲师说明】截图为M05真实参数页，服务水平系数只是模型输入。年持有率为教学设置，不代表企业会计口径。保留本人两次结果或分析记录用于对比，结果不是企业生产补货指令。</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【教学安排】第2天，库存管理与数学优化，本页20分钟，建议时段11:02—11:22。示例每天09:00—12:00、13:30—16:30，午休不计课时。</a:t>
            </a:r>
          </a:p>
          <a:p xmlns:a="http://schemas.openxmlformats.org/drawingml/2006/main">
            <a:r>
              <a:t>【讲师说明】建议4分钟核对、6分钟比较、6分钟试点设计、4分钟互审。要求说明为什么不把同一参数套到所有航材。低频关键件另行设计方法，不以算例分数证明实际最优。</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【教学安排】第2天，库存管理与数学优化，本页8分钟，建议时段11:22—11:30。示例每天09:00—12:00、13:30—16:30，午休不计课时。</a:t>
            </a:r>
          </a:p>
          <a:p xmlns:a="http://schemas.openxmlformats.org/drawingml/2006/main">
            <a:r>
              <a:t>【讲师说明】8分钟复盘。要求学员明确基线、观察窗口、责任与停止条件。模型输出不能替代真实效果观察，库存数量下降也不自动形成财务收益。</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【教学安排】第2天，AOG紧急采购与智能体，本页3分钟，建议时段11:30—11:33。示例每天09:00—12:00、13:30—16:30，午休不计课时。</a:t>
            </a:r>
          </a:p>
          <a:p xmlns:a="http://schemas.openxmlformats.org/drawingml/2006/main">
            <a:r>
              <a:t>【讲师说明】AOG为紧急保障情境，优先级仍须明确且遵循企业授权。不把教学12小时时限视为行业统一要求，也不编造停场损失。</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【教学安排】第2天，AOG紧急采购与智能体，本页5分钟，建议时段11:33—11:38。示例每天09:00—12:00、13:30—16:30，午休不计课时。</a:t>
            </a:r>
          </a:p>
          <a:p xmlns:a="http://schemas.openxmlformats.org/drawingml/2006/main">
            <a:r>
              <a:t>【讲师说明】教学组织框架不等于企业现行AOG程序。报价、库存和运输能力随时间变化，应标注最后确认时点；不同来源的状态不能当作同时有效。</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【教学安排】第2天，AOG紧急采购与智能体，本页6分钟，建议时段11:38—11:44。示例每天09:00—12:00、13:30—16:30，午休不计课时。</a:t>
            </a:r>
          </a:p>
          <a:p xmlns:a="http://schemas.openxmlformats.org/drawingml/2006/main">
            <a:r>
              <a:t>【讲师说明】成本为方案费用加运费，数据来自系统M06基础样例。真实税费、借件归还、交换补差与残值等未包含，需补充业务条件。表中通过为教学输入，不代表真实证书鉴定。</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【教学安排】第2天，AOG紧急采购与智能体，本页6分钟，建议时段11:44—11:50。示例每天09:00—12:00、13:30—16:30，午休不计课时。</a:t>
            </a:r>
          </a:p>
          <a:p xmlns:a="http://schemas.openxmlformats.org/drawingml/2006/main">
            <a:r>
              <a:t>【讲师说明】这是M06明示的教学决策规则，非企业普遍政策。实际业务可能纳入其他优先级和成本边界，须由管理员及业务负责人确认。</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【教学安排】第2天，AOG紧急采购与智能体，本页6分钟，建议时段11:50—11:56。示例每天09:00—12:00、13:30—16:30，午休不计课时。</a:t>
            </a:r>
          </a:p>
          <a:p xmlns:a="http://schemas.openxmlformats.org/drawingml/2006/main">
            <a:r>
              <a:t>【讲师说明】交换4小时但证书未通过，不能入选。购买10小时满足12小时但时间更长，借件5小时17000元、调拨5小时13000元。无论课程图表还是系统结果都不表示当前真实可采购。</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【教学安排】第2天，AOG紧急采购与智能体，本页6分钟，建议时段11:56—12:00、13:30—13:32。示例每天09:00—12:00、13:30—16:30，午休不计课时。</a:t>
            </a:r>
          </a:p>
          <a:p xmlns:a="http://schemas.openxmlformats.org/drawingml/2006/main">
            <a:r>
              <a:t>【讲师说明】每一行为独立教学情景，不是同时发生的事实。第三行的状态变更必须有真实核对证据，不能为了获得理想答案而修改。4小时且交换仍未通过时不存在可行方案，正确结果是继续处置而不是强行推荐。</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【教学安排】第2天，AOG紧急采购与智能体，本页6分钟，建议时段13:32—13:38。示例每天09:00—12:00、13:30—16:30，午休不计课时。</a:t>
            </a:r>
          </a:p>
          <a:p xmlns:a="http://schemas.openxmlformats.org/drawingml/2006/main">
            <a:r>
              <a:t>【讲师说明】这是目标架构讨论，培训系统目前不接入真实航空市场、物流服务或邮箱执行交易。IFSAviationMaintenance官方页面介绍维修与资源协同产品范围，但具体AOG功能、接口和许可须另核：https://www.ifs.com/en/products/aviation-maintenance。</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【教学安排】第2天，AOG紧急采购与智能体，本页5分钟，建议时段13:38—13:43。示例每天09:00—12:00、13:30—16:30，午休不计课时。</a:t>
            </a:r>
          </a:p>
          <a:p xmlns:a="http://schemas.openxmlformats.org/drawingml/2006/main">
            <a:r>
              <a:t>【讲师说明】截图为12小时基础案例。让学员说明额外商业条件如归还、物权与风险是否已纳入。若没有，作为待确认事项，不把简化公式称为完整决策。</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【教学安排】第2天，AOG紧急采购与智能体，本页20分钟，建议时段13:43—14:03。示例每天09:00—12:00、13:30—16:30，午休不计课时。</a:t>
            </a:r>
          </a:p>
          <a:p xmlns:a="http://schemas.openxmlformats.org/drawingml/2006/main">
            <a:r>
              <a:t>【讲师说明】建议4分钟复核、6分钟两情景计算、6分钟写保障与升级、4分钟互审。没有可行方案不是操作失败，应陈述缺失条件并按授权升级。</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【教学安排】第2天，AOG紧急采购与智能体，本页7分钟，建议时段14:03—14:10。示例每天09:00—12:00、13:30—16:30，午休不计课时。</a:t>
            </a:r>
          </a:p>
          <a:p xmlns:a="http://schemas.openxmlformats.org/drawingml/2006/main">
            <a:r>
              <a:t>【讲师说明】7分钟复盘。禁止把模拟数据当作生产AOG采购依据。将仍需企业确认的条件交由管理员复盘，继续讨论适配与控制措施。</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【教学安排】第2天，工具综合评价与选型，本页5分钟，建议时段14:10—14:15。示例每天09:00—12:00、13:30—16:30，午休不计课时。</a:t>
            </a:r>
          </a:p>
          <a:p xmlns:a="http://schemas.openxmlformats.org/drawingml/2006/main">
            <a:r>
              <a:t>【讲师说明】原大纲强调工具适配、优势局限与解决路径。不要以产品演示代替真实流程验证，单一产品也不能被假定覆盖全部采购环节。</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【教学安排】第2天，工具综合评价与选型，本页8分钟，建议时段14:15—14:23。示例每天09:00—12:00、13:30—16:30，午休不计课时。</a:t>
            </a:r>
          </a:p>
          <a:p xmlns:a="http://schemas.openxmlformats.org/drawingml/2006/main">
            <a:r>
              <a:t>【讲师说明】产品名称来自课程大纲。IFS官方产品范围见https://www.ifs.com/en/products/aviation-maintenance；SAP供应商管理https://www.sap.com/products/spend-management/supplier-management.html；JAGGAER寻源https://www.jaggaer.com/solutions/sourcing；IATAhttps://www.iata.org/en/services/data/mro-insights/mro-smarthub/。IBM补货是受组织、预留与配置影响的产品工作流，不能与课程安全库存简式等同，见https://www.ibm.com/support/pages/node/7291661。国内产品在本页作为待评估对象，不对未核验版本做功能保证。</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【教学安排】第2天，工具综合评价与选型，本页10分钟，建议时段14:23—14:33。示例每天09:00—12:00、13:30—16:30，午休不计课时。</a:t>
            </a:r>
          </a:p>
          <a:p xmlns:a="http://schemas.openxmlformats.org/drawingml/2006/main">
            <a:r>
              <a:t>【讲师说明】不用未经实测的雷达分数包装选型结论。每格应记录“已验证、待验证、不满足”，并附来源、版本和测试日期。接口存在不代表有权取用全部数据。</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【教学安排】第2天，工具综合评价与选型，本页12分钟，建议时段14:33—14:45。示例每天09:00—12:00、13:30—16:30，午休不计课时。</a:t>
            </a:r>
          </a:p>
          <a:p xmlns:a="http://schemas.openxmlformats.org/drawingml/2006/main">
            <a:r>
              <a:t>【讲师说明】建议3分钟选问题和方案、5分钟对比、4分钟汇报。不要把表中产品当作已经通过试用验证。比较对象可以是流程加规则与现有ERP组合，不强制购买新平台。</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【教学安排】第2天，工具综合评价与选型，本页10分钟，建议时段14:45—14:55。示例每天09:00—12:00、13:30—16:30，午休不计课时。</a:t>
            </a:r>
          </a:p>
          <a:p xmlns:a="http://schemas.openxmlformats.org/drawingml/2006/main">
            <a:r>
              <a:t>【讲师说明】不承诺任何当前免费期限或考试期间可用账号。官方入口可从系统软件体验渠道查看；开通前再次核实。IATA官方FAQ称免费账号仅有限访问，更多功能涉及订阅，引用核查2026-10-28：https://www.iata.org/en/services/data/mro-insights/mro-smarthub/。不得用真实客户和敏感采购数据试用未获批准的外部平台。</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【教学安排】第2天，实施、风险与投资回报，本页5分钟，建议时段14:55—15:00。示例每天09:00—12:00、13:30—16:30，午休不计课时。</a:t>
            </a:r>
          </a:p>
          <a:p xmlns:a="http://schemas.openxmlformats.org/drawingml/2006/main">
            <a:r>
              <a:t>【讲师说明】这是教学建议路线，不假定企业已完成任何阶段。每阶段设置进入与退出条件，尤其是数据不可用、权限不明确或结果无法复核时，应暂停自动执行。</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【教学安排】第2天，实施、风险与投资回报，本页8分钟，建议时段15:00—15:08。示例每天09:00—12:00、13:30—16:30，午休不计课时。</a:t>
            </a:r>
          </a:p>
          <a:p xmlns:a="http://schemas.openxmlformats.org/drawingml/2006/main">
            <a:r>
              <a:t>【讲师说明】岗位为教学建议，实际组织职责需由企业确认。为字段增加更新时间、来源和例外处理，避免把数据治理简化成一次清洗。重复键与单位冲突应阻止无声合并。</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【教学安排】第2天，实施、风险与投资回报，本页8分钟，建议时段15:08—15:16。示例每天09:00—12:00、13:30—16:30，午休不计课时。</a:t>
            </a:r>
          </a:p>
          <a:p xmlns:a="http://schemas.openxmlformats.org/drawingml/2006/main">
            <a:r>
              <a:t>【讲师说明】企业真实API规范与授权未提供，培训系统没有自动连接生产系统。专业知识需有版本、适用范围和有效性维护。大模型不应把外部文档中的指令当作系统授权。这里只描述目标架构，不演示API密钥。</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【教学安排】第2天，实施、风险与投资回报，本页8分钟，建议时段15:16—15:24。示例每天09:00—12:00、13:30—16:30，午休不计课时。</a:t>
            </a:r>
          </a:p>
          <a:p xmlns:a="http://schemas.openxmlformats.org/drawingml/2006/main">
            <a:r>
              <a:t>【讲师说明】本页为一般实施控制框架，不构成对特定法规、认证或企业安全政策的解释。敏感数据和外部模型使用应按企业已批准要求办理。不能把网页截图限制当作绝对防泄露控制。</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【教学安排】第2天，实施、风险与投资回报，本页8分钟，建议时段15:24—15:32。示例每天09:00—12:00、13:30—16:30，午休不计课时。</a:t>
            </a:r>
          </a:p>
          <a:p xmlns:a="http://schemas.openxmlformats.org/drawingml/2006/main">
            <a:r>
              <a:t>【讲师说明】根据原大纲区分效率收益与实际财务收益。释放人力若被用于其他任务，不自动形成工资现金节省。库存一次性释放和年度持有成本不能不加说明地相加。税务、折现和企业核算口径由财务确认。</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【教学安排】第2天，实施、风险与投资回报，本页10分钟，建议时段15:32—15:42。示例每天09:00—12:00、13:30—16:30，午休不计课时。</a:t>
            </a:r>
          </a:p>
          <a:p xmlns:a="http://schemas.openxmlformats.org/drawingml/2006/main">
            <a:r>
              <a:t>【讲师说明】新增复核假设每次6分钟，即10小时/月。若仅把任务处理30降到15分钟，就会高估10小时。每月任务量100为教学假设，不是厦门太古实际工作量，不换算未经验证的货币收益。试点还应记录异常返工及运维时间。</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【教学安排】第2天，实施、风险与投资回报，本页8分钟，建议时段15:42—15:50。示例每天09:00—12:00、13:30—16:30，午休不计课时。</a:t>
            </a:r>
          </a:p>
          <a:p xmlns:a="http://schemas.openxmlformats.org/drawingml/2006/main">
            <a:r>
              <a:t>【讲师说明】建议2分钟选问题、4分钟写建议、2分钟同伴质询。目标须与基线分开，不承诺一定实现。企业访谈内容先确认再交管理员，管理员核对后返回意见，学员可继续追问。</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【教学安排】第2天，第二天结业考试，本页5分钟，建议时段15:50—15:55。示例每天09:00—12:00、13:30—16:30，午休不计课时。</a:t>
            </a:r>
          </a:p>
          <a:p xmlns:a="http://schemas.openxmlformats.org/drawingml/2006/main">
            <a:r>
              <a:t>【讲师说明】这是考试蓝图，不是已发布的正式试题。按用户要求，管理员依据最终课程PPT安排题目，考试仅第二天进行。管理员应事先确认题型、评分规则和考生权限，不把本页当系统已配置完成的证明。</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【教学安排】第2天，第二天结业考试，本页25分钟，建议时段15:55—16:20。示例每天09:00—12:00、13:30—16:30，午休不计课时。</a:t>
            </a:r>
          </a:p>
          <a:p xmlns:a="http://schemas.openxmlformats.org/drawingml/2006/main">
            <a:r>
              <a:t>【讲师说明】课堂在此页停留25分钟。题目由管理员依据最终课件确认后发布，不在共享课件中放答案。培训系统在考试进行中限制历史练习与助手等功能，实际开考前须做权限和时长检查。网络异常按管理员事先说明处理。</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【教学安排】第2天，总结与答疑，本页5分钟，建议时段16:20—16:25。示例每天09:00—12:00、13:30—16:30，午休不计课时。</a:t>
            </a:r>
          </a:p>
          <a:p xmlns:a="http://schemas.openxmlformats.org/drawingml/2006/main">
            <a:r>
              <a:t>【讲师说明】5分钟总结。让每位学员指出一项可带回岗位的小改进及一项仍需跨部门确认的问题，避免提出无法验证的大范围系统替换。</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课程依据：航材采购AI智能化实战工作坊-厦门太古.2026.10.23doc.pdf。两天、每天6小时，章节时长为本课件建议安排。所有案例数据均为教学模拟，不代表厦门太古真实记录。典型问题属于待验证议题。</a:t>
            </a:r>
          </a:p>
          <a:p xmlns:a="http://schemas.openxmlformats.org/drawingml/2006/main">
            <a:r>
              <a:t>【教学安排】第2天，总结与答疑，本页5分钟，建议时段16:25—16:30。示例每天09:00—12:00、13:30—16:30，午休不计课时。</a:t>
            </a:r>
          </a:p>
          <a:p xmlns:a="http://schemas.openxmlformats.org/drawingml/2006/main">
            <a:r>
              <a:t>【讲师说明】5分钟答疑。多轮讨论通过系统本人历史练习中的企业情况与复盘提交管理员。管理员的回复应基于确认事实并标出边界，不把模型草稿直接视作企业结论。实际试点需企业授权，课堂系统不自动下发生产操作。</a:t>
            </a:r>
          </a:p>
          <a:p xmlns:a="http://schemas.openxmlformats.org/drawingml/2006/main">
            <a:r>
              <a:t>【来源】课程大纲；教学计算依据本项目internal/app/cases.go与enterprise.go。涉及截图为2026-10-28独立演示副本，实际操作及核验记录在tmp/ppt-full/。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e252cf46bb46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762ca6ec0449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8be66bea9f4a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000bd17bfc4d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db5acfc77c41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72f0ef8fd3f4d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86ED08-7B4E-4FF5-A683-0E10D1620D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7AA6D30-7E87-46D9-9A83-33B498E2ABD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4AA5881-8A34-445C-B759-1CA33A76A8A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171EBB-FD1D-435B-ACAF-337430DD18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7FFD542-D58D-4793-A674-E5A9507B1DE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4F67BC6-C38C-469F-8880-BB93CCB586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5A6E34-1790-47E3-ADD0-890B88DD09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B554652-1104-4628-988C-BD1744C4BD6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64728A-C518-4821-839E-391FC3045E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79EED8-C1D7-414F-A661-F2AF2225E4A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d709c2dbe449c0" /><Relationship Type="http://schemas.openxmlformats.org/officeDocument/2006/relationships/slideLayout" Target="/ppt/slideLayouts/slideLayout1.xml" Id="R4205ec6b6cd442bc" /><Relationship Type="http://schemas.openxmlformats.org/officeDocument/2006/relationships/slideLayout" Target="/ppt/slideLayouts/slideLayout2.xml" Id="R3ebfe39ebd7041d7" /><Relationship Type="http://schemas.openxmlformats.org/officeDocument/2006/relationships/slideLayout" Target="/ppt/slideLayouts/slideLayout3.xml" Id="Rf4f53208e7874991" /><Relationship Type="http://schemas.openxmlformats.org/officeDocument/2006/relationships/slideLayout" Target="/ppt/slideLayouts/slideLayout4.xml" Id="Rfd5b322d270248ab" /><Relationship Type="http://schemas.openxmlformats.org/officeDocument/2006/relationships/slideLayout" Target="/ppt/slideLayouts/slideLayout5.xml" Id="R0ad20ba331a54b84" /><Relationship Type="http://schemas.openxmlformats.org/officeDocument/2006/relationships/slideLayout" Target="/ppt/slideLayouts/slideLayout6.xml" Id="R94399fa5a80043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05ec6b6cd442bc"/>
    <p:sldLayoutId xmlns:r="http://schemas.openxmlformats.org/officeDocument/2006/relationships" id="2147483650" r:id="R3ebfe39ebd7041d7"/>
    <p:sldLayoutId xmlns:r="http://schemas.openxmlformats.org/officeDocument/2006/relationships" id="2147483651" r:id="Rf4f53208e7874991"/>
    <p:sldLayoutId xmlns:r="http://schemas.openxmlformats.org/officeDocument/2006/relationships" id="2147483652" r:id="Rfd5b322d270248ab"/>
    <p:sldLayoutId xmlns:r="http://schemas.openxmlformats.org/officeDocument/2006/relationships" id="2147483653" r:id="R0ad20ba331a54b84"/>
    <p:sldLayoutId xmlns:r="http://schemas.openxmlformats.org/officeDocument/2006/relationships" id="2147483654" r:id="R94399fa5a80043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ec4f3427a274e34" /><Relationship Type="http://schemas.openxmlformats.org/officeDocument/2006/relationships/image" Target="/ppt/media/image.png" Id="R5df16c1cd683405f" /><Relationship Type="http://schemas.openxmlformats.org/officeDocument/2006/relationships/notesSlide" Target="/ppt/notesSlides/notesSlide1.xml" Id="Rc607b054f5634d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ed3bdcebb447bb" /><Relationship Type="http://schemas.openxmlformats.org/officeDocument/2006/relationships/notesSlide" Target="/ppt/notesSlides/notesSlide2.xml" Id="R666c698290eb4f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58f67f95f334f6e" /><Relationship Type="http://schemas.openxmlformats.org/officeDocument/2006/relationships/notesSlide" Target="/ppt/notesSlides/notesSlide3.xml" Id="R787e1c3f157d43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af4ba2b711842e5" /><Relationship Type="http://schemas.openxmlformats.org/officeDocument/2006/relationships/notesSlide" Target="/ppt/notesSlides/notesSlide4.xml" Id="R66a2cae8818049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a07bd3580e7473f" /><Relationship Type="http://schemas.openxmlformats.org/officeDocument/2006/relationships/chart" Target="/ppt/slides/charts/chart1.xml" Id="R9a04433628a24a88" /><Relationship Type="http://schemas.openxmlformats.org/officeDocument/2006/relationships/notesSlide" Target="/ppt/notesSlides/notesSlide5.xml" Id="R9ff94f16249a4b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55933e0bac2484c" /><Relationship Type="http://schemas.openxmlformats.org/officeDocument/2006/relationships/notesSlide" Target="/ppt/notesSlides/notesSlide6.xml" Id="Re3dee73aeee442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e9ad45c305a4da2" /><Relationship Type="http://schemas.openxmlformats.org/officeDocument/2006/relationships/notesSlide" Target="/ppt/notesSlides/notesSlide7.xml" Id="R8e932f4f5d0b47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7d2a3e4cef04fd5" /><Relationship Type="http://schemas.openxmlformats.org/officeDocument/2006/relationships/notesSlide" Target="/ppt/notesSlides/notesSlide8.xml" Id="R7d91adbb276243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0c10e4ebb404808" /><Relationship Type="http://schemas.openxmlformats.org/officeDocument/2006/relationships/notesSlide" Target="/ppt/notesSlides/notesSlide9.xml" Id="Rc549112798b94a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f6d6d45373f4c87" /><Relationship Type="http://schemas.openxmlformats.org/officeDocument/2006/relationships/notesSlide" Target="/ppt/notesSlides/notesSlide10.xml" Id="Rfd988df1a2ed49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167c5dc3bae4a12" /><Relationship Type="http://schemas.openxmlformats.org/officeDocument/2006/relationships/notesSlide" Target="/ppt/notesSlides/notesSlide11.xml" Id="R3ad17e9c4f9743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aa9fe9a9e804498" /><Relationship Type="http://schemas.openxmlformats.org/officeDocument/2006/relationships/notesSlide" Target="/ppt/notesSlides/notesSlide12.xml" Id="Rc38f3a24a19348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e219b99c9504b37" /><Relationship Type="http://schemas.openxmlformats.org/officeDocument/2006/relationships/notesSlide" Target="/ppt/notesSlides/notesSlide13.xml" Id="Rd0c8c998d53f4d5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4a2d4186915484e" /><Relationship Type="http://schemas.openxmlformats.org/officeDocument/2006/relationships/notesSlide" Target="/ppt/notesSlides/notesSlide14.xml" Id="R5cd249764d4a49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cda65a44f98465a" /><Relationship Type="http://schemas.openxmlformats.org/officeDocument/2006/relationships/notesSlide" Target="/ppt/notesSlides/notesSlide15.xml" Id="R40c8c883d39b420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98a98a6a65a46dc" /><Relationship Type="http://schemas.openxmlformats.org/officeDocument/2006/relationships/chart" Target="/ppt/slides/charts/chart2.xml" Id="R27f7b8cb494b4d3e" /><Relationship Type="http://schemas.openxmlformats.org/officeDocument/2006/relationships/notesSlide" Target="/ppt/notesSlides/notesSlide16.xml" Id="R3ef52e3dcdd74b1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4d02ee8b048405f" /><Relationship Type="http://schemas.openxmlformats.org/officeDocument/2006/relationships/notesSlide" Target="/ppt/notesSlides/notesSlide17.xml" Id="R4cd9ff0898304a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606532a4f0c4b34" /><Relationship Type="http://schemas.openxmlformats.org/officeDocument/2006/relationships/chart" Target="/ppt/slides/charts/chart3.xml" Id="Rdbd3ee25e9b944c2" /><Relationship Type="http://schemas.openxmlformats.org/officeDocument/2006/relationships/notesSlide" Target="/ppt/notesSlides/notesSlide18.xml" Id="Rb83954b54ed2403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3ece9de488e47bf" /><Relationship Type="http://schemas.openxmlformats.org/officeDocument/2006/relationships/notesSlide" Target="/ppt/notesSlides/notesSlide19.xml" Id="R31393d35107f45e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f4239b2bbdc45cb" /><Relationship Type="http://schemas.openxmlformats.org/officeDocument/2006/relationships/image" Target="/ppt/media/image2.png" Id="R3022c2def8184cbe" /><Relationship Type="http://schemas.openxmlformats.org/officeDocument/2006/relationships/notesSlide" Target="/ppt/notesSlides/notesSlide20.xml" Id="R8a70a1199e0b42a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a955a5ebe494ddc" /><Relationship Type="http://schemas.openxmlformats.org/officeDocument/2006/relationships/image" Target="/ppt/media/image3.png" Id="R3c74a14771cd4b5f" /><Relationship Type="http://schemas.openxmlformats.org/officeDocument/2006/relationships/notesSlide" Target="/ppt/notesSlides/notesSlide21.xml" Id="Rc2ed59758e64418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98fb624c7b44c4a" /><Relationship Type="http://schemas.openxmlformats.org/officeDocument/2006/relationships/notesSlide" Target="/ppt/notesSlides/notesSlide22.xml" Id="R9db81231b831436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36aced0a7dc411c" /><Relationship Type="http://schemas.openxmlformats.org/officeDocument/2006/relationships/notesSlide" Target="/ppt/notesSlides/notesSlide23.xml" Id="Ra787c81a518443b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7dc06d47eae405a" /><Relationship Type="http://schemas.openxmlformats.org/officeDocument/2006/relationships/notesSlide" Target="/ppt/notesSlides/notesSlide24.xml" Id="R6a31f1bfdcb4440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df1cc7b2c9c4c94" /><Relationship Type="http://schemas.openxmlformats.org/officeDocument/2006/relationships/notesSlide" Target="/ppt/notesSlides/notesSlide25.xml" Id="R8493f2c3a0b14df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affab5a51334261" /><Relationship Type="http://schemas.openxmlformats.org/officeDocument/2006/relationships/notesSlide" Target="/ppt/notesSlides/notesSlide26.xml" Id="R7de5fc8d739c47e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ae0e1155d0b4a5b" /><Relationship Type="http://schemas.openxmlformats.org/officeDocument/2006/relationships/notesSlide" Target="/ppt/notesSlides/notesSlide27.xml" Id="R9020f315976d461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d527bcbe05541f1" /><Relationship Type="http://schemas.openxmlformats.org/officeDocument/2006/relationships/notesSlide" Target="/ppt/notesSlides/notesSlide28.xml" Id="R617f340591da446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4294d1940124d6d" /><Relationship Type="http://schemas.openxmlformats.org/officeDocument/2006/relationships/chart" Target="/ppt/slides/charts/chart4.xml" Id="Rd2de5e0513c14f12" /><Relationship Type="http://schemas.openxmlformats.org/officeDocument/2006/relationships/notesSlide" Target="/ppt/notesSlides/notesSlide29.xml" Id="R3baa3e2c349a493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f643dbdc35642fb" /><Relationship Type="http://schemas.openxmlformats.org/officeDocument/2006/relationships/notesSlide" Target="/ppt/notesSlides/notesSlide30.xml" Id="R185344eb2b7748e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40840ead6464ea8" /><Relationship Type="http://schemas.openxmlformats.org/officeDocument/2006/relationships/notesSlide" Target="/ppt/notesSlides/notesSlide31.xml" Id="R2cc9f808f493483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c59cb76c8af4d58" /><Relationship Type="http://schemas.openxmlformats.org/officeDocument/2006/relationships/notesSlide" Target="/ppt/notesSlides/notesSlide32.xml" Id="Rbc95f0375e8c4ad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0ff5241c1784485" /><Relationship Type="http://schemas.openxmlformats.org/officeDocument/2006/relationships/notesSlide" Target="/ppt/notesSlides/notesSlide33.xml" Id="Rd73240f2f6164f9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2d14c76c7e74eee" /><Relationship Type="http://schemas.openxmlformats.org/officeDocument/2006/relationships/image" Target="/ppt/media/image4.png" Id="R636c307955444dec" /><Relationship Type="http://schemas.openxmlformats.org/officeDocument/2006/relationships/notesSlide" Target="/ppt/notesSlides/notesSlide34.xml" Id="Rc3d956e15fe24e0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f1a5fa2092443e3" /><Relationship Type="http://schemas.openxmlformats.org/officeDocument/2006/relationships/image" Target="/ppt/media/image5.png" Id="R7e68bc91f3c148e8" /><Relationship Type="http://schemas.openxmlformats.org/officeDocument/2006/relationships/notesSlide" Target="/ppt/notesSlides/notesSlide35.xml" Id="R09241da964b8465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64a3b837489484f" /><Relationship Type="http://schemas.openxmlformats.org/officeDocument/2006/relationships/notesSlide" Target="/ppt/notesSlides/notesSlide36.xml" Id="Rec18d72725c6439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b05b0b7373c4488" /><Relationship Type="http://schemas.openxmlformats.org/officeDocument/2006/relationships/notesSlide" Target="/ppt/notesSlides/notesSlide37.xml" Id="Ra753dce656fe42b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0349cfaf94f40b1" /><Relationship Type="http://schemas.openxmlformats.org/officeDocument/2006/relationships/notesSlide" Target="/ppt/notesSlides/notesSlide38.xml" Id="Ree456336beca48e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eded863cf0f41ca" /><Relationship Type="http://schemas.openxmlformats.org/officeDocument/2006/relationships/notesSlide" Target="/ppt/notesSlides/notesSlide39.xml" Id="R307d46eb58c0470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e4e9e75788d420d" /><Relationship Type="http://schemas.openxmlformats.org/officeDocument/2006/relationships/notesSlide" Target="/ppt/notesSlides/notesSlide40.xml" Id="Rd36be3fc98e141d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097ad3cfffe4489" /><Relationship Type="http://schemas.openxmlformats.org/officeDocument/2006/relationships/notesSlide" Target="/ppt/notesSlides/notesSlide41.xml" Id="R109e632f4bc5461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41a19bce7fc7432a" /><Relationship Type="http://schemas.openxmlformats.org/officeDocument/2006/relationships/chart" Target="/ppt/slides/charts/chart5.xml" Id="R333178bbeb754829" /><Relationship Type="http://schemas.openxmlformats.org/officeDocument/2006/relationships/notesSlide" Target="/ppt/notesSlides/notesSlide42.xml" Id="Ra10d97b3f175470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724113e768af436a" /><Relationship Type="http://schemas.openxmlformats.org/officeDocument/2006/relationships/notesSlide" Target="/ppt/notesSlides/notesSlide43.xml" Id="R6843f2511fe442e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5c88ac25c1d94bda" /><Relationship Type="http://schemas.openxmlformats.org/officeDocument/2006/relationships/notesSlide" Target="/ppt/notesSlides/notesSlide44.xml" Id="R4b8041750acc428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b4a4a9da20b04e9b" /><Relationship Type="http://schemas.openxmlformats.org/officeDocument/2006/relationships/image" Target="/ppt/media/image6.png" Id="R6982593b12eb4d56" /><Relationship Type="http://schemas.openxmlformats.org/officeDocument/2006/relationships/notesSlide" Target="/ppt/notesSlides/notesSlide45.xml" Id="Ra031f8c9f49f488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4ce24b49ce5147f2" /><Relationship Type="http://schemas.openxmlformats.org/officeDocument/2006/relationships/notesSlide" Target="/ppt/notesSlides/notesSlide46.xml" Id="R0ce3f91e8d7249c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2f777a22d6a4d08" /><Relationship Type="http://schemas.openxmlformats.org/officeDocument/2006/relationships/notesSlide" Target="/ppt/notesSlides/notesSlide47.xml" Id="Rda3d29c549c9450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26e7a730faa4ff9" /><Relationship Type="http://schemas.openxmlformats.org/officeDocument/2006/relationships/notesSlide" Target="/ppt/notesSlides/notesSlide48.xml" Id="R7a795fd7f4594bb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39e3cc06b03e4757" /><Relationship Type="http://schemas.openxmlformats.org/officeDocument/2006/relationships/notesSlide" Target="/ppt/notesSlides/notesSlide49.xml" Id="R3c5e0ce9abac43b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cdcc17682a8f4278" /><Relationship Type="http://schemas.openxmlformats.org/officeDocument/2006/relationships/notesSlide" Target="/ppt/notesSlides/notesSlide50.xml" Id="Rb908348515ff414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e2afb8bf5ad4cc3" /><Relationship Type="http://schemas.openxmlformats.org/officeDocument/2006/relationships/chart" Target="/ppt/slides/charts/chart6.xml" Id="R7aff7347836542cb" /><Relationship Type="http://schemas.openxmlformats.org/officeDocument/2006/relationships/notesSlide" Target="/ppt/notesSlides/notesSlide51.xml" Id="R7710931025284e1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5581db107caa4a1d" /><Relationship Type="http://schemas.openxmlformats.org/officeDocument/2006/relationships/notesSlide" Target="/ppt/notesSlides/notesSlide52.xml" Id="R2c4f18228dc144d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25b69880f71f49e2" /><Relationship Type="http://schemas.openxmlformats.org/officeDocument/2006/relationships/notesSlide" Target="/ppt/notesSlides/notesSlide53.xml" Id="R281f117415a64b5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54025464f0a941ef" /><Relationship Type="http://schemas.openxmlformats.org/officeDocument/2006/relationships/notesSlide" Target="/ppt/notesSlides/notesSlide54.xml" Id="R7de2398dd8354b4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79fc3606635c4076" /><Relationship Type="http://schemas.openxmlformats.org/officeDocument/2006/relationships/image" Target="/ppt/media/image7.png" Id="R686fbb3d024545e8" /><Relationship Type="http://schemas.openxmlformats.org/officeDocument/2006/relationships/notesSlide" Target="/ppt/notesSlides/notesSlide55.xml" Id="R5a1538d8770e44e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23a5761532934286" /><Relationship Type="http://schemas.openxmlformats.org/officeDocument/2006/relationships/notesSlide" Target="/ppt/notesSlides/notesSlide56.xml" Id="R60081aceade4424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901f5783cd8844b3" /><Relationship Type="http://schemas.openxmlformats.org/officeDocument/2006/relationships/notesSlide" Target="/ppt/notesSlides/notesSlide57.xml" Id="R096d39ce27704ba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0e7966acd9e14611" /><Relationship Type="http://schemas.openxmlformats.org/officeDocument/2006/relationships/notesSlide" Target="/ppt/notesSlides/notesSlide58.xml" Id="R1b3f51f5f7aa4f4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0b007d2df37a45fb" /><Relationship Type="http://schemas.openxmlformats.org/officeDocument/2006/relationships/notesSlide" Target="/ppt/notesSlides/notesSlide59.xml" Id="Rc526700b888e442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465450f6b4b64919" /><Relationship Type="http://schemas.openxmlformats.org/officeDocument/2006/relationships/notesSlide" Target="/ppt/notesSlides/notesSlide60.xml" Id="R18f693e239ae45b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6f180261b5344a42" /><Relationship Type="http://schemas.openxmlformats.org/officeDocument/2006/relationships/notesSlide" Target="/ppt/notesSlides/notesSlide61.xml" Id="Re8597c80d2a74ff3"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b6704e0a5a7040bf" /><Relationship Type="http://schemas.openxmlformats.org/officeDocument/2006/relationships/notesSlide" Target="/ppt/notesSlides/notesSlide62.xml" Id="R9af96c9c955b4e3d"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36e1439d4dee4ae3" /><Relationship Type="http://schemas.openxmlformats.org/officeDocument/2006/relationships/chart" Target="/ppt/slides/charts/chart7.xml" Id="Re227bb637b2d42fe" /><Relationship Type="http://schemas.openxmlformats.org/officeDocument/2006/relationships/notesSlide" Target="/ppt/notesSlides/notesSlide63.xml" Id="Rbc852650a4664b67"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5c9fed211cea49ce" /><Relationship Type="http://schemas.openxmlformats.org/officeDocument/2006/relationships/chart" Target="/ppt/slides/charts/chart8.xml" Id="Rb7383bd821f94a55" /><Relationship Type="http://schemas.openxmlformats.org/officeDocument/2006/relationships/notesSlide" Target="/ppt/notesSlides/notesSlide64.xml" Id="Rb292d7bb919e489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ea0f7a9a88b34e35" /><Relationship Type="http://schemas.openxmlformats.org/officeDocument/2006/relationships/notesSlide" Target="/ppt/notesSlides/notesSlide65.xml" Id="R42535ac3b3c84ba7"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40db087317a744c1" /><Relationship Type="http://schemas.openxmlformats.org/officeDocument/2006/relationships/image" Target="/ppt/media/image8.png" Id="R9abebd2bc8f4452f" /><Relationship Type="http://schemas.openxmlformats.org/officeDocument/2006/relationships/notesSlide" Target="/ppt/notesSlides/notesSlide66.xml" Id="R081135b8bbd64f41"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f383b2b9aff74675" /><Relationship Type="http://schemas.openxmlformats.org/officeDocument/2006/relationships/notesSlide" Target="/ppt/notesSlides/notesSlide67.xml" Id="R40f23626a8b848a9"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c8cab255d5904ee5" /><Relationship Type="http://schemas.openxmlformats.org/officeDocument/2006/relationships/notesSlide" Target="/ppt/notesSlides/notesSlide68.xml" Id="R465f89c70f694821"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8763c35f7d164326" /><Relationship Type="http://schemas.openxmlformats.org/officeDocument/2006/relationships/notesSlide" Target="/ppt/notesSlides/notesSlide69.xml" Id="R877cef782c8a48f7"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5b84403bca2146c0" /><Relationship Type="http://schemas.openxmlformats.org/officeDocument/2006/relationships/notesSlide" Target="/ppt/notesSlides/notesSlide70.xml" Id="R25546d38c0484ccc"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6ed31809dfdf4e56" /><Relationship Type="http://schemas.openxmlformats.org/officeDocument/2006/relationships/notesSlide" Target="/ppt/notesSlides/notesSlide71.xml" Id="Rb3f95eae3ef74561"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547ee22afd9147d7" /><Relationship Type="http://schemas.openxmlformats.org/officeDocument/2006/relationships/notesSlide" Target="/ppt/notesSlides/notesSlide72.xml" Id="Rc489775e8a8e4709"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3fbe9653a4bb49c9" /><Relationship Type="http://schemas.openxmlformats.org/officeDocument/2006/relationships/chart" Target="/ppt/slides/charts/chart9.xml" Id="Rd1c51b7a7c41470c" /><Relationship Type="http://schemas.openxmlformats.org/officeDocument/2006/relationships/notesSlide" Target="/ppt/notesSlides/notesSlide73.xml" Id="R4a7d4a52d98f4b25"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037ee20ce9da439e" /><Relationship Type="http://schemas.openxmlformats.org/officeDocument/2006/relationships/notesSlide" Target="/ppt/notesSlides/notesSlide74.xml" Id="R5fd9d15dfcc24499"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ca579c920d4742f5" /><Relationship Type="http://schemas.openxmlformats.org/officeDocument/2006/relationships/notesSlide" Target="/ppt/notesSlides/notesSlide75.xml" Id="Rb3fa24a786d74678"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239a25c1d3c04e24" /><Relationship Type="http://schemas.openxmlformats.org/officeDocument/2006/relationships/image" Target="/ppt/media/image9.png" Id="Re97296fe15174a91" /><Relationship Type="http://schemas.openxmlformats.org/officeDocument/2006/relationships/notesSlide" Target="/ppt/notesSlides/notesSlide76.xml" Id="Rda8813c04d004197"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a50076611e024d83" /><Relationship Type="http://schemas.openxmlformats.org/officeDocument/2006/relationships/notesSlide" Target="/ppt/notesSlides/notesSlide77.xml" Id="R02f97721ab674cb7"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7c802b1ae6404b38" /><Relationship Type="http://schemas.openxmlformats.org/officeDocument/2006/relationships/notesSlide" Target="/ppt/notesSlides/notesSlide78.xml" Id="R2fd4ce3e1b964504"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f31df8be61ca41b2" /><Relationship Type="http://schemas.openxmlformats.org/officeDocument/2006/relationships/notesSlide" Target="/ppt/notesSlides/notesSlide79.xml" Id="Rcde2bdbafdde4c9a"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94ebaa3bca824e33" /><Relationship Type="http://schemas.openxmlformats.org/officeDocument/2006/relationships/notesSlide" Target="/ppt/notesSlides/notesSlide80.xml" Id="R8201d938771146f1"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53fdf2783e7a4581" /><Relationship Type="http://schemas.openxmlformats.org/officeDocument/2006/relationships/notesSlide" Target="/ppt/notesSlides/notesSlide81.xml" Id="R90bada6989714aee"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7520d8ca72ad4819" /><Relationship Type="http://schemas.openxmlformats.org/officeDocument/2006/relationships/notesSlide" Target="/ppt/notesSlides/notesSlide82.xml" Id="R3418fb31f0404814"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2b2239386f094183" /><Relationship Type="http://schemas.openxmlformats.org/officeDocument/2006/relationships/notesSlide" Target="/ppt/notesSlides/notesSlide83.xml" Id="Rdb2d2c6cf4834aa2"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da7c9711869b4433" /><Relationship Type="http://schemas.openxmlformats.org/officeDocument/2006/relationships/notesSlide" Target="/ppt/notesSlides/notesSlide84.xml" Id="R7eff6592ad374f78"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95f5e00bead94f49" /><Relationship Type="http://schemas.openxmlformats.org/officeDocument/2006/relationships/notesSlide" Target="/ppt/notesSlides/notesSlide85.xml" Id="Rf7b942653a434362"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1c182f0c446e4a89" /><Relationship Type="http://schemas.openxmlformats.org/officeDocument/2006/relationships/notesSlide" Target="/ppt/notesSlides/notesSlide86.xml" Id="R41007a9678304be8"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77a176ed683d46d3" /><Relationship Type="http://schemas.openxmlformats.org/officeDocument/2006/relationships/notesSlide" Target="/ppt/notesSlides/notesSlide87.xml" Id="Rd3d629d30b574768"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954a40d8d5d448dd" /><Relationship Type="http://schemas.openxmlformats.org/officeDocument/2006/relationships/notesSlide" Target="/ppt/notesSlides/notesSlide88.xml" Id="R31deed518b4f4412"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27caf4e0a63240ca" /><Relationship Type="http://schemas.openxmlformats.org/officeDocument/2006/relationships/chart" Target="/ppt/slides/charts/chart10.xml" Id="R019399e7e0df4627" /><Relationship Type="http://schemas.openxmlformats.org/officeDocument/2006/relationships/notesSlide" Target="/ppt/notesSlides/notesSlide89.xml" Id="R61f85897f0a047d6"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739e40f522b244df" /><Relationship Type="http://schemas.openxmlformats.org/officeDocument/2006/relationships/notesSlide" Target="/ppt/notesSlides/notesSlide90.xml" Id="R7f004c5ef67247a8"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9839c72f0bfb4c0f" /><Relationship Type="http://schemas.openxmlformats.org/officeDocument/2006/relationships/notesSlide" Target="/ppt/notesSlides/notesSlide91.xml" Id="Rfd9ae689559b433d"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4b51680eb51b4f5c" /><Relationship Type="http://schemas.openxmlformats.org/officeDocument/2006/relationships/notesSlide" Target="/ppt/notesSlides/notesSlide92.xml" Id="R1820a58558bc4c06"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5ffc6eb3db014e0b" /><Relationship Type="http://schemas.openxmlformats.org/officeDocument/2006/relationships/notesSlide" Target="/ppt/notesSlides/notesSlide93.xml" Id="R95007cd8e029434d"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811e6ef49f734580" /><Relationship Type="http://schemas.openxmlformats.org/officeDocument/2006/relationships/notesSlide" Target="/ppt/notesSlides/notesSlide94.xml" Id="R4061ae24aad54f4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本次需求</c:v>
          </c:tx>
          <c:spPr>
            <a:solidFill xmlns:a="http://schemas.openxmlformats.org/drawingml/2006/main">
              <a:srgbClr val="17334D"/>
            </a:solidFill>
          </c:spPr>
          <c:invertIfNegative val="0"/>
          <c:cat>
            <c:strRef>
              <c:f>'Chart Data'!$A$2:$A$5</c:f>
              <c:strCache>
                <c:ptCount val="4"/>
                <c:pt idx="0">
                  <c:v>PN-A</c:v>
                </c:pt>
                <c:pt idx="1">
                  <c:v>PN-B</c:v>
                </c:pt>
                <c:pt idx="2">
                  <c:v>PN-C</c:v>
                </c:pt>
                <c:pt idx="3">
                  <c:v>PN-D</c:v>
                </c:pt>
              </c:strCache>
            </c:strRef>
          </c:cat>
          <c:val>
            <c:numRef>
              <c:f>'Chart Data'!$B$2:$B$5</c:f>
              <c:numCache>
                <c:formatCode>General</c:formatCode>
                <c:ptCount val="4"/>
                <c:pt idx="0">
                  <c:v>8</c:v>
                </c:pt>
                <c:pt idx="1">
                  <c:v>6</c:v>
                </c:pt>
                <c:pt idx="2">
                  <c:v>4</c:v>
                </c:pt>
                <c:pt idx="3">
                  <c:v>2</c:v>
                </c:pt>
              </c:numCache>
            </c:numRef>
          </c:val>
        </c:ser>
        <c:ser>
          <c:idx val="1"/>
          <c:order val="1"/>
          <c:tx>
            <c:v>账面库存</c:v>
          </c:tx>
          <c:spPr>
            <a:solidFill xmlns:a="http://schemas.openxmlformats.org/drawingml/2006/main">
              <a:srgbClr val="BED5E6"/>
            </a:solidFill>
          </c:spPr>
          <c:invertIfNegative val="0"/>
          <c:cat>
            <c:strRef>
              <c:f>'Chart Data'!$C$2:$C$5</c:f>
              <c:strCache>
                <c:ptCount val="4"/>
                <c:pt idx="0">
                  <c:v>PN-A</c:v>
                </c:pt>
                <c:pt idx="1">
                  <c:v>PN-B</c:v>
                </c:pt>
                <c:pt idx="2">
                  <c:v>PN-C</c:v>
                </c:pt>
                <c:pt idx="3">
                  <c:v>PN-D</c:v>
                </c:pt>
              </c:strCache>
            </c:strRef>
          </c:cat>
          <c:val>
            <c:numRef>
              <c:f>'Chart Data'!$D$2:$D$5</c:f>
              <c:numCache>
                <c:formatCode>General</c:formatCode>
                <c:ptCount val="4"/>
                <c:pt idx="0">
                  <c:v>12</c:v>
                </c:pt>
                <c:pt idx="1">
                  <c:v>3</c:v>
                </c:pt>
                <c:pt idx="2">
                  <c:v>9</c:v>
                </c:pt>
                <c:pt idx="3">
                  <c:v>8</c:v>
                </c:pt>
              </c:numCache>
            </c:numRef>
          </c:val>
        </c:ser>
        <c:ser>
          <c:idx val="2"/>
          <c:order val="2"/>
          <c:tx>
            <c:v>按期可用</c:v>
          </c:tx>
          <c:spPr>
            <a:solidFill xmlns:a="http://schemas.openxmlformats.org/drawingml/2006/main">
              <a:srgbClr val="477FA8"/>
            </a:solidFill>
          </c:spPr>
          <c:invertIfNegative val="0"/>
          <c:cat>
            <c:strRef>
              <c:f>'Chart Data'!$E$2:$E$5</c:f>
              <c:strCache>
                <c:ptCount val="4"/>
                <c:pt idx="0">
                  <c:v>PN-A</c:v>
                </c:pt>
                <c:pt idx="1">
                  <c:v>PN-B</c:v>
                </c:pt>
                <c:pt idx="2">
                  <c:v>PN-C</c:v>
                </c:pt>
                <c:pt idx="3">
                  <c:v>PN-D</c:v>
                </c:pt>
              </c:strCache>
            </c:strRef>
          </c:cat>
          <c:val>
            <c:numRef>
              <c:f>'Chart Data'!$F$2:$F$5</c:f>
              <c:numCache>
                <c:formatCode>General</c:formatCode>
                <c:ptCount val="4"/>
                <c:pt idx="0">
                  <c:v>4</c:v>
                </c:pt>
                <c:pt idx="1">
                  <c:v>3</c:v>
                </c:pt>
                <c:pt idx="2">
                  <c:v>4</c:v>
                </c:pt>
                <c:pt idx="3">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latin typeface="PingFang SC"/>
                  <a:ea typeface="PingFang SC"/>
                  <a:cs typeface="PingFang SC"/>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PingFang SC"/>
                <a:ea typeface="PingFang SC"/>
                <a:cs typeface="PingFang SC"/>
              </a:defRPr>
            </a:pPr>
          </a:p>
        </c:txPr>
        <c:crossAx val="48672768"/>
      </c:catAx>
      <c:valAx>
        <c:axId val="48672768"/>
        <c:scaling>
          <c:orientation val="minMax"/>
          <c:min val="0"/>
        </c:scaling>
        <c:delete val="0"/>
        <c:axPos val="l"/>
        <c:majorGridlines>
          <c:spPr>
            <a:ln xmlns:a="http://schemas.openxmlformats.org/drawingml/2006/main" w="9525">
              <a:solidFill>
                <a:srgbClr val="E0EAF1"/>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PingFang SC"/>
                <a:ea typeface="PingFang SC"/>
                <a:cs typeface="PingFang SC"/>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PingFang SC"/>
              <a:ea typeface="PingFang SC"/>
              <a:cs typeface="PingFang SC"/>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采购缺口</c:v>
          </c:tx>
          <c:spPr>
            <a:solidFill xmlns:a="http://schemas.openxmlformats.org/drawingml/2006/main">
              <a:srgbClr val="477FA8"/>
            </a:solidFill>
          </c:spPr>
          <c:invertIfNegative val="0"/>
          <c:cat>
            <c:strRef>
              <c:f>'Chart Data'!$A$2:$A$4</c:f>
              <c:strCache>
                <c:ptCount val="3"/>
                <c:pt idx="0">
                  <c:v>PN-1001</c:v>
                </c:pt>
                <c:pt idx="1">
                  <c:v>PN-1002</c:v>
                </c:pt>
                <c:pt idx="2">
                  <c:v>PN-1003</c:v>
                </c:pt>
              </c:strCache>
            </c:strRef>
          </c:cat>
          <c:val>
            <c:numRef>
              <c:f>'Chart Data'!$B$2:$B$4</c:f>
              <c:numCache>
                <c:formatCode>General</c:formatCode>
                <c:ptCount val="3"/>
                <c:pt idx="0">
                  <c:v>11</c:v>
                </c:pt>
                <c:pt idx="1">
                  <c:v>7</c:v>
                </c:pt>
                <c:pt idx="2">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latin typeface="PingFang SC"/>
                  <a:ea typeface="PingFang SC"/>
                  <a:cs typeface="PingFang SC"/>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PingFang SC"/>
                <a:ea typeface="PingFang SC"/>
                <a:cs typeface="PingFang SC"/>
              </a:defRPr>
            </a:pPr>
          </a:p>
        </c:txPr>
        <c:crossAx val="48672768"/>
      </c:catAx>
      <c:valAx>
        <c:axId val="48672768"/>
        <c:scaling>
          <c:orientation val="minMax"/>
          <c:min val="0"/>
        </c:scaling>
        <c:delete val="0"/>
        <c:axPos val="l"/>
        <c:majorGridlines>
          <c:spPr>
            <a:ln xmlns:a="http://schemas.openxmlformats.org/drawingml/2006/main" w="9525">
              <a:solidFill>
                <a:srgbClr val="E0EAF1"/>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PingFang SC"/>
                <a:ea typeface="PingFang SC"/>
                <a:cs typeface="PingFang S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倍率1.0</c:v>
          </c:tx>
          <c:spPr>
            <a:solidFill xmlns:a="http://schemas.openxmlformats.org/drawingml/2006/main">
              <a:srgbClr val="17334D"/>
            </a:solidFill>
          </c:spPr>
          <c:invertIfNegative val="0"/>
          <c:cat>
            <c:strRef>
              <c:f>'Chart Data'!$A$2:$A$4</c:f>
              <c:strCache>
                <c:ptCount val="3"/>
                <c:pt idx="0">
                  <c:v>PN-1001</c:v>
                </c:pt>
                <c:pt idx="1">
                  <c:v>PN-1002</c:v>
                </c:pt>
                <c:pt idx="2">
                  <c:v>PN-1003</c:v>
                </c:pt>
              </c:strCache>
            </c:strRef>
          </c:cat>
          <c:val>
            <c:numRef>
              <c:f>'Chart Data'!$B$2:$B$4</c:f>
              <c:numCache>
                <c:formatCode>General</c:formatCode>
                <c:ptCount val="3"/>
                <c:pt idx="0">
                  <c:v>11</c:v>
                </c:pt>
                <c:pt idx="1">
                  <c:v>7</c:v>
                </c:pt>
                <c:pt idx="2">
                  <c:v>0</c:v>
                </c:pt>
              </c:numCache>
            </c:numRef>
          </c:val>
        </c:ser>
        <c:ser>
          <c:idx val="1"/>
          <c:order val="1"/>
          <c:tx>
            <c:v>倍率1.2</c:v>
          </c:tx>
          <c:spPr>
            <a:solidFill xmlns:a="http://schemas.openxmlformats.org/drawingml/2006/main">
              <a:srgbClr val="BED5E6"/>
            </a:solidFill>
          </c:spPr>
          <c:invertIfNegative val="0"/>
          <c:cat>
            <c:strRef>
              <c:f>'Chart Data'!$C$2:$C$4</c:f>
              <c:strCache>
                <c:ptCount val="3"/>
                <c:pt idx="0">
                  <c:v>PN-1001</c:v>
                </c:pt>
                <c:pt idx="1">
                  <c:v>PN-1002</c:v>
                </c:pt>
                <c:pt idx="2">
                  <c:v>PN-1003</c:v>
                </c:pt>
              </c:strCache>
            </c:strRef>
          </c:cat>
          <c:val>
            <c:numRef>
              <c:f>'Chart Data'!$D$2:$D$4</c:f>
              <c:numCache>
                <c:formatCode>General</c:formatCode>
                <c:ptCount val="3"/>
                <c:pt idx="0">
                  <c:v>18</c:v>
                </c:pt>
                <c:pt idx="1">
                  <c:v>11</c:v>
                </c:pt>
                <c:pt idx="2">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latin typeface="PingFang SC"/>
                  <a:ea typeface="PingFang SC"/>
                  <a:cs typeface="PingFang SC"/>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PingFang SC"/>
                <a:ea typeface="PingFang SC"/>
                <a:cs typeface="PingFang SC"/>
              </a:defRPr>
            </a:pPr>
          </a:p>
        </c:txPr>
        <c:crossAx val="48672768"/>
      </c:catAx>
      <c:valAx>
        <c:axId val="48672768"/>
        <c:scaling>
          <c:orientation val="minMax"/>
          <c:min val="0"/>
        </c:scaling>
        <c:delete val="0"/>
        <c:axPos val="l"/>
        <c:majorGridlines>
          <c:spPr>
            <a:ln xmlns:a="http://schemas.openxmlformats.org/drawingml/2006/main" w="9525">
              <a:solidFill>
                <a:srgbClr val="E0EAF1"/>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PingFang SC"/>
                <a:ea typeface="PingFang SC"/>
                <a:cs typeface="PingFang SC"/>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PingFang SC"/>
              <a:ea typeface="PingFang SC"/>
              <a:cs typeface="PingFang SC"/>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总成本</c:v>
          </c:tx>
          <c:spPr>
            <a:solidFill xmlns:a="http://schemas.openxmlformats.org/drawingml/2006/main">
              <a:srgbClr val="477FA8"/>
            </a:solidFill>
          </c:spPr>
          <c:invertIfNegative val="0"/>
          <c:cat>
            <c:strRef>
              <c:f>'Chart Data'!$A$2:$A$4</c:f>
              <c:strCache>
                <c:ptCount val="3"/>
                <c:pt idx="0">
                  <c:v>SUP-A</c:v>
                </c:pt>
                <c:pt idx="1">
                  <c:v>SUP-B</c:v>
                </c:pt>
                <c:pt idx="2">
                  <c:v>SUP-C</c:v>
                </c:pt>
              </c:strCache>
            </c:strRef>
          </c:cat>
          <c:val>
            <c:numRef>
              <c:f>'Chart Data'!$B$2:$B$4</c:f>
              <c:numCache>
                <c:formatCode>General</c:formatCode>
                <c:ptCount val="3"/>
                <c:pt idx="0">
                  <c:v>13460</c:v>
                </c:pt>
                <c:pt idx="1">
                  <c:v>16140</c:v>
                </c:pt>
                <c:pt idx="2">
                  <c:v>18200</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latin typeface="PingFang SC"/>
                  <a:ea typeface="PingFang SC"/>
                  <a:cs typeface="PingFang SC"/>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PingFang SC"/>
                <a:ea typeface="PingFang SC"/>
                <a:cs typeface="PingFang SC"/>
              </a:defRPr>
            </a:pPr>
          </a:p>
        </c:txPr>
        <c:crossAx val="48672768"/>
      </c:catAx>
      <c:valAx>
        <c:axId val="48672768"/>
        <c:scaling>
          <c:orientation val="minMax"/>
          <c:min val="0"/>
        </c:scaling>
        <c:delete val="0"/>
        <c:axPos val="l"/>
        <c:majorGridlines>
          <c:spPr>
            <a:ln xmlns:a="http://schemas.openxmlformats.org/drawingml/2006/main" w="9525">
              <a:solidFill>
                <a:srgbClr val="E0EAF1"/>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PingFang SC"/>
                <a:ea typeface="PingFang SC"/>
                <a:cs typeface="PingFang S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综合评分</c:v>
          </c:tx>
          <c:spPr>
            <a:solidFill xmlns:a="http://schemas.openxmlformats.org/drawingml/2006/main">
              <a:srgbClr val="477FA8"/>
            </a:solidFill>
          </c:spPr>
          <c:invertIfNegative val="0"/>
          <c:cat>
            <c:strRef>
              <c:f>'Chart Data'!$A$2:$A$4</c:f>
              <c:strCache>
                <c:ptCount val="3"/>
                <c:pt idx="0">
                  <c:v>SUP-A</c:v>
                </c:pt>
                <c:pt idx="1">
                  <c:v>SUP-B</c:v>
                </c:pt>
                <c:pt idx="2">
                  <c:v>SUP-C</c:v>
                </c:pt>
              </c:strCache>
            </c:strRef>
          </c:cat>
          <c:val>
            <c:numRef>
              <c:f>'Chart Data'!$B$2:$B$4</c:f>
              <c:numCache>
                <c:formatCode>General</c:formatCode>
                <c:ptCount val="3"/>
                <c:pt idx="0">
                  <c:v>80.1</c:v>
                </c:pt>
                <c:pt idx="1">
                  <c:v>91.1</c:v>
                </c:pt>
                <c:pt idx="2">
                  <c:v>91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latin typeface="PingFang SC"/>
                  <a:ea typeface="PingFang SC"/>
                  <a:cs typeface="PingFang SC"/>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PingFang SC"/>
                <a:ea typeface="PingFang SC"/>
                <a:cs typeface="PingFang SC"/>
              </a:defRPr>
            </a:pPr>
          </a:p>
        </c:txPr>
        <c:crossAx val="48672768"/>
      </c:catAx>
      <c:valAx>
        <c:axId val="48672768"/>
        <c:scaling>
          <c:orientation val="minMax"/>
          <c:min val="0"/>
        </c:scaling>
        <c:delete val="0"/>
        <c:axPos val="l"/>
        <c:majorGridlines>
          <c:spPr>
            <a:ln xmlns:a="http://schemas.openxmlformats.org/drawingml/2006/main" w="9525">
              <a:solidFill>
                <a:srgbClr val="E0EAF1"/>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PingFang SC"/>
                <a:ea typeface="PingFang SC"/>
                <a:cs typeface="PingFang S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相对原承诺变化</c:v>
          </c:tx>
          <c:spPr>
            <a:solidFill xmlns:a="http://schemas.openxmlformats.org/drawingml/2006/main">
              <a:srgbClr val="17334D"/>
            </a:solidFill>
          </c:spPr>
          <c:invertIfNegative val="0"/>
          <c:cat>
            <c:strRef>
              <c:f>'Chart Data'!$A$2:$A$4</c:f>
              <c:strCache>
                <c:ptCount val="3"/>
                <c:pt idx="0">
                  <c:v>PO-101</c:v>
                </c:pt>
                <c:pt idx="1">
                  <c:v>PO-102</c:v>
                </c:pt>
                <c:pt idx="2">
                  <c:v>PO-103</c:v>
                </c:pt>
              </c:strCache>
            </c:strRef>
          </c:cat>
          <c:val>
            <c:numRef>
              <c:f>'Chart Data'!$B$2:$B$4</c:f>
              <c:numCache>
                <c:formatCode>General</c:formatCode>
                <c:ptCount val="3"/>
                <c:pt idx="0">
                  <c:v>5</c:v>
                </c:pt>
                <c:pt idx="1">
                  <c:v>7</c:v>
                </c:pt>
                <c:pt idx="2">
                  <c:v>0</c:v>
                </c:pt>
              </c:numCache>
            </c:numRef>
          </c:val>
        </c:ser>
        <c:ser>
          <c:idx val="1"/>
          <c:order val="1"/>
          <c:tx>
            <c:v>维修缺口</c:v>
          </c:tx>
          <c:spPr>
            <a:solidFill xmlns:a="http://schemas.openxmlformats.org/drawingml/2006/main">
              <a:srgbClr val="BED5E6"/>
            </a:solidFill>
          </c:spPr>
          <c:invertIfNegative val="0"/>
          <c:cat>
            <c:strRef>
              <c:f>'Chart Data'!$C$2:$C$4</c:f>
              <c:strCache>
                <c:ptCount val="3"/>
                <c:pt idx="0">
                  <c:v>PO-101</c:v>
                </c:pt>
                <c:pt idx="1">
                  <c:v>PO-102</c:v>
                </c:pt>
                <c:pt idx="2">
                  <c:v>PO-103</c:v>
                </c:pt>
              </c:strCache>
            </c:strRef>
          </c:cat>
          <c:val>
            <c:numRef>
              <c:f>'Chart Data'!$D$2:$D$4</c:f>
              <c:numCache>
                <c:formatCode>General</c:formatCode>
                <c:ptCount val="3"/>
                <c:pt idx="0">
                  <c:v>2</c:v>
                </c:pt>
                <c:pt idx="1">
                  <c:v>5</c:v>
                </c:pt>
                <c:pt idx="2">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latin typeface="PingFang SC"/>
                  <a:ea typeface="PingFang SC"/>
                  <a:cs typeface="PingFang SC"/>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PingFang SC"/>
                <a:ea typeface="PingFang SC"/>
                <a:cs typeface="PingFang SC"/>
              </a:defRPr>
            </a:pPr>
          </a:p>
        </c:txPr>
        <c:crossAx val="48672768"/>
      </c:catAx>
      <c:valAx>
        <c:axId val="48672768"/>
        <c:scaling>
          <c:orientation val="minMax"/>
          <c:min val="0"/>
        </c:scaling>
        <c:delete val="0"/>
        <c:axPos val="l"/>
        <c:majorGridlines>
          <c:spPr>
            <a:ln xmlns:a="http://schemas.openxmlformats.org/drawingml/2006/main" w="9525">
              <a:solidFill>
                <a:srgbClr val="E0EAF1"/>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PingFang SC"/>
                <a:ea typeface="PingFang SC"/>
                <a:cs typeface="PingFang SC"/>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PingFang SC"/>
              <a:ea typeface="PingFang SC"/>
              <a:cs typeface="PingFang SC"/>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安全库存年持有成本</c:v>
          </c:tx>
          <c:spPr>
            <a:solidFill xmlns:a="http://schemas.openxmlformats.org/drawingml/2006/main">
              <a:srgbClr val="477FA8"/>
            </a:solidFill>
          </c:spPr>
          <c:invertIfNegative val="0"/>
          <c:cat>
            <c:strRef>
              <c:f>'Chart Data'!$A$2:$A$4</c:f>
              <c:strCache>
                <c:ptCount val="3"/>
                <c:pt idx="0">
                  <c:v>PN-2001</c:v>
                </c:pt>
                <c:pt idx="1">
                  <c:v>PN-2002</c:v>
                </c:pt>
                <c:pt idx="2">
                  <c:v>PN-2003</c:v>
                </c:pt>
              </c:strCache>
            </c:strRef>
          </c:cat>
          <c:val>
            <c:numRef>
              <c:f>'Chart Data'!$B$2:$B$4</c:f>
              <c:numCache>
                <c:formatCode>General</c:formatCode>
                <c:ptCount val="3"/>
                <c:pt idx="0">
                  <c:v>722.99</c:v>
                </c:pt>
                <c:pt idx="1">
                  <c:v>2213.71</c:v>
                </c:pt>
                <c:pt idx="2">
                  <c:v>460.11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latin typeface="PingFang SC"/>
                  <a:ea typeface="PingFang SC"/>
                  <a:cs typeface="PingFang SC"/>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PingFang SC"/>
                <a:ea typeface="PingFang SC"/>
                <a:cs typeface="PingFang SC"/>
              </a:defRPr>
            </a:pPr>
          </a:p>
        </c:txPr>
        <c:crossAx val="48672768"/>
      </c:catAx>
      <c:valAx>
        <c:axId val="48672768"/>
        <c:scaling>
          <c:orientation val="minMax"/>
          <c:min val="0"/>
        </c:scaling>
        <c:delete val="0"/>
        <c:axPos val="l"/>
        <c:majorGridlines>
          <c:spPr>
            <a:ln xmlns:a="http://schemas.openxmlformats.org/drawingml/2006/main" w="9525">
              <a:solidFill>
                <a:srgbClr val="E0EAF1"/>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PingFang SC"/>
                <a:ea typeface="PingFang SC"/>
                <a:cs typeface="PingFang S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安全库存年持有成本</c:v>
          </c:tx>
          <c:spPr>
            <a:solidFill xmlns:a="http://schemas.openxmlformats.org/drawingml/2006/main">
              <a:srgbClr val="477FA8"/>
            </a:solidFill>
          </c:spPr>
          <c:invertIfNegative val="0"/>
          <c:cat>
            <c:strRef>
              <c:f>'Chart Data'!$A$2:$A$3</c:f>
              <c:strCache>
                <c:ptCount val="2"/>
                <c:pt idx="0">
                  <c:v>z=1.65</c:v>
                </c:pt>
                <c:pt idx="1">
                  <c:v>z=2.33</c:v>
                </c:pt>
              </c:strCache>
            </c:strRef>
          </c:cat>
          <c:val>
            <c:numRef>
              <c:f>'Chart Data'!$B$2:$B$3</c:f>
              <c:numCache>
                <c:formatCode>General</c:formatCode>
                <c:ptCount val="2"/>
                <c:pt idx="0">
                  <c:v>3396.81</c:v>
                </c:pt>
                <c:pt idx="1">
                  <c:v>4796.71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latin typeface="PingFang SC"/>
                  <a:ea typeface="PingFang SC"/>
                  <a:cs typeface="PingFang SC"/>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PingFang SC"/>
                <a:ea typeface="PingFang SC"/>
                <a:cs typeface="PingFang SC"/>
              </a:defRPr>
            </a:pPr>
          </a:p>
        </c:txPr>
        <c:crossAx val="48672768"/>
      </c:catAx>
      <c:valAx>
        <c:axId val="48672768"/>
        <c:scaling>
          <c:orientation val="minMax"/>
          <c:min val="0"/>
        </c:scaling>
        <c:delete val="0"/>
        <c:axPos val="l"/>
        <c:majorGridlines>
          <c:spPr>
            <a:ln xmlns:a="http://schemas.openxmlformats.org/drawingml/2006/main" w="9525">
              <a:solidFill>
                <a:srgbClr val="E0EAF1"/>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PingFang SC"/>
                <a:ea typeface="PingFang SC"/>
                <a:cs typeface="PingFang S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总到达时间</c:v>
          </c:tx>
          <c:spPr>
            <a:solidFill xmlns:a="http://schemas.openxmlformats.org/drawingml/2006/main">
              <a:srgbClr val="477FA8"/>
            </a:solidFill>
          </c:spPr>
          <c:invertIfNegative val="0"/>
          <c:cat>
            <c:strRef>
              <c:f>'Chart Data'!$A$2:$A$5</c:f>
              <c:strCache>
                <c:ptCount val="4"/>
                <c:pt idx="0">
                  <c:v>购买</c:v>
                </c:pt>
                <c:pt idx="1">
                  <c:v>借件</c:v>
                </c:pt>
                <c:pt idx="2">
                  <c:v>交换</c:v>
                </c:pt>
                <c:pt idx="3">
                  <c:v>调拨</c:v>
                </c:pt>
              </c:strCache>
            </c:strRef>
          </c:cat>
          <c:val>
            <c:numRef>
              <c:f>'Chart Data'!$B$2:$B$5</c:f>
              <c:numCache>
                <c:formatCode>General</c:formatCode>
                <c:ptCount val="4"/>
                <c:pt idx="0">
                  <c:v>10</c:v>
                </c:pt>
                <c:pt idx="1">
                  <c:v>5</c:v>
                </c:pt>
                <c:pt idx="2">
                  <c:v>4</c:v>
                </c:pt>
                <c:pt idx="3">
                  <c:v>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latin typeface="PingFang SC"/>
                  <a:ea typeface="PingFang SC"/>
                  <a:cs typeface="PingFang SC"/>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PingFang SC"/>
                <a:ea typeface="PingFang SC"/>
                <a:cs typeface="PingFang SC"/>
              </a:defRPr>
            </a:pPr>
          </a:p>
        </c:txPr>
        <c:crossAx val="48672768"/>
      </c:catAx>
      <c:valAx>
        <c:axId val="48672768"/>
        <c:scaling>
          <c:orientation val="minMax"/>
          <c:min val="0"/>
        </c:scaling>
        <c:delete val="0"/>
        <c:axPos val="l"/>
        <c:majorGridlines>
          <c:spPr>
            <a:ln xmlns:a="http://schemas.openxmlformats.org/drawingml/2006/main" w="9525">
              <a:solidFill>
                <a:srgbClr val="E0EAF1"/>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PingFang SC"/>
                <a:ea typeface="PingFang SC"/>
                <a:cs typeface="PingFang S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每月工时</c:v>
          </c:tx>
          <c:spPr>
            <a:solidFill xmlns:a="http://schemas.openxmlformats.org/drawingml/2006/main">
              <a:srgbClr val="477FA8"/>
            </a:solidFill>
          </c:spPr>
          <c:invertIfNegative val="0"/>
          <c:cat>
            <c:strRef>
              <c:f>'Chart Data'!$A$2:$A$4</c:f>
              <c:strCache>
                <c:ptCount val="3"/>
                <c:pt idx="0">
                  <c:v>原流程</c:v>
                </c:pt>
                <c:pt idx="1">
                  <c:v>辅助后处理</c:v>
                </c:pt>
                <c:pt idx="2">
                  <c:v>新增复核</c:v>
                </c:pt>
              </c:strCache>
            </c:strRef>
          </c:cat>
          <c:val>
            <c:numRef>
              <c:f>'Chart Data'!$B$2:$B$4</c:f>
              <c:numCache>
                <c:formatCode>General</c:formatCode>
                <c:ptCount val="3"/>
                <c:pt idx="0">
                  <c:v>50</c:v>
                </c:pt>
                <c:pt idx="1">
                  <c:v>25</c:v>
                </c:pt>
                <c:pt idx="2">
                  <c:v>10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latin typeface="PingFang SC"/>
                  <a:ea typeface="PingFang SC"/>
                  <a:cs typeface="PingFang SC"/>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PingFang SC"/>
                <a:ea typeface="PingFang SC"/>
                <a:cs typeface="PingFang SC"/>
              </a:defRPr>
            </a:pPr>
          </a:p>
        </c:txPr>
        <c:crossAx val="48672768"/>
      </c:catAx>
      <c:valAx>
        <c:axId val="48672768"/>
        <c:scaling>
          <c:orientation val="minMax"/>
          <c:min val="0"/>
        </c:scaling>
        <c:delete val="0"/>
        <c:axPos val="l"/>
        <c:majorGridlines>
          <c:spPr>
            <a:ln xmlns:a="http://schemas.openxmlformats.org/drawingml/2006/main" w="9525">
              <a:solidFill>
                <a:srgbClr val="E0EAF1"/>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PingFang SC"/>
                <a:ea typeface="PingFang SC"/>
                <a:cs typeface="PingFang S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330EC6-A12C-4282-B601-E326D8B9ED85}"/>
              </a:ext>
            </a:extLst>
          </p:cNvPr>
          <p:cNvSpPr>
            <a:spLocks xmlns:a="http://schemas.openxmlformats.org/drawingml/2006/main" noGrp="1"/>
          </p:cNvSpPr>
          <p:nvPr/>
        </p:nvSpPr>
        <p:spPr>
          <a:xfrm xmlns:a="http://schemas.openxmlformats.org/drawingml/2006/main">
            <a:off x="609600" y="3619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buNone/>
              <a:defRPr sz="3150" b="1">
                <a:solidFill>
                  <a:srgbClr val="17334D"/>
                </a:solidFill>
                <a:latin typeface="PingFang SC"/>
                <a:ea typeface="PingFang SC"/>
                <a:cs typeface="PingFang SC"/>
              </a:defRPr>
            </a:lvl1pPr>
            <a:lvl2pPr algn="l">
              <a:buNone/>
              <a:defRPr sz="3150" b="1">
                <a:solidFill>
                  <a:srgbClr val="17334D"/>
                </a:solidFill>
                <a:latin typeface="PingFang SC"/>
                <a:ea typeface="PingFang SC"/>
                <a:cs typeface="PingFang SC"/>
              </a:defRPr>
            </a:lvl2pPr>
            <a:lvl3pPr algn="l">
              <a:buNone/>
              <a:defRPr sz="3150" b="1">
                <a:solidFill>
                  <a:srgbClr val="17334D"/>
                </a:solidFill>
                <a:latin typeface="PingFang SC"/>
                <a:ea typeface="PingFang SC"/>
                <a:cs typeface="PingFang SC"/>
              </a:defRPr>
            </a:lvl3pPr>
            <a:lvl4pPr algn="l">
              <a:buNone/>
              <a:defRPr sz="3150" b="1">
                <a:solidFill>
                  <a:srgbClr val="17334D"/>
                </a:solidFill>
                <a:latin typeface="PingFang SC"/>
                <a:ea typeface="PingFang SC"/>
                <a:cs typeface="PingFang SC"/>
              </a:defRPr>
            </a:lvl4pPr>
            <a:lvl5pPr algn="l">
              <a:buNone/>
              <a:defRPr sz="3150" b="1">
                <a:solidFill>
                  <a:srgbClr val="17334D"/>
                </a:solidFill>
                <a:latin typeface="PingFang SC"/>
                <a:ea typeface="PingFang SC"/>
                <a:cs typeface="PingFang SC"/>
              </a:defRPr>
            </a:lvl5pPr>
            <a:lvl6pPr algn="l">
              <a:buNone/>
              <a:defRPr sz="3150" b="1">
                <a:solidFill>
                  <a:srgbClr val="17334D"/>
                </a:solidFill>
                <a:latin typeface="PingFang SC"/>
                <a:ea typeface="PingFang SC"/>
                <a:cs typeface="PingFang SC"/>
              </a:defRPr>
            </a:lvl6pPr>
            <a:lvl7pPr algn="l">
              <a:buNone/>
              <a:defRPr sz="3150" b="1">
                <a:solidFill>
                  <a:srgbClr val="17334D"/>
                </a:solidFill>
                <a:latin typeface="PingFang SC"/>
                <a:ea typeface="PingFang SC"/>
                <a:cs typeface="PingFang SC"/>
              </a:defRPr>
            </a:lvl7pPr>
            <a:lvl8pPr algn="l">
              <a:buNone/>
              <a:defRPr sz="3150" b="1">
                <a:solidFill>
                  <a:srgbClr val="17334D"/>
                </a:solidFill>
                <a:latin typeface="PingFang SC"/>
                <a:ea typeface="PingFang SC"/>
                <a:cs typeface="PingFang SC"/>
              </a:defRPr>
            </a:lvl8pPr>
            <a:lvl9pPr algn="l">
              <a:buNone/>
              <a:defRPr sz="3150" b="1">
                <a:solidFill>
                  <a:srgbClr val="17334D"/>
                </a:solidFill>
                <a:latin typeface="PingFang SC"/>
                <a:ea typeface="PingFang SC"/>
                <a:cs typeface="PingFang SC"/>
              </a:defRPr>
            </a:lvl9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0B78C2ED-6DA6-4AA3-86DD-5428AB74A180}"/>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buNone/>
              <a:defRPr sz="1125" b="0">
                <a:solidFill>
                  <a:srgbClr val="667D91"/>
                </a:solidFill>
                <a:latin typeface="PingFang SC"/>
                <a:ea typeface="PingFang SC"/>
                <a:cs typeface="PingFang SC"/>
              </a:defRPr>
            </a:lvl1pPr>
            <a:lvl2pPr algn="l">
              <a:buNone/>
              <a:defRPr sz="1125" b="0">
                <a:solidFill>
                  <a:srgbClr val="667D91"/>
                </a:solidFill>
                <a:latin typeface="PingFang SC"/>
                <a:ea typeface="PingFang SC"/>
                <a:cs typeface="PingFang SC"/>
              </a:defRPr>
            </a:lvl2pPr>
            <a:lvl3pPr algn="l">
              <a:buNone/>
              <a:defRPr sz="1125" b="0">
                <a:solidFill>
                  <a:srgbClr val="667D91"/>
                </a:solidFill>
                <a:latin typeface="PingFang SC"/>
                <a:ea typeface="PingFang SC"/>
                <a:cs typeface="PingFang SC"/>
              </a:defRPr>
            </a:lvl3pPr>
            <a:lvl4pPr algn="l">
              <a:buNone/>
              <a:defRPr sz="1125" b="0">
                <a:solidFill>
                  <a:srgbClr val="667D91"/>
                </a:solidFill>
                <a:latin typeface="PingFang SC"/>
                <a:ea typeface="PingFang SC"/>
                <a:cs typeface="PingFang SC"/>
              </a:defRPr>
            </a:lvl4pPr>
            <a:lvl5pPr algn="l">
              <a:buNone/>
              <a:defRPr sz="1125" b="0">
                <a:solidFill>
                  <a:srgbClr val="667D91"/>
                </a:solidFill>
                <a:latin typeface="PingFang SC"/>
                <a:ea typeface="PingFang SC"/>
                <a:cs typeface="PingFang SC"/>
              </a:defRPr>
            </a:lvl5pPr>
            <a:lvl6pPr algn="l">
              <a:buNone/>
              <a:defRPr sz="1125" b="0">
                <a:solidFill>
                  <a:srgbClr val="667D91"/>
                </a:solidFill>
                <a:latin typeface="PingFang SC"/>
                <a:ea typeface="PingFang SC"/>
                <a:cs typeface="PingFang SC"/>
              </a:defRPr>
            </a:lvl6pPr>
            <a:lvl7pPr algn="l">
              <a:buNone/>
              <a:defRPr sz="1125" b="0">
                <a:solidFill>
                  <a:srgbClr val="667D91"/>
                </a:solidFill>
                <a:latin typeface="PingFang SC"/>
                <a:ea typeface="PingFang SC"/>
                <a:cs typeface="PingFang SC"/>
              </a:defRPr>
            </a:lvl7pPr>
            <a:lvl8pPr algn="l">
              <a:buNone/>
              <a:defRPr sz="1125" b="0">
                <a:solidFill>
                  <a:srgbClr val="667D91"/>
                </a:solidFill>
                <a:latin typeface="PingFang SC"/>
                <a:ea typeface="PingFang SC"/>
                <a:cs typeface="PingFang SC"/>
              </a:defRPr>
            </a:lvl8pPr>
            <a:lvl9pPr algn="l">
              <a:buNone/>
              <a:defRPr sz="1125" b="0">
                <a:solidFill>
                  <a:srgbClr val="667D91"/>
                </a:solidFill>
                <a:latin typeface="PingFang SC"/>
                <a:ea typeface="PingFang SC"/>
                <a:cs typeface="PingFang SC"/>
              </a:defRPr>
            </a:lvl9pPr>
          </a:lstStyle>
          <a:p xmlns:a="http://schemas.openxmlformats.org/drawingml/2006/main">
            <a:pPr algn="l">
              <a:buNone/>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航材采购 AI 智能化实战工作坊</a:t>
            </a:r>
          </a:p>
        </p:txBody>
      </p:sp>
      <p:sp>
        <p:nvSpPr>
          <p:cNvPr id="3" name="">
            <a:extLst xmlns:a="http://schemas.openxmlformats.org/drawingml/2006/main">
              <a:ext uri="{FF2B5EF4-FFF2-40B4-BE49-F238E27FC236}">
                <a16:creationId xmlns:a16="http://schemas.microsoft.com/office/drawing/2014/main" id="{0275E8C1-F23E-4E53-9F18-EBA03FB1B579}"/>
              </a:ext>
            </a:extLst>
          </p:cNvPr>
          <p:cNvSpPr>
            <a:spLocks xmlns:a="http://schemas.openxmlformats.org/drawingml/2006/main" noGrp="1"/>
          </p:cNvSpPr>
          <p:nvPr/>
        </p:nvSpPr>
        <p:spPr>
          <a:xfrm xmlns:a="http://schemas.openxmlformats.org/drawingml/2006/main">
            <a:off x="10953750" y="636270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350" b="0">
                <a:solidFill>
                  <a:srgbClr val="477FA8"/>
                </a:solidFill>
                <a:latin typeface="PingFang SC"/>
                <a:ea typeface="PingFang SC"/>
                <a:cs typeface="PingFang SC"/>
              </a:defRPr>
            </a:defPPr>
            <a:lvl1pPr algn="r">
              <a:buNone/>
              <a:defRPr sz="1350" b="0">
                <a:solidFill>
                  <a:srgbClr val="477FA8"/>
                </a:solidFill>
                <a:latin typeface="PingFang SC"/>
                <a:ea typeface="PingFang SC"/>
                <a:cs typeface="PingFang SC"/>
              </a:defRPr>
            </a:lvl1pPr>
            <a:lvl2pPr algn="r">
              <a:buNone/>
              <a:defRPr sz="1350" b="0">
                <a:solidFill>
                  <a:srgbClr val="477FA8"/>
                </a:solidFill>
                <a:latin typeface="PingFang SC"/>
                <a:ea typeface="PingFang SC"/>
                <a:cs typeface="PingFang SC"/>
              </a:defRPr>
            </a:lvl2pPr>
            <a:lvl3pPr algn="r">
              <a:buNone/>
              <a:defRPr sz="1350" b="0">
                <a:solidFill>
                  <a:srgbClr val="477FA8"/>
                </a:solidFill>
                <a:latin typeface="PingFang SC"/>
                <a:ea typeface="PingFang SC"/>
                <a:cs typeface="PingFang SC"/>
              </a:defRPr>
            </a:lvl3pPr>
            <a:lvl4pPr algn="r">
              <a:buNone/>
              <a:defRPr sz="1350" b="0">
                <a:solidFill>
                  <a:srgbClr val="477FA8"/>
                </a:solidFill>
                <a:latin typeface="PingFang SC"/>
                <a:ea typeface="PingFang SC"/>
                <a:cs typeface="PingFang SC"/>
              </a:defRPr>
            </a:lvl4pPr>
            <a:lvl5pPr algn="r">
              <a:buNone/>
              <a:defRPr sz="1350" b="0">
                <a:solidFill>
                  <a:srgbClr val="477FA8"/>
                </a:solidFill>
                <a:latin typeface="PingFang SC"/>
                <a:ea typeface="PingFang SC"/>
                <a:cs typeface="PingFang SC"/>
              </a:defRPr>
            </a:lvl5pPr>
            <a:lvl6pPr algn="r">
              <a:buNone/>
              <a:defRPr sz="1350" b="0">
                <a:solidFill>
                  <a:srgbClr val="477FA8"/>
                </a:solidFill>
                <a:latin typeface="PingFang SC"/>
                <a:ea typeface="PingFang SC"/>
                <a:cs typeface="PingFang SC"/>
              </a:defRPr>
            </a:lvl6pPr>
            <a:lvl7pPr algn="r">
              <a:buNone/>
              <a:defRPr sz="1350" b="0">
                <a:solidFill>
                  <a:srgbClr val="477FA8"/>
                </a:solidFill>
                <a:latin typeface="PingFang SC"/>
                <a:ea typeface="PingFang SC"/>
                <a:cs typeface="PingFang SC"/>
              </a:defRPr>
            </a:lvl7pPr>
            <a:lvl8pPr algn="r">
              <a:buNone/>
              <a:defRPr sz="1350" b="0">
                <a:solidFill>
                  <a:srgbClr val="477FA8"/>
                </a:solidFill>
                <a:latin typeface="PingFang SC"/>
                <a:ea typeface="PingFang SC"/>
                <a:cs typeface="PingFang SC"/>
              </a:defRPr>
            </a:lvl8pPr>
            <a:lvl9pPr algn="r">
              <a:buNone/>
              <a:defRPr sz="1350" b="0">
                <a:solidFill>
                  <a:srgbClr val="477FA8"/>
                </a:solidFill>
                <a:latin typeface="PingFang SC"/>
                <a:ea typeface="PingFang SC"/>
                <a:cs typeface="PingFang SC"/>
              </a:defRPr>
            </a:lvl9pPr>
          </a:lstStyle>
          <a:p xmlns:a="http://schemas.openxmlformats.org/drawingml/2006/main">
            <a:pPr algn="r">
              <a:buNone/>
              <a:defRPr sz="1350" b="0">
                <a:solidFill>
                  <a:srgbClr val="477FA8"/>
                </a:solidFill>
                <a:latin typeface="PingFang SC"/>
                <a:ea typeface="PingFang SC"/>
                <a:cs typeface="PingFang SC"/>
              </a:defRPr>
            </a:pPr>
            <a:r>
              <a:rPr sz="1350" b="0">
                <a:solidFill>
                  <a:srgbClr val="477FA8"/>
                </a:solidFill>
                <a:latin typeface="PingFang SC"/>
                <a:ea typeface="PingFang SC"/>
                <a:cs typeface="PingFang SC"/>
              </a:rPr>
              <a:t>01</a:t>
            </a:r>
          </a:p>
        </p:txBody>
      </p:sp>
      <p:pic>
        <p:nvPicPr>
          <p:cNvPr id="4" name="">
            <a:extLst xmlns:a="http://schemas.openxmlformats.org/drawingml/2006/main">
              <a:ext uri="{FF2B5EF4-FFF2-40B4-BE49-F238E27FC236}">
                <a16:creationId xmlns:a16="http://schemas.microsoft.com/office/drawing/2014/main" id="{2DA82754-7977-4898-93EB-A61DF7CD16E3}"/>
              </a:ext>
            </a:extLst>
          </p:cNvPr>
          <p:cNvPicPr>
            <a:picLocks xmlns:a="http://schemas.openxmlformats.org/drawingml/2006/main" noChangeAspect="1"/>
          </p:cNvPicPr>
          <p:nvPr/>
        </p:nvPicPr>
        <p:blipFill>
          <a:blip xmlns:r="http://schemas.openxmlformats.org/officeDocument/2006/relationships" xmlns:a="http://schemas.openxmlformats.org/drawingml/2006/main" r:embed="R5df16c1cd683405f"/>
          <a:stretch xmlns:a="http://schemas.openxmlformats.org/drawingml/2006/main"/>
        </p:blipFill>
        <p:spPr>
          <a:xfrm xmlns:a="http://schemas.openxmlformats.org/drawingml/2006/main">
            <a:off x="4476750" y="944563"/>
            <a:ext cx="7524750" cy="5016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8761A74-1614-48EB-907E-88FE4B5D486C}"/>
              </a:ext>
            </a:extLst>
          </p:cNvPr>
          <p:cNvSpPr>
            <a:spLocks xmlns:a="http://schemas.openxmlformats.org/drawingml/2006/main" noGrp="1"/>
          </p:cNvSpPr>
          <p:nvPr/>
        </p:nvSpPr>
        <p:spPr>
          <a:xfrm xmlns:a="http://schemas.openxmlformats.org/drawingml/2006/main">
            <a:off x="628650" y="11049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950" b="0">
                <a:solidFill>
                  <a:srgbClr val="477FA8"/>
                </a:solidFill>
                <a:latin typeface="PingFang SC"/>
                <a:ea typeface="PingFang SC"/>
                <a:cs typeface="PingFang SC"/>
              </a:defRPr>
            </a:defPPr>
            <a:lvl1pPr algn="l">
              <a:buNone/>
              <a:defRPr sz="1950" b="0">
                <a:solidFill>
                  <a:srgbClr val="477FA8"/>
                </a:solidFill>
                <a:latin typeface="PingFang SC"/>
                <a:ea typeface="PingFang SC"/>
                <a:cs typeface="PingFang SC"/>
              </a:defRPr>
            </a:lvl1pPr>
            <a:lvl2pPr algn="l">
              <a:buNone/>
              <a:defRPr sz="1950" b="0">
                <a:solidFill>
                  <a:srgbClr val="477FA8"/>
                </a:solidFill>
                <a:latin typeface="PingFang SC"/>
                <a:ea typeface="PingFang SC"/>
                <a:cs typeface="PingFang SC"/>
              </a:defRPr>
            </a:lvl2pPr>
            <a:lvl3pPr algn="l">
              <a:buNone/>
              <a:defRPr sz="1950" b="0">
                <a:solidFill>
                  <a:srgbClr val="477FA8"/>
                </a:solidFill>
                <a:latin typeface="PingFang SC"/>
                <a:ea typeface="PingFang SC"/>
                <a:cs typeface="PingFang SC"/>
              </a:defRPr>
            </a:lvl3pPr>
            <a:lvl4pPr algn="l">
              <a:buNone/>
              <a:defRPr sz="1950" b="0">
                <a:solidFill>
                  <a:srgbClr val="477FA8"/>
                </a:solidFill>
                <a:latin typeface="PingFang SC"/>
                <a:ea typeface="PingFang SC"/>
                <a:cs typeface="PingFang SC"/>
              </a:defRPr>
            </a:lvl4pPr>
            <a:lvl5pPr algn="l">
              <a:buNone/>
              <a:defRPr sz="1950" b="0">
                <a:solidFill>
                  <a:srgbClr val="477FA8"/>
                </a:solidFill>
                <a:latin typeface="PingFang SC"/>
                <a:ea typeface="PingFang SC"/>
                <a:cs typeface="PingFang SC"/>
              </a:defRPr>
            </a:lvl5pPr>
            <a:lvl6pPr algn="l">
              <a:buNone/>
              <a:defRPr sz="1950" b="0">
                <a:solidFill>
                  <a:srgbClr val="477FA8"/>
                </a:solidFill>
                <a:latin typeface="PingFang SC"/>
                <a:ea typeface="PingFang SC"/>
                <a:cs typeface="PingFang SC"/>
              </a:defRPr>
            </a:lvl6pPr>
            <a:lvl7pPr algn="l">
              <a:buNone/>
              <a:defRPr sz="1950" b="0">
                <a:solidFill>
                  <a:srgbClr val="477FA8"/>
                </a:solidFill>
                <a:latin typeface="PingFang SC"/>
                <a:ea typeface="PingFang SC"/>
                <a:cs typeface="PingFang SC"/>
              </a:defRPr>
            </a:lvl7pPr>
            <a:lvl8pPr algn="l">
              <a:buNone/>
              <a:defRPr sz="1950" b="0">
                <a:solidFill>
                  <a:srgbClr val="477FA8"/>
                </a:solidFill>
                <a:latin typeface="PingFang SC"/>
                <a:ea typeface="PingFang SC"/>
                <a:cs typeface="PingFang SC"/>
              </a:defRPr>
            </a:lvl8pPr>
            <a:lvl9pPr algn="l">
              <a:buNone/>
              <a:defRPr sz="1950" b="0">
                <a:solidFill>
                  <a:srgbClr val="477FA8"/>
                </a:solidFill>
                <a:latin typeface="PingFang SC"/>
                <a:ea typeface="PingFang SC"/>
                <a:cs typeface="PingFang SC"/>
              </a:defRPr>
            </a:lvl9pPr>
          </a:lstStyle>
          <a:p xmlns:a="http://schemas.openxmlformats.org/drawingml/2006/main">
            <a:pPr algn="l">
              <a:buNone/>
              <a:defRPr sz="1950" b="0">
                <a:solidFill>
                  <a:srgbClr val="477FA8"/>
                </a:solidFill>
                <a:latin typeface="PingFang SC"/>
                <a:ea typeface="PingFang SC"/>
                <a:cs typeface="PingFang SC"/>
              </a:defRPr>
            </a:pPr>
            <a:r>
              <a:rPr sz="1950" b="0">
                <a:solidFill>
                  <a:srgbClr val="477FA8"/>
                </a:solidFill>
                <a:latin typeface="PingFang SC"/>
                <a:ea typeface="PingFang SC"/>
                <a:cs typeface="PingFang SC"/>
              </a:rPr>
              <a:t>厦门太古</a:t>
            </a:r>
          </a:p>
        </p:txBody>
      </p:sp>
      <p:sp>
        <p:nvSpPr>
          <p:cNvPr id="6" name="">
            <a:extLst xmlns:a="http://schemas.openxmlformats.org/drawingml/2006/main">
              <a:ext uri="{FF2B5EF4-FFF2-40B4-BE49-F238E27FC236}">
                <a16:creationId xmlns:a16="http://schemas.microsoft.com/office/drawing/2014/main" id="{72D5337F-97F6-48EF-B8DD-56F4CC4B90D0}"/>
              </a:ext>
            </a:extLst>
          </p:cNvPr>
          <p:cNvSpPr>
            <a:spLocks xmlns:a="http://schemas.openxmlformats.org/drawingml/2006/main" noGrp="1"/>
          </p:cNvSpPr>
          <p:nvPr/>
        </p:nvSpPr>
        <p:spPr>
          <a:xfrm xmlns:a="http://schemas.openxmlformats.org/drawingml/2006/main">
            <a:off x="609600" y="1905000"/>
            <a:ext cx="6381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4800" b="1">
                <a:solidFill>
                  <a:srgbClr val="17334D"/>
                </a:solidFill>
                <a:latin typeface="PingFang SC"/>
                <a:ea typeface="PingFang SC"/>
                <a:cs typeface="PingFang SC"/>
              </a:defRPr>
            </a:defPPr>
            <a:lvl1pPr algn="l">
              <a:buNone/>
              <a:defRPr sz="4800" b="1">
                <a:solidFill>
                  <a:srgbClr val="17334D"/>
                </a:solidFill>
                <a:latin typeface="PingFang SC"/>
                <a:ea typeface="PingFang SC"/>
                <a:cs typeface="PingFang SC"/>
              </a:defRPr>
            </a:lvl1pPr>
            <a:lvl2pPr algn="l">
              <a:buNone/>
              <a:defRPr sz="4800" b="1">
                <a:solidFill>
                  <a:srgbClr val="17334D"/>
                </a:solidFill>
                <a:latin typeface="PingFang SC"/>
                <a:ea typeface="PingFang SC"/>
                <a:cs typeface="PingFang SC"/>
              </a:defRPr>
            </a:lvl2pPr>
            <a:lvl3pPr algn="l">
              <a:buNone/>
              <a:defRPr sz="4800" b="1">
                <a:solidFill>
                  <a:srgbClr val="17334D"/>
                </a:solidFill>
                <a:latin typeface="PingFang SC"/>
                <a:ea typeface="PingFang SC"/>
                <a:cs typeface="PingFang SC"/>
              </a:defRPr>
            </a:lvl3pPr>
            <a:lvl4pPr algn="l">
              <a:buNone/>
              <a:defRPr sz="4800" b="1">
                <a:solidFill>
                  <a:srgbClr val="17334D"/>
                </a:solidFill>
                <a:latin typeface="PingFang SC"/>
                <a:ea typeface="PingFang SC"/>
                <a:cs typeface="PingFang SC"/>
              </a:defRPr>
            </a:lvl4pPr>
            <a:lvl5pPr algn="l">
              <a:buNone/>
              <a:defRPr sz="4800" b="1">
                <a:solidFill>
                  <a:srgbClr val="17334D"/>
                </a:solidFill>
                <a:latin typeface="PingFang SC"/>
                <a:ea typeface="PingFang SC"/>
                <a:cs typeface="PingFang SC"/>
              </a:defRPr>
            </a:lvl5pPr>
            <a:lvl6pPr algn="l">
              <a:buNone/>
              <a:defRPr sz="4800" b="1">
                <a:solidFill>
                  <a:srgbClr val="17334D"/>
                </a:solidFill>
                <a:latin typeface="PingFang SC"/>
                <a:ea typeface="PingFang SC"/>
                <a:cs typeface="PingFang SC"/>
              </a:defRPr>
            </a:lvl6pPr>
            <a:lvl7pPr algn="l">
              <a:buNone/>
              <a:defRPr sz="4800" b="1">
                <a:solidFill>
                  <a:srgbClr val="17334D"/>
                </a:solidFill>
                <a:latin typeface="PingFang SC"/>
                <a:ea typeface="PingFang SC"/>
                <a:cs typeface="PingFang SC"/>
              </a:defRPr>
            </a:lvl7pPr>
            <a:lvl8pPr algn="l">
              <a:buNone/>
              <a:defRPr sz="4800" b="1">
                <a:solidFill>
                  <a:srgbClr val="17334D"/>
                </a:solidFill>
                <a:latin typeface="PingFang SC"/>
                <a:ea typeface="PingFang SC"/>
                <a:cs typeface="PingFang SC"/>
              </a:defRPr>
            </a:lvl8pPr>
            <a:lvl9pPr algn="l">
              <a:buNone/>
              <a:defRPr sz="4800" b="1">
                <a:solidFill>
                  <a:srgbClr val="17334D"/>
                </a:solidFill>
                <a:latin typeface="PingFang SC"/>
                <a:ea typeface="PingFang SC"/>
                <a:cs typeface="PingFang SC"/>
              </a:defRPr>
            </a:lvl9pPr>
          </a:lstStyle>
          <a:p xmlns:a="http://schemas.openxmlformats.org/drawingml/2006/main">
            <a:pPr algn="l">
              <a:buNone/>
              <a:defRPr sz="4800" b="1">
                <a:solidFill>
                  <a:srgbClr val="17334D"/>
                </a:solidFill>
                <a:latin typeface="PingFang SC"/>
                <a:ea typeface="PingFang SC"/>
                <a:cs typeface="PingFang SC"/>
              </a:defRPr>
            </a:pPr>
            <a:r>
              <a:rPr sz="4800" b="1">
                <a:solidFill>
                  <a:srgbClr val="17334D"/>
                </a:solidFill>
                <a:latin typeface="PingFang SC"/>
                <a:ea typeface="PingFang SC"/>
                <a:cs typeface="PingFang SC"/>
              </a:rPr>
              <a:t>航材采购</a:t>
            </a:r>
          </a:p>
          <a:p xmlns:a="http://schemas.openxmlformats.org/drawingml/2006/main">
            <a:pPr algn="l">
              <a:buNone/>
              <a:defRPr sz="4800" b="1">
                <a:solidFill>
                  <a:srgbClr val="17334D"/>
                </a:solidFill>
                <a:latin typeface="PingFang SC"/>
                <a:ea typeface="PingFang SC"/>
                <a:cs typeface="PingFang SC"/>
              </a:defRPr>
            </a:pPr>
            <a:r>
              <a:rPr sz="4800" b="1">
                <a:solidFill>
                  <a:srgbClr val="17334D"/>
                </a:solidFill>
                <a:latin typeface="PingFang SC"/>
                <a:ea typeface="PingFang SC"/>
                <a:cs typeface="PingFang SC"/>
              </a:rPr>
              <a:t>AI 智能化</a:t>
            </a:r>
          </a:p>
          <a:p xmlns:a="http://schemas.openxmlformats.org/drawingml/2006/main">
            <a:pPr algn="l">
              <a:buNone/>
              <a:defRPr sz="4800" b="1">
                <a:solidFill>
                  <a:srgbClr val="17334D"/>
                </a:solidFill>
                <a:latin typeface="PingFang SC"/>
                <a:ea typeface="PingFang SC"/>
                <a:cs typeface="PingFang SC"/>
              </a:defRPr>
            </a:pPr>
            <a:r>
              <a:rPr sz="4800" b="1">
                <a:solidFill>
                  <a:srgbClr val="17334D"/>
                </a:solidFill>
                <a:latin typeface="PingFang SC"/>
                <a:ea typeface="PingFang SC"/>
                <a:cs typeface="PingFang SC"/>
              </a:rPr>
              <a:t>实战工作坊</a:t>
            </a:r>
          </a:p>
        </p:txBody>
      </p:sp>
      <p:sp>
        <p:nvSpPr>
          <p:cNvPr id="7" name="">
            <a:extLst xmlns:a="http://schemas.openxmlformats.org/drawingml/2006/main">
              <a:ext uri="{FF2B5EF4-FFF2-40B4-BE49-F238E27FC236}">
                <a16:creationId xmlns:a16="http://schemas.microsoft.com/office/drawing/2014/main" id="{53F90643-E77E-41A1-944A-AA2925ECB061}"/>
              </a:ext>
            </a:extLst>
          </p:cNvPr>
          <p:cNvSpPr>
            <a:spLocks xmlns:a="http://schemas.openxmlformats.org/drawingml/2006/main" noGrp="1"/>
          </p:cNvSpPr>
          <p:nvPr/>
        </p:nvSpPr>
        <p:spPr>
          <a:xfrm xmlns:a="http://schemas.openxmlformats.org/drawingml/2006/main">
            <a:off x="647700" y="46672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667D91"/>
                </a:solidFill>
                <a:latin typeface="PingFang SC"/>
                <a:ea typeface="PingFang SC"/>
                <a:cs typeface="PingFang SC"/>
              </a:defRPr>
            </a:defPPr>
            <a:lvl1pPr algn="l">
              <a:buNone/>
              <a:defRPr sz="2250" b="0">
                <a:solidFill>
                  <a:srgbClr val="667D91"/>
                </a:solidFill>
                <a:latin typeface="PingFang SC"/>
                <a:ea typeface="PingFang SC"/>
                <a:cs typeface="PingFang SC"/>
              </a:defRPr>
            </a:lvl1pPr>
            <a:lvl2pPr algn="l">
              <a:buNone/>
              <a:defRPr sz="2250" b="0">
                <a:solidFill>
                  <a:srgbClr val="667D91"/>
                </a:solidFill>
                <a:latin typeface="PingFang SC"/>
                <a:ea typeface="PingFang SC"/>
                <a:cs typeface="PingFang SC"/>
              </a:defRPr>
            </a:lvl2pPr>
            <a:lvl3pPr algn="l">
              <a:buNone/>
              <a:defRPr sz="2250" b="0">
                <a:solidFill>
                  <a:srgbClr val="667D91"/>
                </a:solidFill>
                <a:latin typeface="PingFang SC"/>
                <a:ea typeface="PingFang SC"/>
                <a:cs typeface="PingFang SC"/>
              </a:defRPr>
            </a:lvl3pPr>
            <a:lvl4pPr algn="l">
              <a:buNone/>
              <a:defRPr sz="2250" b="0">
                <a:solidFill>
                  <a:srgbClr val="667D91"/>
                </a:solidFill>
                <a:latin typeface="PingFang SC"/>
                <a:ea typeface="PingFang SC"/>
                <a:cs typeface="PingFang SC"/>
              </a:defRPr>
            </a:lvl4pPr>
            <a:lvl5pPr algn="l">
              <a:buNone/>
              <a:defRPr sz="2250" b="0">
                <a:solidFill>
                  <a:srgbClr val="667D91"/>
                </a:solidFill>
                <a:latin typeface="PingFang SC"/>
                <a:ea typeface="PingFang SC"/>
                <a:cs typeface="PingFang SC"/>
              </a:defRPr>
            </a:lvl5pPr>
            <a:lvl6pPr algn="l">
              <a:buNone/>
              <a:defRPr sz="2250" b="0">
                <a:solidFill>
                  <a:srgbClr val="667D91"/>
                </a:solidFill>
                <a:latin typeface="PingFang SC"/>
                <a:ea typeface="PingFang SC"/>
                <a:cs typeface="PingFang SC"/>
              </a:defRPr>
            </a:lvl6pPr>
            <a:lvl7pPr algn="l">
              <a:buNone/>
              <a:defRPr sz="2250" b="0">
                <a:solidFill>
                  <a:srgbClr val="667D91"/>
                </a:solidFill>
                <a:latin typeface="PingFang SC"/>
                <a:ea typeface="PingFang SC"/>
                <a:cs typeface="PingFang SC"/>
              </a:defRPr>
            </a:lvl7pPr>
            <a:lvl8pPr algn="l">
              <a:buNone/>
              <a:defRPr sz="2250" b="0">
                <a:solidFill>
                  <a:srgbClr val="667D91"/>
                </a:solidFill>
                <a:latin typeface="PingFang SC"/>
                <a:ea typeface="PingFang SC"/>
                <a:cs typeface="PingFang SC"/>
              </a:defRPr>
            </a:lvl8pPr>
            <a:lvl9pPr algn="l">
              <a:buNone/>
              <a:defRPr sz="2250" b="0">
                <a:solidFill>
                  <a:srgbClr val="667D91"/>
                </a:solidFill>
                <a:latin typeface="PingFang SC"/>
                <a:ea typeface="PingFang SC"/>
                <a:cs typeface="PingFang SC"/>
              </a:defRPr>
            </a:lvl9pPr>
          </a:lstStyle>
          <a:p xmlns:a="http://schemas.openxmlformats.org/drawingml/2006/main">
            <a:pPr algn="l">
              <a:buNone/>
              <a:defRPr sz="2250" b="0">
                <a:solidFill>
                  <a:srgbClr val="667D91"/>
                </a:solidFill>
                <a:latin typeface="PingFang SC"/>
                <a:ea typeface="PingFang SC"/>
                <a:cs typeface="PingFang SC"/>
              </a:defRPr>
            </a:pPr>
            <a:r>
              <a:rPr sz="2250" b="0">
                <a:solidFill>
                  <a:srgbClr val="667D91"/>
                </a:solidFill>
                <a:latin typeface="PingFang SC"/>
                <a:ea typeface="PingFang SC"/>
                <a:cs typeface="PingFang SC"/>
              </a:rPr>
              <a:t>两天课程与采购系统实训</a:t>
            </a:r>
          </a:p>
        </p:txBody>
      </p:sp>
      <p:sp>
        <p:nvSpPr>
          <p:cNvPr id="8" name="">
            <a:extLst xmlns:a="http://schemas.openxmlformats.org/drawingml/2006/main">
              <a:ext uri="{FF2B5EF4-FFF2-40B4-BE49-F238E27FC236}">
                <a16:creationId xmlns:a16="http://schemas.microsoft.com/office/drawing/2014/main" id="{6954ED5F-19E5-4DF5-AF9B-4795A93482FF}"/>
              </a:ext>
            </a:extLst>
          </p:cNvPr>
          <p:cNvSpPr>
            <a:spLocks xmlns:a="http://schemas.openxmlformats.org/drawingml/2006/main" noGrp="1"/>
          </p:cNvSpPr>
          <p:nvPr/>
        </p:nvSpPr>
        <p:spPr>
          <a:xfrm xmlns:a="http://schemas.openxmlformats.org/drawingml/2006/main">
            <a:off x="647700" y="5238750"/>
            <a:ext cx="638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477FA8"/>
                </a:solidFill>
                <a:latin typeface="PingFang SC"/>
                <a:ea typeface="PingFang SC"/>
                <a:cs typeface="PingFang SC"/>
              </a:defRPr>
            </a:defPPr>
            <a:lvl1pPr algn="l">
              <a:buNone/>
              <a:defRPr sz="1650" b="0">
                <a:solidFill>
                  <a:srgbClr val="477FA8"/>
                </a:solidFill>
                <a:latin typeface="PingFang SC"/>
                <a:ea typeface="PingFang SC"/>
                <a:cs typeface="PingFang SC"/>
              </a:defRPr>
            </a:lvl1pPr>
            <a:lvl2pPr algn="l">
              <a:buNone/>
              <a:defRPr sz="1650" b="0">
                <a:solidFill>
                  <a:srgbClr val="477FA8"/>
                </a:solidFill>
                <a:latin typeface="PingFang SC"/>
                <a:ea typeface="PingFang SC"/>
                <a:cs typeface="PingFang SC"/>
              </a:defRPr>
            </a:lvl2pPr>
            <a:lvl3pPr algn="l">
              <a:buNone/>
              <a:defRPr sz="1650" b="0">
                <a:solidFill>
                  <a:srgbClr val="477FA8"/>
                </a:solidFill>
                <a:latin typeface="PingFang SC"/>
                <a:ea typeface="PingFang SC"/>
                <a:cs typeface="PingFang SC"/>
              </a:defRPr>
            </a:lvl3pPr>
            <a:lvl4pPr algn="l">
              <a:buNone/>
              <a:defRPr sz="1650" b="0">
                <a:solidFill>
                  <a:srgbClr val="477FA8"/>
                </a:solidFill>
                <a:latin typeface="PingFang SC"/>
                <a:ea typeface="PingFang SC"/>
                <a:cs typeface="PingFang SC"/>
              </a:defRPr>
            </a:lvl4pPr>
            <a:lvl5pPr algn="l">
              <a:buNone/>
              <a:defRPr sz="1650" b="0">
                <a:solidFill>
                  <a:srgbClr val="477FA8"/>
                </a:solidFill>
                <a:latin typeface="PingFang SC"/>
                <a:ea typeface="PingFang SC"/>
                <a:cs typeface="PingFang SC"/>
              </a:defRPr>
            </a:lvl5pPr>
            <a:lvl6pPr algn="l">
              <a:buNone/>
              <a:defRPr sz="1650" b="0">
                <a:solidFill>
                  <a:srgbClr val="477FA8"/>
                </a:solidFill>
                <a:latin typeface="PingFang SC"/>
                <a:ea typeface="PingFang SC"/>
                <a:cs typeface="PingFang SC"/>
              </a:defRPr>
            </a:lvl6pPr>
            <a:lvl7pPr algn="l">
              <a:buNone/>
              <a:defRPr sz="1650" b="0">
                <a:solidFill>
                  <a:srgbClr val="477FA8"/>
                </a:solidFill>
                <a:latin typeface="PingFang SC"/>
                <a:ea typeface="PingFang SC"/>
                <a:cs typeface="PingFang SC"/>
              </a:defRPr>
            </a:lvl7pPr>
            <a:lvl8pPr algn="l">
              <a:buNone/>
              <a:defRPr sz="1650" b="0">
                <a:solidFill>
                  <a:srgbClr val="477FA8"/>
                </a:solidFill>
                <a:latin typeface="PingFang SC"/>
                <a:ea typeface="PingFang SC"/>
                <a:cs typeface="PingFang SC"/>
              </a:defRPr>
            </a:lvl8pPr>
            <a:lvl9pPr algn="l">
              <a:buNone/>
              <a:defRPr sz="1650" b="0">
                <a:solidFill>
                  <a:srgbClr val="477FA8"/>
                </a:solidFill>
                <a:latin typeface="PingFang SC"/>
                <a:ea typeface="PingFang SC"/>
                <a:cs typeface="PingFang SC"/>
              </a:defRPr>
            </a:lvl9pPr>
          </a:lstStyle>
          <a:p xmlns:a="http://schemas.openxmlformats.org/drawingml/2006/main">
            <a:pPr algn="l">
              <a:buNone/>
              <a:defRPr sz="1650" b="0">
                <a:solidFill>
                  <a:srgbClr val="477FA8"/>
                </a:solidFill>
                <a:latin typeface="PingFang SC"/>
                <a:ea typeface="PingFang SC"/>
                <a:cs typeface="PingFang SC"/>
              </a:defRPr>
            </a:pPr>
            <a:r>
              <a:rPr sz="1650" b="0">
                <a:solidFill>
                  <a:srgbClr val="477FA8"/>
                </a:solidFill>
                <a:latin typeface="PingFang SC"/>
                <a:ea typeface="PingFang SC"/>
                <a:cs typeface="PingFang SC"/>
              </a:rPr>
              <a:t>需求预测  /  询价比选  /  供应保障</a:t>
            </a:r>
          </a:p>
        </p:txBody>
      </p:sp>
    </p:spTree>
    <p:extLst>
      <p:ext uri="{BB962C8B-B14F-4D97-AF65-F5344CB8AC3E}">
        <p14:creationId xmlns:p14="http://schemas.microsoft.com/office/powerpoint/2010/main" val="8400463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A108F6-46F8-4DA6-85A7-0F01C4460B5C}"/>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两天课程与时间安排</a:t>
            </a:r>
          </a:p>
        </p:txBody>
      </p:sp>
      <p:sp>
        <p:nvSpPr>
          <p:cNvPr id="2" name="">
            <a:extLst xmlns:a="http://schemas.openxmlformats.org/drawingml/2006/main">
              <a:ext uri="{FF2B5EF4-FFF2-40B4-BE49-F238E27FC236}">
                <a16:creationId xmlns:a16="http://schemas.microsoft.com/office/drawing/2014/main" id="{23D638AF-609D-4DE9-BAD1-9CD1538A8E1A}"/>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每天6小时，包含讨论和实训；第二天下午安排结业考试</a:t>
            </a:r>
          </a:p>
        </p:txBody>
      </p:sp>
      <p:sp>
        <p:nvSpPr>
          <p:cNvPr id="3" name="">
            <a:extLst xmlns:a="http://schemas.openxmlformats.org/drawingml/2006/main">
              <a:ext uri="{FF2B5EF4-FFF2-40B4-BE49-F238E27FC236}">
                <a16:creationId xmlns:a16="http://schemas.microsoft.com/office/drawing/2014/main" id="{8D3AD25D-6454-4D5B-88FF-80E720E13AB5}"/>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导入与问题诊断  2分钟</a:t>
            </a:r>
          </a:p>
        </p:txBody>
      </p:sp>
      <p:sp>
        <p:nvSpPr>
          <p:cNvPr id="4" name="">
            <a:extLst xmlns:a="http://schemas.openxmlformats.org/drawingml/2006/main">
              <a:ext uri="{FF2B5EF4-FFF2-40B4-BE49-F238E27FC236}">
                <a16:creationId xmlns:a16="http://schemas.microsoft.com/office/drawing/2014/main" id="{B4305327-A4EF-4EB9-9960-3EA5B3DDF23B}"/>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02 / 94</a:t>
            </a:r>
          </a:p>
        </p:txBody>
      </p:sp>
      <p:graphicFrame>
        <p:nvGraphicFramePr>
          <p:cNvPr id="5" name="">
            <a:extLst xmlns:a="http://schemas.openxmlformats.org/drawingml/2006/main">
              <a:ext uri="{FF2B5EF4-FFF2-40B4-BE49-F238E27FC236}">
                <a16:creationId xmlns:a16="http://schemas.microsoft.com/office/drawing/2014/main" id="{3DFC3FD5-3878-4B18-82D7-570D06348C77}"/>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3286125"/>
                <a:gridCol w="1571625"/>
                <a:gridCol w="4429125"/>
                <a:gridCol w="1685925"/>
              </a:tblGrid>
              <a:tr h="571500">
                <a:tc>
                  <a:txBody>
                    <a:bodyPr lIns="114300" tIns="114300" rIns="114300" bIns="114300"/>
                    <a:lstStyle/>
                    <a:p>
                      <a:r>
                        <a:rPr sz="1725" b="1">
                          <a:solidFill>
                            <a:srgbClr val="477FA8"/>
                          </a:solidFill>
                          <a:latin typeface="PingFang SC"/>
                          <a:ea typeface="PingFang SC"/>
                          <a:cs typeface="PingFang SC"/>
                        </a:rPr>
                        <a:t>第一天</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时间</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第二天</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时间</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571500">
                <a:tc>
                  <a:txBody>
                    <a:bodyPr lIns="114300" tIns="114300" rIns="114300" bIns="114300"/>
                    <a:lstStyle/>
                    <a:p>
                      <a:r>
                        <a:rPr sz="1800" b="1">
                          <a:solidFill>
                            <a:srgbClr val="477FA8"/>
                          </a:solidFill>
                          <a:latin typeface="PingFang SC"/>
                          <a:ea typeface="PingFang SC"/>
                          <a:cs typeface="PingFang SC"/>
                        </a:rPr>
                        <a:t>导入与问题诊断</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60分钟</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订单执行与交付</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70分钟</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00" b="1">
                          <a:solidFill>
                            <a:srgbClr val="477FA8"/>
                          </a:solidFill>
                          <a:latin typeface="PingFang SC"/>
                          <a:ea typeface="PingFang SC"/>
                          <a:cs typeface="PingFang SC"/>
                        </a:rPr>
                        <a:t>需求预测与采购计划</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100分钟</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库存管理与数学优化</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80分钟</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00" b="1">
                          <a:solidFill>
                            <a:srgbClr val="477FA8"/>
                          </a:solidFill>
                          <a:latin typeface="PingFang SC"/>
                          <a:ea typeface="PingFang SC"/>
                          <a:cs typeface="PingFang SC"/>
                        </a:rPr>
                        <a:t>寻源、询价与价格管理</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110分钟</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AOG紧急采购</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70分钟</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00" b="1">
                          <a:solidFill>
                            <a:srgbClr val="477FA8"/>
                          </a:solidFill>
                          <a:latin typeface="PingFang SC"/>
                          <a:ea typeface="PingFang SC"/>
                          <a:cs typeface="PingFang SC"/>
                        </a:rPr>
                        <a:t>供应商管理与风险控制</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90分钟</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工具综合评价与选型</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45分钟</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00" b="1">
                          <a:solidFill>
                            <a:srgbClr val="477FA8"/>
                          </a:solidFill>
                          <a:latin typeface="PingFang SC"/>
                          <a:ea typeface="PingFang SC"/>
                          <a:cs typeface="PingFang SC"/>
                        </a:rPr>
                        <a:t>第一天合计</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360分钟</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实施与投资回报</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55分钟</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00" b="1">
                          <a:solidFill>
                            <a:srgbClr val="477FA8"/>
                          </a:solidFill>
                          <a:latin typeface="PingFang SC"/>
                          <a:ea typeface="PingFang SC"/>
                          <a:cs typeface="PingFang SC"/>
                        </a:rPr>
                        <a:t>第1—47页</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6小时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结业考试／总结答疑</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30／10分钟</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B6F632A-052A-4D44-AC4E-7D170D762413}"/>
              </a:ext>
            </a:extLst>
          </p:cNvPr>
          <p:cNvSpPr>
            <a:spLocks xmlns:a="http://schemas.openxmlformats.org/drawingml/2006/main" noGrp="1"/>
          </p:cNvSpPr>
          <p:nvPr/>
        </p:nvSpPr>
        <p:spPr>
          <a:xfrm xmlns:a="http://schemas.openxmlformats.org/drawingml/2006/main">
            <a:off x="628650" y="58578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0">
                <a:solidFill>
                  <a:srgbClr val="667D91"/>
                </a:solidFill>
                <a:latin typeface="PingFang SC"/>
                <a:ea typeface="PingFang SC"/>
                <a:cs typeface="PingFang SC"/>
              </a:defRPr>
            </a:defPPr>
            <a:lvl1pPr algn="l">
              <a:defRPr sz="1500" b="0">
                <a:solidFill>
                  <a:srgbClr val="667D91"/>
                </a:solidFill>
                <a:latin typeface="PingFang SC"/>
                <a:ea typeface="PingFang SC"/>
                <a:cs typeface="PingFang SC"/>
              </a:defRPr>
            </a:lvl1pPr>
            <a:lvl2pPr algn="l">
              <a:defRPr sz="1500" b="0">
                <a:solidFill>
                  <a:srgbClr val="667D91"/>
                </a:solidFill>
                <a:latin typeface="PingFang SC"/>
                <a:ea typeface="PingFang SC"/>
                <a:cs typeface="PingFang SC"/>
              </a:defRPr>
            </a:lvl2pPr>
            <a:lvl3pPr algn="l">
              <a:defRPr sz="1500" b="0">
                <a:solidFill>
                  <a:srgbClr val="667D91"/>
                </a:solidFill>
                <a:latin typeface="PingFang SC"/>
                <a:ea typeface="PingFang SC"/>
                <a:cs typeface="PingFang SC"/>
              </a:defRPr>
            </a:lvl3pPr>
            <a:lvl4pPr algn="l">
              <a:defRPr sz="1500" b="0">
                <a:solidFill>
                  <a:srgbClr val="667D91"/>
                </a:solidFill>
                <a:latin typeface="PingFang SC"/>
                <a:ea typeface="PingFang SC"/>
                <a:cs typeface="PingFang SC"/>
              </a:defRPr>
            </a:lvl4pPr>
            <a:lvl5pPr algn="l">
              <a:defRPr sz="1500" b="0">
                <a:solidFill>
                  <a:srgbClr val="667D91"/>
                </a:solidFill>
                <a:latin typeface="PingFang SC"/>
                <a:ea typeface="PingFang SC"/>
                <a:cs typeface="PingFang SC"/>
              </a:defRPr>
            </a:lvl5pPr>
            <a:lvl6pPr algn="l">
              <a:defRPr sz="1500" b="0">
                <a:solidFill>
                  <a:srgbClr val="667D91"/>
                </a:solidFill>
                <a:latin typeface="PingFang SC"/>
                <a:ea typeface="PingFang SC"/>
                <a:cs typeface="PingFang SC"/>
              </a:defRPr>
            </a:lvl6pPr>
            <a:lvl7pPr algn="l">
              <a:defRPr sz="1500" b="0">
                <a:solidFill>
                  <a:srgbClr val="667D91"/>
                </a:solidFill>
                <a:latin typeface="PingFang SC"/>
                <a:ea typeface="PingFang SC"/>
                <a:cs typeface="PingFang SC"/>
              </a:defRPr>
            </a:lvl7pPr>
            <a:lvl8pPr algn="l">
              <a:defRPr sz="1500" b="0">
                <a:solidFill>
                  <a:srgbClr val="667D91"/>
                </a:solidFill>
                <a:latin typeface="PingFang SC"/>
                <a:ea typeface="PingFang SC"/>
                <a:cs typeface="PingFang SC"/>
              </a:defRPr>
            </a:lvl8pPr>
            <a:lvl9pPr algn="l">
              <a:defRPr sz="1500" b="0">
                <a:solidFill>
                  <a:srgbClr val="667D91"/>
                </a:solidFill>
                <a:latin typeface="PingFang SC"/>
                <a:ea typeface="PingFang SC"/>
                <a:cs typeface="PingFang SC"/>
              </a:defRPr>
            </a:lvl9pPr>
          </a:lstStyle>
          <a:p xmlns:a="http://schemas.openxmlformats.org/drawingml/2006/main">
            <a:pPr algn="l">
              <a:defRPr sz="1500" b="0">
                <a:solidFill>
                  <a:srgbClr val="667D91"/>
                </a:solidFill>
                <a:latin typeface="PingFang SC"/>
                <a:ea typeface="PingFang SC"/>
                <a:cs typeface="PingFang SC"/>
              </a:defRPr>
            </a:pPr>
            <a:r>
              <a:rPr sz="1500" b="0">
                <a:solidFill>
                  <a:srgbClr val="667D91"/>
                </a:solidFill>
                <a:latin typeface="PingFang SC"/>
                <a:ea typeface="PingFang SC"/>
                <a:cs typeface="PingFang SC"/>
              </a:rPr>
              <a:t>第二天第48—94页，共360分钟。示例日程09:00—12:00、13:30—16:30</a:t>
            </a:r>
          </a:p>
        </p:txBody>
      </p:sp>
    </p:spTree>
    <p:extLst>
      <p:ext uri="{BB962C8B-B14F-4D97-AF65-F5344CB8AC3E}">
        <p14:creationId xmlns:p14="http://schemas.microsoft.com/office/powerpoint/2010/main" val="19648678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EC7D682C-DF02-4437-AD04-096CD3F66AE1}"/>
              </a:ext>
            </a:extLst>
          </p:cNvPr>
          <p:cNvCxnSpPr>
            <a:stCxn xmlns:a="http://schemas.openxmlformats.org/drawingml/2006/main" id="10" idx="3"/>
            <a:endCxn xmlns:a="http://schemas.openxmlformats.org/drawingml/2006/main" id="13" idx="1"/>
          </p:cNvCxnSpPr>
          <p:nvPr/>
        </p:nvCxnSpPr>
        <p:spPr>
          <a:xfrm xmlns:a="http://schemas.openxmlformats.org/drawingml/2006/main">
            <a:off x="87439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11" name="">
            <a:extLst xmlns:a="http://schemas.openxmlformats.org/drawingml/2006/main">
              <a:ext uri="{FF2B5EF4-FFF2-40B4-BE49-F238E27FC236}">
                <a16:creationId xmlns:a16="http://schemas.microsoft.com/office/drawing/2014/main" id="{3CD02458-BD48-481C-99F8-D9081F0CF7E0}"/>
              </a:ext>
            </a:extLst>
          </p:cNvPr>
          <p:cNvCxnSpPr>
            <a:stCxn xmlns:a="http://schemas.openxmlformats.org/drawingml/2006/main" id="7" idx="3"/>
            <a:endCxn xmlns:a="http://schemas.openxmlformats.org/drawingml/2006/main" id="10" idx="1"/>
          </p:cNvCxnSpPr>
          <p:nvPr/>
        </p:nvCxnSpPr>
        <p:spPr>
          <a:xfrm xmlns:a="http://schemas.openxmlformats.org/drawingml/2006/main">
            <a:off x="59055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4610EA64-7C6B-4390-956A-21C7F9EF45AA}"/>
              </a:ext>
            </a:extLst>
          </p:cNvPr>
          <p:cNvCxnSpPr>
            <a:stCxn xmlns:a="http://schemas.openxmlformats.org/drawingml/2006/main" id="5" idx="3"/>
            <a:endCxn xmlns:a="http://schemas.openxmlformats.org/drawingml/2006/main" id="7" idx="1"/>
          </p:cNvCxnSpPr>
          <p:nvPr/>
        </p:nvCxnSpPr>
        <p:spPr>
          <a:xfrm xmlns:a="http://schemas.openxmlformats.org/drawingml/2006/main">
            <a:off x="30670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7" name="">
            <a:extLst xmlns:a="http://schemas.openxmlformats.org/drawingml/2006/main">
              <a:ext uri="{FF2B5EF4-FFF2-40B4-BE49-F238E27FC236}">
                <a16:creationId xmlns:a16="http://schemas.microsoft.com/office/drawing/2014/main" id="{9FC63CE0-7A91-4217-B758-C0FAC083337F}"/>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两天培训的业务产出</a:t>
            </a:r>
          </a:p>
        </p:txBody>
      </p:sp>
      <p:sp>
        <p:nvSpPr>
          <p:cNvPr id="2" name="">
            <a:extLst xmlns:a="http://schemas.openxmlformats.org/drawingml/2006/main">
              <a:ext uri="{FF2B5EF4-FFF2-40B4-BE49-F238E27FC236}">
                <a16:creationId xmlns:a16="http://schemas.microsoft.com/office/drawing/2014/main" id="{F18B4C6D-D844-48A7-9C78-94E177A09FE6}"/>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每个专题都留下可供复核的分析结果</a:t>
            </a:r>
          </a:p>
        </p:txBody>
      </p:sp>
      <p:sp>
        <p:nvSpPr>
          <p:cNvPr id="3" name="">
            <a:extLst xmlns:a="http://schemas.openxmlformats.org/drawingml/2006/main">
              <a:ext uri="{FF2B5EF4-FFF2-40B4-BE49-F238E27FC236}">
                <a16:creationId xmlns:a16="http://schemas.microsoft.com/office/drawing/2014/main" id="{8494B02D-CB1D-4A7E-98BC-A50ED12558EE}"/>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导入与问题诊断  3分钟</a:t>
            </a:r>
          </a:p>
        </p:txBody>
      </p:sp>
      <p:sp>
        <p:nvSpPr>
          <p:cNvPr id="4" name="">
            <a:extLst xmlns:a="http://schemas.openxmlformats.org/drawingml/2006/main">
              <a:ext uri="{FF2B5EF4-FFF2-40B4-BE49-F238E27FC236}">
                <a16:creationId xmlns:a16="http://schemas.microsoft.com/office/drawing/2014/main" id="{07B8CAD1-4CC5-4745-BBCA-2F3B7B94FA7A}"/>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03 / 94</a:t>
            </a:r>
          </a:p>
        </p:txBody>
      </p:sp>
      <p:sp>
        <p:nvSpPr>
          <p:cNvPr id="5" name="">
            <a:extLst xmlns:a="http://schemas.openxmlformats.org/drawingml/2006/main">
              <a:ext uri="{FF2B5EF4-FFF2-40B4-BE49-F238E27FC236}">
                <a16:creationId xmlns:a16="http://schemas.microsoft.com/office/drawing/2014/main" id="{704DDD7A-B4BA-492C-A6EF-BAD93E362B51}"/>
              </a:ext>
            </a:extLst>
          </p:cNvPr>
          <p:cNvSpPr>
            <a:spLocks xmlns:a="http://schemas.openxmlformats.org/drawingml/2006/main" noGrp="1"/>
          </p:cNvSpPr>
          <p:nvPr/>
        </p:nvSpPr>
        <p:spPr>
          <a:xfrm xmlns:a="http://schemas.openxmlformats.org/drawingml/2006/main">
            <a:off x="6096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问题与影响</a:t>
            </a:r>
          </a:p>
        </p:txBody>
      </p:sp>
      <p:sp>
        <p:nvSpPr>
          <p:cNvPr id="6" name="">
            <a:extLst xmlns:a="http://schemas.openxmlformats.org/drawingml/2006/main">
              <a:ext uri="{FF2B5EF4-FFF2-40B4-BE49-F238E27FC236}">
                <a16:creationId xmlns:a16="http://schemas.microsoft.com/office/drawing/2014/main" id="{E5E1513C-169D-40FB-B15A-F9C916306032}"/>
              </a:ext>
            </a:extLst>
          </p:cNvPr>
          <p:cNvSpPr>
            <a:spLocks xmlns:a="http://schemas.openxmlformats.org/drawingml/2006/main" noGrp="1"/>
          </p:cNvSpPr>
          <p:nvPr/>
        </p:nvSpPr>
        <p:spPr>
          <a:xfrm xmlns:a="http://schemas.openxmlformats.org/drawingml/2006/main">
            <a:off x="5715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件号、时点、交付影响</a:t>
            </a:r>
          </a:p>
        </p:txBody>
      </p:sp>
      <p:sp>
        <p:nvSpPr>
          <p:cNvPr id="7" name="">
            <a:extLst xmlns:a="http://schemas.openxmlformats.org/drawingml/2006/main">
              <a:ext uri="{FF2B5EF4-FFF2-40B4-BE49-F238E27FC236}">
                <a16:creationId xmlns:a16="http://schemas.microsoft.com/office/drawing/2014/main" id="{6BB07BD3-BC4C-43D7-8309-81A6D9CF8307}"/>
              </a:ext>
            </a:extLst>
          </p:cNvPr>
          <p:cNvSpPr>
            <a:spLocks xmlns:a="http://schemas.openxmlformats.org/drawingml/2006/main" noGrp="1"/>
          </p:cNvSpPr>
          <p:nvPr/>
        </p:nvSpPr>
        <p:spPr>
          <a:xfrm xmlns:a="http://schemas.openxmlformats.org/drawingml/2006/main">
            <a:off x="34480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证据与根因</a:t>
            </a:r>
          </a:p>
        </p:txBody>
      </p:sp>
      <p:sp>
        <p:nvSpPr>
          <p:cNvPr id="9" name="">
            <a:extLst xmlns:a="http://schemas.openxmlformats.org/drawingml/2006/main">
              <a:ext uri="{FF2B5EF4-FFF2-40B4-BE49-F238E27FC236}">
                <a16:creationId xmlns:a16="http://schemas.microsoft.com/office/drawing/2014/main" id="{1E20CE6F-F13A-4FB2-9581-053947532CC5}"/>
              </a:ext>
            </a:extLst>
          </p:cNvPr>
          <p:cNvSpPr>
            <a:spLocks xmlns:a="http://schemas.openxmlformats.org/drawingml/2006/main" noGrp="1"/>
          </p:cNvSpPr>
          <p:nvPr/>
        </p:nvSpPr>
        <p:spPr>
          <a:xfrm xmlns:a="http://schemas.openxmlformats.org/drawingml/2006/main">
            <a:off x="34099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哪些事实支持判断</a:t>
            </a:r>
          </a:p>
        </p:txBody>
      </p:sp>
      <p:sp>
        <p:nvSpPr>
          <p:cNvPr id="10" name="">
            <a:extLst xmlns:a="http://schemas.openxmlformats.org/drawingml/2006/main">
              <a:ext uri="{FF2B5EF4-FFF2-40B4-BE49-F238E27FC236}">
                <a16:creationId xmlns:a16="http://schemas.microsoft.com/office/drawing/2014/main" id="{CDB4E1F7-C2FD-4B52-AE2C-F07EA1073194}"/>
              </a:ext>
            </a:extLst>
          </p:cNvPr>
          <p:cNvSpPr>
            <a:spLocks xmlns:a="http://schemas.openxmlformats.org/drawingml/2006/main" noGrp="1"/>
          </p:cNvSpPr>
          <p:nvPr/>
        </p:nvSpPr>
        <p:spPr>
          <a:xfrm xmlns:a="http://schemas.openxmlformats.org/drawingml/2006/main">
            <a:off x="62865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方案与取舍</a:t>
            </a:r>
          </a:p>
        </p:txBody>
      </p:sp>
      <p:sp>
        <p:nvSpPr>
          <p:cNvPr id="12" name="">
            <a:extLst xmlns:a="http://schemas.openxmlformats.org/drawingml/2006/main">
              <a:ext uri="{FF2B5EF4-FFF2-40B4-BE49-F238E27FC236}">
                <a16:creationId xmlns:a16="http://schemas.microsoft.com/office/drawing/2014/main" id="{302A2E51-F017-4D13-9F44-3C309DEB8F74}"/>
              </a:ext>
            </a:extLst>
          </p:cNvPr>
          <p:cNvSpPr>
            <a:spLocks xmlns:a="http://schemas.openxmlformats.org/drawingml/2006/main" noGrp="1"/>
          </p:cNvSpPr>
          <p:nvPr/>
        </p:nvSpPr>
        <p:spPr>
          <a:xfrm xmlns:a="http://schemas.openxmlformats.org/drawingml/2006/main">
            <a:off x="62484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收益、代价、控制</a:t>
            </a:r>
          </a:p>
        </p:txBody>
      </p:sp>
      <p:sp>
        <p:nvSpPr>
          <p:cNvPr id="13" name="">
            <a:extLst xmlns:a="http://schemas.openxmlformats.org/drawingml/2006/main">
              <a:ext uri="{FF2B5EF4-FFF2-40B4-BE49-F238E27FC236}">
                <a16:creationId xmlns:a16="http://schemas.microsoft.com/office/drawing/2014/main" id="{0E0E7217-A787-4F23-BDFF-5CF0F6A065F2}"/>
              </a:ext>
            </a:extLst>
          </p:cNvPr>
          <p:cNvSpPr>
            <a:spLocks xmlns:a="http://schemas.openxmlformats.org/drawingml/2006/main" noGrp="1"/>
          </p:cNvSpPr>
          <p:nvPr/>
        </p:nvSpPr>
        <p:spPr>
          <a:xfrm xmlns:a="http://schemas.openxmlformats.org/drawingml/2006/main">
            <a:off x="91249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验证与落实</a:t>
            </a:r>
          </a:p>
        </p:txBody>
      </p:sp>
      <p:sp>
        <p:nvSpPr>
          <p:cNvPr id="15" name="">
            <a:extLst xmlns:a="http://schemas.openxmlformats.org/drawingml/2006/main">
              <a:ext uri="{FF2B5EF4-FFF2-40B4-BE49-F238E27FC236}">
                <a16:creationId xmlns:a16="http://schemas.microsoft.com/office/drawing/2014/main" id="{0F638729-0FDD-47B6-9FC8-EDFA6826F551}"/>
              </a:ext>
            </a:extLst>
          </p:cNvPr>
          <p:cNvSpPr>
            <a:spLocks xmlns:a="http://schemas.openxmlformats.org/drawingml/2006/main" noGrp="1"/>
          </p:cNvSpPr>
          <p:nvPr/>
        </p:nvSpPr>
        <p:spPr>
          <a:xfrm xmlns:a="http://schemas.openxmlformats.org/drawingml/2006/main">
            <a:off x="90868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责任人、指标、试点</a:t>
            </a:r>
          </a:p>
        </p:txBody>
      </p:sp>
      <p:sp>
        <p:nvSpPr>
          <p:cNvPr id="16" name="">
            <a:extLst xmlns:a="http://schemas.openxmlformats.org/drawingml/2006/main">
              <a:ext uri="{FF2B5EF4-FFF2-40B4-BE49-F238E27FC236}">
                <a16:creationId xmlns:a16="http://schemas.microsoft.com/office/drawing/2014/main" id="{34B39D6C-DD9D-4E96-8E03-08F02BBCA92C}"/>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讨论形成判断，系统帮助计算与保留证据</a:t>
            </a:r>
          </a:p>
        </p:txBody>
      </p:sp>
    </p:spTree>
    <p:extLst>
      <p:ext uri="{BB962C8B-B14F-4D97-AF65-F5344CB8AC3E}">
        <p14:creationId xmlns:p14="http://schemas.microsoft.com/office/powerpoint/2010/main" val="20702111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0E1E3B-ECA2-40B5-A789-9C957C7F86DE}"/>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航材采购的六类关键问题</a:t>
            </a:r>
          </a:p>
        </p:txBody>
      </p:sp>
      <p:sp>
        <p:nvSpPr>
          <p:cNvPr id="2" name="">
            <a:extLst xmlns:a="http://schemas.openxmlformats.org/drawingml/2006/main">
              <a:ext uri="{FF2B5EF4-FFF2-40B4-BE49-F238E27FC236}">
                <a16:creationId xmlns:a16="http://schemas.microsoft.com/office/drawing/2014/main" id="{7A963D5D-73D1-472B-B4C2-EE83F9E034A2}"/>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讨论：最近一次影响维修交付的情境，发生在哪个环节？</a:t>
            </a:r>
          </a:p>
        </p:txBody>
      </p:sp>
      <p:sp>
        <p:nvSpPr>
          <p:cNvPr id="3" name="">
            <a:extLst xmlns:a="http://schemas.openxmlformats.org/drawingml/2006/main">
              <a:ext uri="{FF2B5EF4-FFF2-40B4-BE49-F238E27FC236}">
                <a16:creationId xmlns:a16="http://schemas.microsoft.com/office/drawing/2014/main" id="{606DFB0B-A86E-4714-B0DC-FB27114EE8D3}"/>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导入与问题诊断  4分钟</a:t>
            </a:r>
          </a:p>
        </p:txBody>
      </p:sp>
      <p:sp>
        <p:nvSpPr>
          <p:cNvPr id="4" name="">
            <a:extLst xmlns:a="http://schemas.openxmlformats.org/drawingml/2006/main">
              <a:ext uri="{FF2B5EF4-FFF2-40B4-BE49-F238E27FC236}">
                <a16:creationId xmlns:a16="http://schemas.microsoft.com/office/drawing/2014/main" id="{0152C5B0-73BC-47C7-978E-1C1494DD3E5F}"/>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04 / 94</a:t>
            </a:r>
          </a:p>
        </p:txBody>
      </p:sp>
      <p:graphicFrame>
        <p:nvGraphicFramePr>
          <p:cNvPr id="5" name="">
            <a:extLst xmlns:a="http://schemas.openxmlformats.org/drawingml/2006/main">
              <a:ext uri="{FF2B5EF4-FFF2-40B4-BE49-F238E27FC236}">
                <a16:creationId xmlns:a16="http://schemas.microsoft.com/office/drawing/2014/main" id="{5747CF68-FC42-4DF7-B8E6-3509D71271E9}"/>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1952625"/>
                <a:gridCol w="5524500"/>
                <a:gridCol w="3495675"/>
              </a:tblGrid>
              <a:tr h="571500">
                <a:tc>
                  <a:txBody>
                    <a:bodyPr lIns="114300" tIns="114300" rIns="114300" bIns="114300"/>
                    <a:lstStyle/>
                    <a:p>
                      <a:r>
                        <a:rPr sz="1725" b="1">
                          <a:solidFill>
                            <a:srgbClr val="477FA8"/>
                          </a:solidFill>
                          <a:latin typeface="PingFang SC"/>
                          <a:ea typeface="PingFang SC"/>
                          <a:cs typeface="PingFang SC"/>
                        </a:rPr>
                        <a:t>业务环节</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典型问题</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先核对的证据</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571500">
                <a:tc>
                  <a:txBody>
                    <a:bodyPr lIns="114300" tIns="114300" rIns="114300" bIns="114300"/>
                    <a:lstStyle/>
                    <a:p>
                      <a:r>
                        <a:rPr sz="1875" b="1">
                          <a:solidFill>
                            <a:srgbClr val="477FA8"/>
                          </a:solidFill>
                          <a:latin typeface="PingFang SC"/>
                          <a:ea typeface="PingFang SC"/>
                          <a:cs typeface="PingFang SC"/>
                        </a:rPr>
                        <a:t>需求与计划</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计划变化后，采购何时启动？</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计划版本与需求日期</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75" b="1">
                          <a:solidFill>
                            <a:srgbClr val="477FA8"/>
                          </a:solidFill>
                          <a:latin typeface="PingFang SC"/>
                          <a:ea typeface="PingFang SC"/>
                          <a:cs typeface="PingFang SC"/>
                        </a:rPr>
                        <a:t>寻源与询价</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报价低，为何到手成本更高？</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币种、运输、交期</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75" b="1">
                          <a:solidFill>
                            <a:srgbClr val="477FA8"/>
                          </a:solidFill>
                          <a:latin typeface="PingFang SC"/>
                          <a:ea typeface="PingFang SC"/>
                          <a:cs typeface="PingFang SC"/>
                        </a:rPr>
                        <a:t>供应商风险</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资质合格，为何仍交付失约？</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履约记录与供应依赖</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75" b="1">
                          <a:solidFill>
                            <a:srgbClr val="477FA8"/>
                          </a:solidFill>
                          <a:latin typeface="PingFang SC"/>
                          <a:ea typeface="PingFang SC"/>
                          <a:cs typeface="PingFang SC"/>
                        </a:rPr>
                        <a:t>订单与交付</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一直催交，为何关键件仍晚？</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确认到货与维修需求</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75" b="1">
                          <a:solidFill>
                            <a:srgbClr val="477FA8"/>
                          </a:solidFill>
                          <a:latin typeface="PingFang SC"/>
                          <a:ea typeface="PingFang SC"/>
                          <a:cs typeface="PingFang SC"/>
                        </a:rPr>
                        <a:t>库存与补货</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库存很多，为何现场仍缺料？</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可用状态与件号缺口</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75" b="1">
                          <a:solidFill>
                            <a:srgbClr val="477FA8"/>
                          </a:solidFill>
                          <a:latin typeface="PingFang SC"/>
                          <a:ea typeface="PingFang SC"/>
                          <a:cs typeface="PingFang SC"/>
                        </a:rPr>
                        <a:t>AOG保障</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最快方案，是否真正可用？</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证书、适用性与到达时限</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20312570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6D4B6B-F1FB-4CBA-B718-FA4D06FDA5BC}"/>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账面有32件，为什么仍缺9件？</a:t>
            </a:r>
          </a:p>
        </p:txBody>
      </p:sp>
      <p:sp>
        <p:nvSpPr>
          <p:cNvPr id="2" name="">
            <a:extLst xmlns:a="http://schemas.openxmlformats.org/drawingml/2006/main">
              <a:ext uri="{FF2B5EF4-FFF2-40B4-BE49-F238E27FC236}">
                <a16:creationId xmlns:a16="http://schemas.microsoft.com/office/drawing/2014/main" id="{5B0E6092-EE06-4642-932C-F368D4CFA807}"/>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教学模拟：按件号、需求日与可用状态判断</a:t>
            </a:r>
          </a:p>
        </p:txBody>
      </p:sp>
      <p:sp>
        <p:nvSpPr>
          <p:cNvPr id="3" name="">
            <a:extLst xmlns:a="http://schemas.openxmlformats.org/drawingml/2006/main">
              <a:ext uri="{FF2B5EF4-FFF2-40B4-BE49-F238E27FC236}">
                <a16:creationId xmlns:a16="http://schemas.microsoft.com/office/drawing/2014/main" id="{EDE1F7E5-5E87-4D70-AAB2-0407C7EA6DE7}"/>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导入与问题诊断  4分钟</a:t>
            </a:r>
          </a:p>
        </p:txBody>
      </p:sp>
      <p:sp>
        <p:nvSpPr>
          <p:cNvPr id="4" name="">
            <a:extLst xmlns:a="http://schemas.openxmlformats.org/drawingml/2006/main">
              <a:ext uri="{FF2B5EF4-FFF2-40B4-BE49-F238E27FC236}">
                <a16:creationId xmlns:a16="http://schemas.microsoft.com/office/drawing/2014/main" id="{ACB851EA-8709-4233-AAAE-9C28586CC669}"/>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05 / 94</a:t>
            </a:r>
          </a:p>
        </p:txBody>
      </p:sp>
      <p:graphicFrame>
        <p:nvGraphicFramePr>
          <p:cNvPr id="5" name="Chart">
            <a:extLst xmlns:a="http://schemas.openxmlformats.org/drawingml/2006/main">
              <a:ext uri="{FF2B5EF4-FFF2-40B4-BE49-F238E27FC236}">
                <a16:creationId xmlns:a16="http://schemas.microsoft.com/office/drawing/2014/main" id="{9E0FAAC2-3565-4326-8428-0D0CAD08E792}"/>
              </a:ext>
            </a:extLst>
          </p:cNvPr>
          <p:cNvGraphicFramePr/>
          <p:nvPr/>
        </p:nvGraphicFramePr>
        <p:xfrm>
          <a:off xmlns:a="http://schemas.openxmlformats.org/drawingml/2006/main" x="609600" y="191452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9a04433628a24a88"/>
          </a:graphicData>
        </a:graphic>
      </p:graphicFrame>
      <p:sp>
        <p:nvSpPr>
          <p:cNvPr id="6" name="">
            <a:extLst xmlns:a="http://schemas.openxmlformats.org/drawingml/2006/main">
              <a:ext uri="{FF2B5EF4-FFF2-40B4-BE49-F238E27FC236}">
                <a16:creationId xmlns:a16="http://schemas.microsoft.com/office/drawing/2014/main" id="{A20F9616-41EA-4C51-8358-6FBAE5A70219}"/>
              </a:ext>
            </a:extLst>
          </p:cNvPr>
          <p:cNvSpPr>
            <a:spLocks xmlns:a="http://schemas.openxmlformats.org/drawingml/2006/main" noGrp="1"/>
          </p:cNvSpPr>
          <p:nvPr/>
        </p:nvSpPr>
        <p:spPr>
          <a:xfrm xmlns:a="http://schemas.openxmlformats.org/drawingml/2006/main">
            <a:off x="619125" y="15621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数量（件）</a:t>
            </a:r>
          </a:p>
        </p:txBody>
      </p:sp>
      <p:sp>
        <p:nvSpPr>
          <p:cNvPr id="7" name="">
            <a:extLst xmlns:a="http://schemas.openxmlformats.org/drawingml/2006/main">
              <a:ext uri="{FF2B5EF4-FFF2-40B4-BE49-F238E27FC236}">
                <a16:creationId xmlns:a16="http://schemas.microsoft.com/office/drawing/2014/main" id="{1638576E-CD5B-463D-A508-B204B2158936}"/>
              </a:ext>
            </a:extLst>
          </p:cNvPr>
          <p:cNvSpPr>
            <a:spLocks xmlns:a="http://schemas.openxmlformats.org/drawingml/2006/main" noGrp="1"/>
          </p:cNvSpPr>
          <p:nvPr/>
        </p:nvSpPr>
        <p:spPr>
          <a:xfrm xmlns:a="http://schemas.openxmlformats.org/drawingml/2006/main">
            <a:off x="628650" y="5391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不同件号的富余，不能直接抵消另一件号的缺口</a:t>
            </a:r>
          </a:p>
        </p:txBody>
      </p:sp>
    </p:spTree>
    <p:extLst>
      <p:ext uri="{BB962C8B-B14F-4D97-AF65-F5344CB8AC3E}">
        <p14:creationId xmlns:p14="http://schemas.microsoft.com/office/powerpoint/2010/main" val="20797291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AE50E881-EE01-42B1-876D-0B2952FC3477}"/>
              </a:ext>
            </a:extLst>
          </p:cNvPr>
          <p:cNvCxnSpPr>
            <a:stCxn xmlns:a="http://schemas.openxmlformats.org/drawingml/2006/main" id="7" idx="3"/>
            <a:endCxn xmlns:a="http://schemas.openxmlformats.org/drawingml/2006/main" id="10" idx="1"/>
          </p:cNvCxnSpPr>
          <p:nvPr/>
        </p:nvCxnSpPr>
        <p:spPr>
          <a:xfrm xmlns:a="http://schemas.openxmlformats.org/drawingml/2006/main">
            <a:off x="77978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6B0E71A1-4384-4B72-A5C0-72C5ED23EAC5}"/>
              </a:ext>
            </a:extLst>
          </p:cNvPr>
          <p:cNvCxnSpPr>
            <a:stCxn xmlns:a="http://schemas.openxmlformats.org/drawingml/2006/main" id="5" idx="3"/>
            <a:endCxn xmlns:a="http://schemas.openxmlformats.org/drawingml/2006/main" id="7" idx="1"/>
          </p:cNvCxnSpPr>
          <p:nvPr/>
        </p:nvCxnSpPr>
        <p:spPr>
          <a:xfrm xmlns:a="http://schemas.openxmlformats.org/drawingml/2006/main">
            <a:off x="40132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4" name="">
            <a:extLst xmlns:a="http://schemas.openxmlformats.org/drawingml/2006/main">
              <a:ext uri="{FF2B5EF4-FFF2-40B4-BE49-F238E27FC236}">
                <a16:creationId xmlns:a16="http://schemas.microsoft.com/office/drawing/2014/main" id="{6ADF1CF3-B44A-4B3F-85B7-206A2C4A38CC}"/>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信息流、物流与资金流的核对</a:t>
            </a:r>
          </a:p>
        </p:txBody>
      </p:sp>
      <p:sp>
        <p:nvSpPr>
          <p:cNvPr id="2" name="">
            <a:extLst xmlns:a="http://schemas.openxmlformats.org/drawingml/2006/main">
              <a:ext uri="{FF2B5EF4-FFF2-40B4-BE49-F238E27FC236}">
                <a16:creationId xmlns:a16="http://schemas.microsoft.com/office/drawing/2014/main" id="{4E185649-0B86-432B-9511-05CC0E2469FB}"/>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同一个采购事项，三条流是否对应同一业务对象？</a:t>
            </a:r>
          </a:p>
        </p:txBody>
      </p:sp>
      <p:sp>
        <p:nvSpPr>
          <p:cNvPr id="3" name="">
            <a:extLst xmlns:a="http://schemas.openxmlformats.org/drawingml/2006/main">
              <a:ext uri="{FF2B5EF4-FFF2-40B4-BE49-F238E27FC236}">
                <a16:creationId xmlns:a16="http://schemas.microsoft.com/office/drawing/2014/main" id="{9AE4C54D-F4AA-4A41-A50D-07BE8ED9A2E8}"/>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导入与问题诊断  4分钟</a:t>
            </a:r>
          </a:p>
        </p:txBody>
      </p:sp>
      <p:sp>
        <p:nvSpPr>
          <p:cNvPr id="4" name="">
            <a:extLst xmlns:a="http://schemas.openxmlformats.org/drawingml/2006/main">
              <a:ext uri="{FF2B5EF4-FFF2-40B4-BE49-F238E27FC236}">
                <a16:creationId xmlns:a16="http://schemas.microsoft.com/office/drawing/2014/main" id="{4D4E97F7-376C-444A-A369-71379AA167C3}"/>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06 / 94</a:t>
            </a:r>
          </a:p>
        </p:txBody>
      </p:sp>
      <p:sp>
        <p:nvSpPr>
          <p:cNvPr id="5" name="">
            <a:extLst xmlns:a="http://schemas.openxmlformats.org/drawingml/2006/main">
              <a:ext uri="{FF2B5EF4-FFF2-40B4-BE49-F238E27FC236}">
                <a16:creationId xmlns:a16="http://schemas.microsoft.com/office/drawing/2014/main" id="{2BA80F64-07EE-45C2-AE0C-9AC4591B425E}"/>
              </a:ext>
            </a:extLst>
          </p:cNvPr>
          <p:cNvSpPr>
            <a:spLocks xmlns:a="http://schemas.openxmlformats.org/drawingml/2006/main" noGrp="1"/>
          </p:cNvSpPr>
          <p:nvPr/>
        </p:nvSpPr>
        <p:spPr>
          <a:xfrm xmlns:a="http://schemas.openxmlformats.org/drawingml/2006/main">
            <a:off x="609600" y="2057400"/>
            <a:ext cx="340360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需求与订单</a:t>
            </a:r>
          </a:p>
        </p:txBody>
      </p:sp>
      <p:sp>
        <p:nvSpPr>
          <p:cNvPr id="6" name="">
            <a:extLst xmlns:a="http://schemas.openxmlformats.org/drawingml/2006/main">
              <a:ext uri="{FF2B5EF4-FFF2-40B4-BE49-F238E27FC236}">
                <a16:creationId xmlns:a16="http://schemas.microsoft.com/office/drawing/2014/main" id="{3275B13E-1DC7-4A1F-935E-5266548CA795}"/>
              </a:ext>
            </a:extLst>
          </p:cNvPr>
          <p:cNvSpPr>
            <a:spLocks xmlns:a="http://schemas.openxmlformats.org/drawingml/2006/main" noGrp="1"/>
          </p:cNvSpPr>
          <p:nvPr/>
        </p:nvSpPr>
        <p:spPr>
          <a:xfrm xmlns:a="http://schemas.openxmlformats.org/drawingml/2006/main">
            <a:off x="571500" y="3486150"/>
            <a:ext cx="3479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件号、数量、需求日</a:t>
            </a:r>
          </a:p>
        </p:txBody>
      </p:sp>
      <p:sp>
        <p:nvSpPr>
          <p:cNvPr id="7" name="">
            <a:extLst xmlns:a="http://schemas.openxmlformats.org/drawingml/2006/main">
              <a:ext uri="{FF2B5EF4-FFF2-40B4-BE49-F238E27FC236}">
                <a16:creationId xmlns:a16="http://schemas.microsoft.com/office/drawing/2014/main" id="{EA9E9823-57A6-4436-8118-79882E3ABF71}"/>
              </a:ext>
            </a:extLst>
          </p:cNvPr>
          <p:cNvSpPr>
            <a:spLocks xmlns:a="http://schemas.openxmlformats.org/drawingml/2006/main" noGrp="1"/>
          </p:cNvSpPr>
          <p:nvPr/>
        </p:nvSpPr>
        <p:spPr>
          <a:xfrm xmlns:a="http://schemas.openxmlformats.org/drawingml/2006/main">
            <a:off x="4394200" y="2057400"/>
            <a:ext cx="340360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实物与到货</a:t>
            </a:r>
          </a:p>
        </p:txBody>
      </p:sp>
      <p:sp>
        <p:nvSpPr>
          <p:cNvPr id="9" name="">
            <a:extLst xmlns:a="http://schemas.openxmlformats.org/drawingml/2006/main">
              <a:ext uri="{FF2B5EF4-FFF2-40B4-BE49-F238E27FC236}">
                <a16:creationId xmlns:a16="http://schemas.microsoft.com/office/drawing/2014/main" id="{6485EC1C-12F1-490B-99AF-5B8EAD9BE580}"/>
              </a:ext>
            </a:extLst>
          </p:cNvPr>
          <p:cNvSpPr>
            <a:spLocks xmlns:a="http://schemas.openxmlformats.org/drawingml/2006/main" noGrp="1"/>
          </p:cNvSpPr>
          <p:nvPr/>
        </p:nvSpPr>
        <p:spPr>
          <a:xfrm xmlns:a="http://schemas.openxmlformats.org/drawingml/2006/main">
            <a:off x="4356100" y="3486150"/>
            <a:ext cx="3479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件况、库位、收货日</a:t>
            </a:r>
          </a:p>
        </p:txBody>
      </p:sp>
      <p:sp>
        <p:nvSpPr>
          <p:cNvPr id="10" name="">
            <a:extLst xmlns:a="http://schemas.openxmlformats.org/drawingml/2006/main">
              <a:ext uri="{FF2B5EF4-FFF2-40B4-BE49-F238E27FC236}">
                <a16:creationId xmlns:a16="http://schemas.microsoft.com/office/drawing/2014/main" id="{721FD494-4374-4DA9-8744-C8D0503F3325}"/>
              </a:ext>
            </a:extLst>
          </p:cNvPr>
          <p:cNvSpPr>
            <a:spLocks xmlns:a="http://schemas.openxmlformats.org/drawingml/2006/main" noGrp="1"/>
          </p:cNvSpPr>
          <p:nvPr/>
        </p:nvSpPr>
        <p:spPr>
          <a:xfrm xmlns:a="http://schemas.openxmlformats.org/drawingml/2006/main">
            <a:off x="8178800" y="2057400"/>
            <a:ext cx="340360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价格与结算</a:t>
            </a:r>
          </a:p>
        </p:txBody>
      </p:sp>
      <p:sp>
        <p:nvSpPr>
          <p:cNvPr id="12" name="">
            <a:extLst xmlns:a="http://schemas.openxmlformats.org/drawingml/2006/main">
              <a:ext uri="{FF2B5EF4-FFF2-40B4-BE49-F238E27FC236}">
                <a16:creationId xmlns:a16="http://schemas.microsoft.com/office/drawing/2014/main" id="{1C67BF49-F57D-447F-96C6-073247493FBE}"/>
              </a:ext>
            </a:extLst>
          </p:cNvPr>
          <p:cNvSpPr>
            <a:spLocks xmlns:a="http://schemas.openxmlformats.org/drawingml/2006/main" noGrp="1"/>
          </p:cNvSpPr>
          <p:nvPr/>
        </p:nvSpPr>
        <p:spPr>
          <a:xfrm xmlns:a="http://schemas.openxmlformats.org/drawingml/2006/main">
            <a:off x="8140700" y="3486150"/>
            <a:ext cx="3479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币种、费用、付款条件</a:t>
            </a:r>
          </a:p>
        </p:txBody>
      </p:sp>
      <p:sp>
        <p:nvSpPr>
          <p:cNvPr id="13" name="">
            <a:extLst xmlns:a="http://schemas.openxmlformats.org/drawingml/2006/main">
              <a:ext uri="{FF2B5EF4-FFF2-40B4-BE49-F238E27FC236}">
                <a16:creationId xmlns:a16="http://schemas.microsoft.com/office/drawing/2014/main" id="{FBAA721F-5B4C-430F-AEE3-1D06E40513CC}"/>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关联键一致，业务状态仍须分别核对</a:t>
            </a:r>
          </a:p>
        </p:txBody>
      </p:sp>
    </p:spTree>
    <p:extLst>
      <p:ext uri="{BB962C8B-B14F-4D97-AF65-F5344CB8AC3E}">
        <p14:creationId xmlns:p14="http://schemas.microsoft.com/office/powerpoint/2010/main" val="15887960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1047FA1D-5D80-4567-84CB-880292BCF2D3}"/>
              </a:ext>
            </a:extLst>
          </p:cNvPr>
          <p:cNvCxnSpPr>
            <a:stCxn xmlns:a="http://schemas.openxmlformats.org/drawingml/2006/main" id="10" idx="3"/>
            <a:endCxn xmlns:a="http://schemas.openxmlformats.org/drawingml/2006/main" id="13" idx="1"/>
          </p:cNvCxnSpPr>
          <p:nvPr/>
        </p:nvCxnSpPr>
        <p:spPr>
          <a:xfrm xmlns:a="http://schemas.openxmlformats.org/drawingml/2006/main">
            <a:off x="87439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11" name="">
            <a:extLst xmlns:a="http://schemas.openxmlformats.org/drawingml/2006/main">
              <a:ext uri="{FF2B5EF4-FFF2-40B4-BE49-F238E27FC236}">
                <a16:creationId xmlns:a16="http://schemas.microsoft.com/office/drawing/2014/main" id="{E0A3EC9D-FB38-4A4E-9E65-B91EDA65FE0D}"/>
              </a:ext>
            </a:extLst>
          </p:cNvPr>
          <p:cNvCxnSpPr>
            <a:stCxn xmlns:a="http://schemas.openxmlformats.org/drawingml/2006/main" id="7" idx="3"/>
            <a:endCxn xmlns:a="http://schemas.openxmlformats.org/drawingml/2006/main" id="10" idx="1"/>
          </p:cNvCxnSpPr>
          <p:nvPr/>
        </p:nvCxnSpPr>
        <p:spPr>
          <a:xfrm xmlns:a="http://schemas.openxmlformats.org/drawingml/2006/main">
            <a:off x="59055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5F51B418-3406-4CC3-8132-575F3EDEB69E}"/>
              </a:ext>
            </a:extLst>
          </p:cNvPr>
          <p:cNvCxnSpPr>
            <a:stCxn xmlns:a="http://schemas.openxmlformats.org/drawingml/2006/main" id="5" idx="3"/>
            <a:endCxn xmlns:a="http://schemas.openxmlformats.org/drawingml/2006/main" id="7" idx="1"/>
          </p:cNvCxnSpPr>
          <p:nvPr/>
        </p:nvCxnSpPr>
        <p:spPr>
          <a:xfrm xmlns:a="http://schemas.openxmlformats.org/drawingml/2006/main">
            <a:off x="30670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7" name="">
            <a:extLst xmlns:a="http://schemas.openxmlformats.org/drawingml/2006/main">
              <a:ext uri="{FF2B5EF4-FFF2-40B4-BE49-F238E27FC236}">
                <a16:creationId xmlns:a16="http://schemas.microsoft.com/office/drawing/2014/main" id="{635532D5-E1F4-4429-9F07-68DECE989C64}"/>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缺料根因：计划变更传到采购了吗？</a:t>
            </a:r>
          </a:p>
        </p:txBody>
      </p:sp>
      <p:sp>
        <p:nvSpPr>
          <p:cNvPr id="2" name="">
            <a:extLst xmlns:a="http://schemas.openxmlformats.org/drawingml/2006/main">
              <a:ext uri="{FF2B5EF4-FFF2-40B4-BE49-F238E27FC236}">
                <a16:creationId xmlns:a16="http://schemas.microsoft.com/office/drawing/2014/main" id="{3F406B93-88B6-48AD-B4BB-36583C6FD33F}"/>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用5Why追问待验证假设：需求提前，采购仍使用旧日期</a:t>
            </a:r>
          </a:p>
        </p:txBody>
      </p:sp>
      <p:sp>
        <p:nvSpPr>
          <p:cNvPr id="3" name="">
            <a:extLst xmlns:a="http://schemas.openxmlformats.org/drawingml/2006/main">
              <a:ext uri="{FF2B5EF4-FFF2-40B4-BE49-F238E27FC236}">
                <a16:creationId xmlns:a16="http://schemas.microsoft.com/office/drawing/2014/main" id="{4EE91D8A-06C3-475B-97E6-0F96DDB2B643}"/>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导入与问题诊断  5分钟</a:t>
            </a:r>
          </a:p>
        </p:txBody>
      </p:sp>
      <p:sp>
        <p:nvSpPr>
          <p:cNvPr id="4" name="">
            <a:extLst xmlns:a="http://schemas.openxmlformats.org/drawingml/2006/main">
              <a:ext uri="{FF2B5EF4-FFF2-40B4-BE49-F238E27FC236}">
                <a16:creationId xmlns:a16="http://schemas.microsoft.com/office/drawing/2014/main" id="{59E74341-DDF2-4CD8-A200-92C608FC0E22}"/>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07 / 94</a:t>
            </a:r>
          </a:p>
        </p:txBody>
      </p:sp>
      <p:sp>
        <p:nvSpPr>
          <p:cNvPr id="5" name="">
            <a:extLst xmlns:a="http://schemas.openxmlformats.org/drawingml/2006/main">
              <a:ext uri="{FF2B5EF4-FFF2-40B4-BE49-F238E27FC236}">
                <a16:creationId xmlns:a16="http://schemas.microsoft.com/office/drawing/2014/main" id="{CABDA0DB-BD9B-4076-95F3-43D62A0BEAD0}"/>
              </a:ext>
            </a:extLst>
          </p:cNvPr>
          <p:cNvSpPr>
            <a:spLocks xmlns:a="http://schemas.openxmlformats.org/drawingml/2006/main" noGrp="1"/>
          </p:cNvSpPr>
          <p:nvPr/>
        </p:nvSpPr>
        <p:spPr>
          <a:xfrm xmlns:a="http://schemas.openxmlformats.org/drawingml/2006/main">
            <a:off x="6096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维修需求提前</a:t>
            </a:r>
          </a:p>
        </p:txBody>
      </p:sp>
      <p:sp>
        <p:nvSpPr>
          <p:cNvPr id="6" name="">
            <a:extLst xmlns:a="http://schemas.openxmlformats.org/drawingml/2006/main">
              <a:ext uri="{FF2B5EF4-FFF2-40B4-BE49-F238E27FC236}">
                <a16:creationId xmlns:a16="http://schemas.microsoft.com/office/drawing/2014/main" id="{CECE21A7-54D9-4924-BC0D-8DAD7DF7278A}"/>
              </a:ext>
            </a:extLst>
          </p:cNvPr>
          <p:cNvSpPr>
            <a:spLocks xmlns:a="http://schemas.openxmlformats.org/drawingml/2006/main" noGrp="1"/>
          </p:cNvSpPr>
          <p:nvPr/>
        </p:nvSpPr>
        <p:spPr>
          <a:xfrm xmlns:a="http://schemas.openxmlformats.org/drawingml/2006/main">
            <a:off x="5715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计划修订记录</a:t>
            </a:r>
          </a:p>
        </p:txBody>
      </p:sp>
      <p:sp>
        <p:nvSpPr>
          <p:cNvPr id="7" name="">
            <a:extLst xmlns:a="http://schemas.openxmlformats.org/drawingml/2006/main">
              <a:ext uri="{FF2B5EF4-FFF2-40B4-BE49-F238E27FC236}">
                <a16:creationId xmlns:a16="http://schemas.microsoft.com/office/drawing/2014/main" id="{62B8AE47-11D0-484B-B227-AF7F23E6E8B0}"/>
              </a:ext>
            </a:extLst>
          </p:cNvPr>
          <p:cNvSpPr>
            <a:spLocks xmlns:a="http://schemas.openxmlformats.org/drawingml/2006/main" noGrp="1"/>
          </p:cNvSpPr>
          <p:nvPr/>
        </p:nvSpPr>
        <p:spPr>
          <a:xfrm xmlns:a="http://schemas.openxmlformats.org/drawingml/2006/main">
            <a:off x="34480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订单未同步</a:t>
            </a:r>
          </a:p>
        </p:txBody>
      </p:sp>
      <p:sp>
        <p:nvSpPr>
          <p:cNvPr id="9" name="">
            <a:extLst xmlns:a="http://schemas.openxmlformats.org/drawingml/2006/main">
              <a:ext uri="{FF2B5EF4-FFF2-40B4-BE49-F238E27FC236}">
                <a16:creationId xmlns:a16="http://schemas.microsoft.com/office/drawing/2014/main" id="{1CF92783-6E06-4A8C-9252-AF34DCE364FD}"/>
              </a:ext>
            </a:extLst>
          </p:cNvPr>
          <p:cNvSpPr>
            <a:spLocks xmlns:a="http://schemas.openxmlformats.org/drawingml/2006/main" noGrp="1"/>
          </p:cNvSpPr>
          <p:nvPr/>
        </p:nvSpPr>
        <p:spPr>
          <a:xfrm xmlns:a="http://schemas.openxmlformats.org/drawingml/2006/main">
            <a:off x="34099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订单版本与修改时间</a:t>
            </a:r>
          </a:p>
        </p:txBody>
      </p:sp>
      <p:sp>
        <p:nvSpPr>
          <p:cNvPr id="10" name="">
            <a:extLst xmlns:a="http://schemas.openxmlformats.org/drawingml/2006/main">
              <a:ext uri="{FF2B5EF4-FFF2-40B4-BE49-F238E27FC236}">
                <a16:creationId xmlns:a16="http://schemas.microsoft.com/office/drawing/2014/main" id="{A22981C3-D66F-4674-B545-0CC394E570FA}"/>
              </a:ext>
            </a:extLst>
          </p:cNvPr>
          <p:cNvSpPr>
            <a:spLocks xmlns:a="http://schemas.openxmlformats.org/drawingml/2006/main" noGrp="1"/>
          </p:cNvSpPr>
          <p:nvPr/>
        </p:nvSpPr>
        <p:spPr>
          <a:xfrm xmlns:a="http://schemas.openxmlformats.org/drawingml/2006/main">
            <a:off x="62865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仍按旧承诺交付</a:t>
            </a:r>
          </a:p>
        </p:txBody>
      </p:sp>
      <p:sp>
        <p:nvSpPr>
          <p:cNvPr id="12" name="">
            <a:extLst xmlns:a="http://schemas.openxmlformats.org/drawingml/2006/main">
              <a:ext uri="{FF2B5EF4-FFF2-40B4-BE49-F238E27FC236}">
                <a16:creationId xmlns:a16="http://schemas.microsoft.com/office/drawing/2014/main" id="{36882C6E-3E54-42AE-8189-B4FC60B4E852}"/>
              </a:ext>
            </a:extLst>
          </p:cNvPr>
          <p:cNvSpPr>
            <a:spLocks xmlns:a="http://schemas.openxmlformats.org/drawingml/2006/main" noGrp="1"/>
          </p:cNvSpPr>
          <p:nvPr/>
        </p:nvSpPr>
        <p:spPr>
          <a:xfrm xmlns:a="http://schemas.openxmlformats.org/drawingml/2006/main">
            <a:off x="62484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供应商确认与到货记录</a:t>
            </a:r>
          </a:p>
        </p:txBody>
      </p:sp>
      <p:sp>
        <p:nvSpPr>
          <p:cNvPr id="13" name="">
            <a:extLst xmlns:a="http://schemas.openxmlformats.org/drawingml/2006/main">
              <a:ext uri="{FF2B5EF4-FFF2-40B4-BE49-F238E27FC236}">
                <a16:creationId xmlns:a16="http://schemas.microsoft.com/office/drawing/2014/main" id="{897492D9-5C12-4F85-9DD0-F56F712D49AD}"/>
              </a:ext>
            </a:extLst>
          </p:cNvPr>
          <p:cNvSpPr>
            <a:spLocks xmlns:a="http://schemas.openxmlformats.org/drawingml/2006/main" noGrp="1"/>
          </p:cNvSpPr>
          <p:nvPr/>
        </p:nvSpPr>
        <p:spPr>
          <a:xfrm xmlns:a="http://schemas.openxmlformats.org/drawingml/2006/main">
            <a:off x="91249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到货晚于需求</a:t>
            </a:r>
          </a:p>
        </p:txBody>
      </p:sp>
      <p:sp>
        <p:nvSpPr>
          <p:cNvPr id="15" name="">
            <a:extLst xmlns:a="http://schemas.openxmlformats.org/drawingml/2006/main">
              <a:ext uri="{FF2B5EF4-FFF2-40B4-BE49-F238E27FC236}">
                <a16:creationId xmlns:a16="http://schemas.microsoft.com/office/drawing/2014/main" id="{01BD6ECC-02E1-4ED1-AEE3-102E4C269CDB}"/>
              </a:ext>
            </a:extLst>
          </p:cNvPr>
          <p:cNvSpPr>
            <a:spLocks xmlns:a="http://schemas.openxmlformats.org/drawingml/2006/main" noGrp="1"/>
          </p:cNvSpPr>
          <p:nvPr/>
        </p:nvSpPr>
        <p:spPr>
          <a:xfrm xmlns:a="http://schemas.openxmlformats.org/drawingml/2006/main">
            <a:off x="90868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缺料时间与交付影响</a:t>
            </a:r>
          </a:p>
        </p:txBody>
      </p:sp>
      <p:sp>
        <p:nvSpPr>
          <p:cNvPr id="16" name="">
            <a:extLst xmlns:a="http://schemas.openxmlformats.org/drawingml/2006/main">
              <a:ext uri="{FF2B5EF4-FFF2-40B4-BE49-F238E27FC236}">
                <a16:creationId xmlns:a16="http://schemas.microsoft.com/office/drawing/2014/main" id="{36E30727-1903-4D4F-98B6-0BE321B24C79}"/>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证据不支持时，改查主数据、可用状态与供应约束</a:t>
            </a:r>
          </a:p>
        </p:txBody>
      </p:sp>
    </p:spTree>
    <p:extLst>
      <p:ext uri="{BB962C8B-B14F-4D97-AF65-F5344CB8AC3E}">
        <p14:creationId xmlns:p14="http://schemas.microsoft.com/office/powerpoint/2010/main" val="14229017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A72A87-256F-4892-9A92-0630945F7766}"/>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问题优先级如何排序？</a:t>
            </a:r>
          </a:p>
        </p:txBody>
      </p:sp>
      <p:sp>
        <p:nvSpPr>
          <p:cNvPr id="2" name="">
            <a:extLst xmlns:a="http://schemas.openxmlformats.org/drawingml/2006/main">
              <a:ext uri="{FF2B5EF4-FFF2-40B4-BE49-F238E27FC236}">
                <a16:creationId xmlns:a16="http://schemas.microsoft.com/office/drawing/2014/main" id="{F24CC1CE-962B-4698-914F-65D2203FCA1D}"/>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TOC约束视角：先识别限制交付的环节，再比较成本与可控程度</a:t>
            </a:r>
          </a:p>
        </p:txBody>
      </p:sp>
      <p:sp>
        <p:nvSpPr>
          <p:cNvPr id="3" name="">
            <a:extLst xmlns:a="http://schemas.openxmlformats.org/drawingml/2006/main">
              <a:ext uri="{FF2B5EF4-FFF2-40B4-BE49-F238E27FC236}">
                <a16:creationId xmlns:a16="http://schemas.microsoft.com/office/drawing/2014/main" id="{6BEBB16E-E47A-434D-B3F3-29AF637F6E21}"/>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导入与问题诊断  5分钟</a:t>
            </a:r>
          </a:p>
        </p:txBody>
      </p:sp>
      <p:sp>
        <p:nvSpPr>
          <p:cNvPr id="4" name="">
            <a:extLst xmlns:a="http://schemas.openxmlformats.org/drawingml/2006/main">
              <a:ext uri="{FF2B5EF4-FFF2-40B4-BE49-F238E27FC236}">
                <a16:creationId xmlns:a16="http://schemas.microsoft.com/office/drawing/2014/main" id="{84C0E070-F011-4870-96F4-06069E84F320}"/>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08 / 94</a:t>
            </a:r>
          </a:p>
        </p:txBody>
      </p:sp>
      <p:graphicFrame>
        <p:nvGraphicFramePr>
          <p:cNvPr id="5" name="">
            <a:extLst xmlns:a="http://schemas.openxmlformats.org/drawingml/2006/main">
              <a:ext uri="{FF2B5EF4-FFF2-40B4-BE49-F238E27FC236}">
                <a16:creationId xmlns:a16="http://schemas.microsoft.com/office/drawing/2014/main" id="{A0467CDE-985C-4F34-B396-C204E5EAD955}"/>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3238500"/>
                <a:gridCol w="3810000"/>
                <a:gridCol w="3924300"/>
              </a:tblGrid>
              <a:tr h="800100">
                <a:tc>
                  <a:txBody>
                    <a:bodyPr lIns="114300" tIns="114300" rIns="114300" bIns="114300"/>
                    <a:lstStyle/>
                    <a:p>
                      <a:r>
                        <a:rPr sz="1725" b="1">
                          <a:solidFill>
                            <a:srgbClr val="477FA8"/>
                          </a:solidFill>
                          <a:latin typeface="PingFang SC"/>
                          <a:ea typeface="PingFang SC"/>
                          <a:cs typeface="PingFang SC"/>
                        </a:rPr>
                        <a:t>情境</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优先处理理由</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还需确认</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影响近期维修关键路径</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可能直接限制交付</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真实缺口、可替代性</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证书或适用性存在疑问</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方案可用性尚未成立</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质量／工程核对结果</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金额高但短期不影响交付</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影响资金和长期效率</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金额口径、处置条件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重复录入与常规催交</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具备效率改善机会</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频次、耗时、错误影响</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15241578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05D0F87-0B9A-40D3-BCC8-BA977C703303}"/>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问题分析所需的最小证据</a:t>
            </a:r>
          </a:p>
        </p:txBody>
      </p:sp>
      <p:sp>
        <p:nvSpPr>
          <p:cNvPr id="2" name="">
            <a:extLst xmlns:a="http://schemas.openxmlformats.org/drawingml/2006/main">
              <a:ext uri="{FF2B5EF4-FFF2-40B4-BE49-F238E27FC236}">
                <a16:creationId xmlns:a16="http://schemas.microsoft.com/office/drawing/2014/main" id="{760E2B8F-6435-4987-A02E-06FD8D3F8D57}"/>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模板先统一口径，避免各岗位讨论不同版本</a:t>
            </a:r>
          </a:p>
        </p:txBody>
      </p:sp>
      <p:sp>
        <p:nvSpPr>
          <p:cNvPr id="3" name="">
            <a:extLst xmlns:a="http://schemas.openxmlformats.org/drawingml/2006/main">
              <a:ext uri="{FF2B5EF4-FFF2-40B4-BE49-F238E27FC236}">
                <a16:creationId xmlns:a16="http://schemas.microsoft.com/office/drawing/2014/main" id="{71FE4DC7-A948-4578-94C7-9296DCE8B2E2}"/>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导入与问题诊断  5分钟</a:t>
            </a:r>
          </a:p>
        </p:txBody>
      </p:sp>
      <p:sp>
        <p:nvSpPr>
          <p:cNvPr id="4" name="">
            <a:extLst xmlns:a="http://schemas.openxmlformats.org/drawingml/2006/main">
              <a:ext uri="{FF2B5EF4-FFF2-40B4-BE49-F238E27FC236}">
                <a16:creationId xmlns:a16="http://schemas.microsoft.com/office/drawing/2014/main" id="{CCE69BAC-5BE5-438A-8275-B4CB1B709E7B}"/>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09 / 94</a:t>
            </a:r>
          </a:p>
        </p:txBody>
      </p:sp>
      <p:graphicFrame>
        <p:nvGraphicFramePr>
          <p:cNvPr id="5" name="">
            <a:extLst xmlns:a="http://schemas.openxmlformats.org/drawingml/2006/main">
              <a:ext uri="{FF2B5EF4-FFF2-40B4-BE49-F238E27FC236}">
                <a16:creationId xmlns:a16="http://schemas.microsoft.com/office/drawing/2014/main" id="{13DEE584-0B6F-4AA1-A8A9-48457F94D922}"/>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333625"/>
                <a:gridCol w="4238625"/>
                <a:gridCol w="4400550"/>
              </a:tblGrid>
              <a:tr h="666750">
                <a:tc>
                  <a:txBody>
                    <a:bodyPr lIns="114300" tIns="114300" rIns="114300" bIns="114300"/>
                    <a:lstStyle/>
                    <a:p>
                      <a:r>
                        <a:rPr sz="1725" b="1">
                          <a:solidFill>
                            <a:srgbClr val="477FA8"/>
                          </a:solidFill>
                          <a:latin typeface="PingFang SC"/>
                          <a:ea typeface="PingFang SC"/>
                          <a:cs typeface="PingFang SC"/>
                        </a:rPr>
                        <a:t>字段</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填写示例</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核对方式</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666750">
                <a:tc>
                  <a:txBody>
                    <a:bodyPr lIns="114300" tIns="114300" rIns="114300" bIns="114300"/>
                    <a:lstStyle/>
                    <a:p>
                      <a:r>
                        <a:rPr sz="1875" b="1">
                          <a:solidFill>
                            <a:srgbClr val="477FA8"/>
                          </a:solidFill>
                          <a:latin typeface="PingFang SC"/>
                          <a:ea typeface="PingFang SC"/>
                          <a:cs typeface="PingFang SC"/>
                        </a:rPr>
                        <a:t>业务对象</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件号PN-A／订单行01</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注明件况、单位与关联键</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时间</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需求日、承诺日、截至时间</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区分原承诺和最新确认</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数量与状态</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需求8、账面12、按期可用4</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记录分配、冻结及在途口径</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影响</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缺料4件，影响工作包待核实</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由计划岗位确认关键路径</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来源与责任</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导出文件、采集人、版本</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标明待确认项，不补造数据</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18863869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F58F474-93FC-4B88-B2E1-378E37E72A28}"/>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鱼骨图：缺料可能来自哪些原因？</a:t>
            </a:r>
          </a:p>
        </p:txBody>
      </p:sp>
      <p:sp>
        <p:nvSpPr>
          <p:cNvPr id="2" name="">
            <a:extLst xmlns:a="http://schemas.openxmlformats.org/drawingml/2006/main">
              <a:ext uri="{FF2B5EF4-FFF2-40B4-BE49-F238E27FC236}">
                <a16:creationId xmlns:a16="http://schemas.microsoft.com/office/drawing/2014/main" id="{37FB98E0-A5E5-486A-A889-F4F42D90D0BF}"/>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先列出候选原因，再根据证据筛选；每条分支都只是待验证假设</a:t>
            </a:r>
          </a:p>
        </p:txBody>
      </p:sp>
      <p:sp>
        <p:nvSpPr>
          <p:cNvPr id="3" name="">
            <a:extLst xmlns:a="http://schemas.openxmlformats.org/drawingml/2006/main">
              <a:ext uri="{FF2B5EF4-FFF2-40B4-BE49-F238E27FC236}">
                <a16:creationId xmlns:a16="http://schemas.microsoft.com/office/drawing/2014/main" id="{9905FFCD-7611-41A5-9345-85CF67EC614D}"/>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导入与问题诊断  5分钟</a:t>
            </a:r>
          </a:p>
        </p:txBody>
      </p:sp>
      <p:sp>
        <p:nvSpPr>
          <p:cNvPr id="4" name="">
            <a:extLst xmlns:a="http://schemas.openxmlformats.org/drawingml/2006/main">
              <a:ext uri="{FF2B5EF4-FFF2-40B4-BE49-F238E27FC236}">
                <a16:creationId xmlns:a16="http://schemas.microsoft.com/office/drawing/2014/main" id="{47AAC40F-CB6D-4CE3-9205-FBF189EE855B}"/>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10 / 94</a:t>
            </a:r>
          </a:p>
        </p:txBody>
      </p:sp>
      <p:sp>
        <p:nvSpPr>
          <p:cNvPr id="5" name="">
            <a:extLst xmlns:a="http://schemas.openxmlformats.org/drawingml/2006/main">
              <a:ext uri="{FF2B5EF4-FFF2-40B4-BE49-F238E27FC236}">
                <a16:creationId xmlns:a16="http://schemas.microsoft.com/office/drawing/2014/main" id="{D0AA342D-F5A8-4DAC-92B1-004952F8D667}"/>
              </a:ext>
            </a:extLst>
          </p:cNvPr>
          <p:cNvSpPr>
            <a:spLocks xmlns:a="http://schemas.openxmlformats.org/drawingml/2006/main" noGrp="1"/>
          </p:cNvSpPr>
          <p:nvPr/>
        </p:nvSpPr>
        <p:spPr>
          <a:xfrm xmlns:a="http://schemas.openxmlformats.org/drawingml/2006/main">
            <a:off x="9525000" y="3200400"/>
            <a:ext cx="205740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维修需求</a:t>
            </a:r>
          </a:p>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未按期满足</a:t>
            </a:r>
          </a:p>
        </p:txBody>
      </p:sp>
      <p:cxnSp>
        <p:nvCxnSpPr>
          <p:cNvPr id="6" name="">
            <a:extLst xmlns:a="http://schemas.openxmlformats.org/drawingml/2006/main">
              <a:ext uri="{FF2B5EF4-FFF2-40B4-BE49-F238E27FC236}">
                <a16:creationId xmlns:a16="http://schemas.microsoft.com/office/drawing/2014/main" id="{A63BF5B0-A6B4-4612-A4DB-662BB716E804}"/>
              </a:ext>
            </a:extLst>
          </p:cNvPr>
          <p:cNvCxnSpPr/>
          <p:nvPr/>
        </p:nvCxnSpPr>
        <p:spPr>
          <a:xfrm xmlns:a="http://schemas.openxmlformats.org/drawingml/2006/main">
            <a:off x="609600" y="3714750"/>
            <a:ext cx="8915400" cy="0"/>
          </a:xfrm>
          <a:prstGeom xmlns:a="http://schemas.openxmlformats.org/drawingml/2006/main" prst="straightConnector1">
            <a:avLst/>
          </a:prstGeom>
          <a:ln xmlns:a="http://schemas.openxmlformats.org/drawingml/2006/main" w="28575">
            <a:solidFill>
              <a:srgbClr val="477FA8"/>
            </a:solidFill>
            <a:tailEnd type="triangle" w="med" len="med"/>
          </a:ln>
        </p:spPr>
      </p:cxnSp>
      <p:sp>
        <p:nvSpPr>
          <p:cNvPr id="7" name="">
            <a:extLst xmlns:a="http://schemas.openxmlformats.org/drawingml/2006/main">
              <a:ext uri="{FF2B5EF4-FFF2-40B4-BE49-F238E27FC236}">
                <a16:creationId xmlns:a16="http://schemas.microsoft.com/office/drawing/2014/main" id="{A894BD27-EFC6-4631-9F18-35EC8EB9D412}"/>
              </a:ext>
            </a:extLst>
          </p:cNvPr>
          <p:cNvSpPr>
            <a:spLocks xmlns:a="http://schemas.openxmlformats.org/drawingml/2006/main" noGrp="1"/>
          </p:cNvSpPr>
          <p:nvPr/>
        </p:nvSpPr>
        <p:spPr>
          <a:xfrm xmlns:a="http://schemas.openxmlformats.org/drawingml/2006/main">
            <a:off x="952500" y="194310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250" b="1">
                <a:solidFill>
                  <a:srgbClr val="477FA8"/>
                </a:solidFill>
                <a:latin typeface="PingFang SC"/>
                <a:ea typeface="PingFang SC"/>
                <a:cs typeface="PingFang SC"/>
              </a:defRPr>
            </a:defPPr>
            <a:lvl1pPr algn="ctr">
              <a:defRPr sz="2250" b="1">
                <a:solidFill>
                  <a:srgbClr val="477FA8"/>
                </a:solidFill>
                <a:latin typeface="PingFang SC"/>
                <a:ea typeface="PingFang SC"/>
                <a:cs typeface="PingFang SC"/>
              </a:defRPr>
            </a:lvl1pPr>
            <a:lvl2pPr algn="ctr">
              <a:defRPr sz="2250" b="1">
                <a:solidFill>
                  <a:srgbClr val="477FA8"/>
                </a:solidFill>
                <a:latin typeface="PingFang SC"/>
                <a:ea typeface="PingFang SC"/>
                <a:cs typeface="PingFang SC"/>
              </a:defRPr>
            </a:lvl2pPr>
            <a:lvl3pPr algn="ctr">
              <a:defRPr sz="2250" b="1">
                <a:solidFill>
                  <a:srgbClr val="477FA8"/>
                </a:solidFill>
                <a:latin typeface="PingFang SC"/>
                <a:ea typeface="PingFang SC"/>
                <a:cs typeface="PingFang SC"/>
              </a:defRPr>
            </a:lvl3pPr>
            <a:lvl4pPr algn="ctr">
              <a:defRPr sz="2250" b="1">
                <a:solidFill>
                  <a:srgbClr val="477FA8"/>
                </a:solidFill>
                <a:latin typeface="PingFang SC"/>
                <a:ea typeface="PingFang SC"/>
                <a:cs typeface="PingFang SC"/>
              </a:defRPr>
            </a:lvl4pPr>
            <a:lvl5pPr algn="ctr">
              <a:defRPr sz="2250" b="1">
                <a:solidFill>
                  <a:srgbClr val="477FA8"/>
                </a:solidFill>
                <a:latin typeface="PingFang SC"/>
                <a:ea typeface="PingFang SC"/>
                <a:cs typeface="PingFang SC"/>
              </a:defRPr>
            </a:lvl5pPr>
            <a:lvl6pPr algn="ctr">
              <a:defRPr sz="2250" b="1">
                <a:solidFill>
                  <a:srgbClr val="477FA8"/>
                </a:solidFill>
                <a:latin typeface="PingFang SC"/>
                <a:ea typeface="PingFang SC"/>
                <a:cs typeface="PingFang SC"/>
              </a:defRPr>
            </a:lvl6pPr>
            <a:lvl7pPr algn="ctr">
              <a:defRPr sz="2250" b="1">
                <a:solidFill>
                  <a:srgbClr val="477FA8"/>
                </a:solidFill>
                <a:latin typeface="PingFang SC"/>
                <a:ea typeface="PingFang SC"/>
                <a:cs typeface="PingFang SC"/>
              </a:defRPr>
            </a:lvl7pPr>
            <a:lvl8pPr algn="ctr">
              <a:defRPr sz="2250" b="1">
                <a:solidFill>
                  <a:srgbClr val="477FA8"/>
                </a:solidFill>
                <a:latin typeface="PingFang SC"/>
                <a:ea typeface="PingFang SC"/>
                <a:cs typeface="PingFang SC"/>
              </a:defRPr>
            </a:lvl8pPr>
            <a:lvl9pPr algn="ctr">
              <a:defRPr sz="2250" b="1">
                <a:solidFill>
                  <a:srgbClr val="477FA8"/>
                </a:solidFill>
                <a:latin typeface="PingFang SC"/>
                <a:ea typeface="PingFang SC"/>
                <a:cs typeface="PingFang SC"/>
              </a:defRPr>
            </a:lvl9pPr>
          </a:lstStyle>
          <a:p xmlns:a="http://schemas.openxmlformats.org/drawingml/2006/main">
            <a:pPr algn="ctr">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需求</a:t>
            </a:r>
          </a:p>
        </p:txBody>
      </p:sp>
      <p:sp>
        <p:nvSpPr>
          <p:cNvPr id="8" name="">
            <a:extLst xmlns:a="http://schemas.openxmlformats.org/drawingml/2006/main">
              <a:ext uri="{FF2B5EF4-FFF2-40B4-BE49-F238E27FC236}">
                <a16:creationId xmlns:a16="http://schemas.microsoft.com/office/drawing/2014/main" id="{BF4C6998-B94C-4635-884F-B6EE925C585B}"/>
              </a:ext>
            </a:extLst>
          </p:cNvPr>
          <p:cNvSpPr>
            <a:spLocks xmlns:a="http://schemas.openxmlformats.org/drawingml/2006/main" noGrp="1"/>
          </p:cNvSpPr>
          <p:nvPr/>
        </p:nvSpPr>
        <p:spPr>
          <a:xfrm xmlns:a="http://schemas.openxmlformats.org/drawingml/2006/main">
            <a:off x="952500" y="240030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0">
                <a:solidFill>
                  <a:srgbClr val="17334D"/>
                </a:solidFill>
                <a:latin typeface="PingFang SC"/>
                <a:ea typeface="PingFang SC"/>
                <a:cs typeface="PingFang SC"/>
              </a:defRPr>
            </a:defPPr>
            <a:lvl1pPr algn="ctr">
              <a:defRPr sz="1800" b="0">
                <a:solidFill>
                  <a:srgbClr val="17334D"/>
                </a:solidFill>
                <a:latin typeface="PingFang SC"/>
                <a:ea typeface="PingFang SC"/>
                <a:cs typeface="PingFang SC"/>
              </a:defRPr>
            </a:lvl1pPr>
            <a:lvl2pPr algn="ctr">
              <a:defRPr sz="1800" b="0">
                <a:solidFill>
                  <a:srgbClr val="17334D"/>
                </a:solidFill>
                <a:latin typeface="PingFang SC"/>
                <a:ea typeface="PingFang SC"/>
                <a:cs typeface="PingFang SC"/>
              </a:defRPr>
            </a:lvl2pPr>
            <a:lvl3pPr algn="ctr">
              <a:defRPr sz="1800" b="0">
                <a:solidFill>
                  <a:srgbClr val="17334D"/>
                </a:solidFill>
                <a:latin typeface="PingFang SC"/>
                <a:ea typeface="PingFang SC"/>
                <a:cs typeface="PingFang SC"/>
              </a:defRPr>
            </a:lvl3pPr>
            <a:lvl4pPr algn="ctr">
              <a:defRPr sz="1800" b="0">
                <a:solidFill>
                  <a:srgbClr val="17334D"/>
                </a:solidFill>
                <a:latin typeface="PingFang SC"/>
                <a:ea typeface="PingFang SC"/>
                <a:cs typeface="PingFang SC"/>
              </a:defRPr>
            </a:lvl4pPr>
            <a:lvl5pPr algn="ctr">
              <a:defRPr sz="1800" b="0">
                <a:solidFill>
                  <a:srgbClr val="17334D"/>
                </a:solidFill>
                <a:latin typeface="PingFang SC"/>
                <a:ea typeface="PingFang SC"/>
                <a:cs typeface="PingFang SC"/>
              </a:defRPr>
            </a:lvl5pPr>
            <a:lvl6pPr algn="ctr">
              <a:defRPr sz="1800" b="0">
                <a:solidFill>
                  <a:srgbClr val="17334D"/>
                </a:solidFill>
                <a:latin typeface="PingFang SC"/>
                <a:ea typeface="PingFang SC"/>
                <a:cs typeface="PingFang SC"/>
              </a:defRPr>
            </a:lvl6pPr>
            <a:lvl7pPr algn="ctr">
              <a:defRPr sz="1800" b="0">
                <a:solidFill>
                  <a:srgbClr val="17334D"/>
                </a:solidFill>
                <a:latin typeface="PingFang SC"/>
                <a:ea typeface="PingFang SC"/>
                <a:cs typeface="PingFang SC"/>
              </a:defRPr>
            </a:lvl7pPr>
            <a:lvl8pPr algn="ctr">
              <a:defRPr sz="1800" b="0">
                <a:solidFill>
                  <a:srgbClr val="17334D"/>
                </a:solidFill>
                <a:latin typeface="PingFang SC"/>
                <a:ea typeface="PingFang SC"/>
                <a:cs typeface="PingFang SC"/>
              </a:defRPr>
            </a:lvl8pPr>
            <a:lvl9pPr algn="ctr">
              <a:defRPr sz="1800" b="0">
                <a:solidFill>
                  <a:srgbClr val="17334D"/>
                </a:solidFill>
                <a:latin typeface="PingFang SC"/>
                <a:ea typeface="PingFang SC"/>
                <a:cs typeface="PingFang SC"/>
              </a:defRPr>
            </a:lvl9pPr>
          </a:lstStyle>
          <a:p xmlns:a="http://schemas.openxmlformats.org/drawingml/2006/main">
            <a:pPr algn="ctr">
              <a:defRPr sz="1800" b="0">
                <a:solidFill>
                  <a:srgbClr val="17334D"/>
                </a:solidFill>
                <a:latin typeface="PingFang SC"/>
                <a:ea typeface="PingFang SC"/>
                <a:cs typeface="PingFang SC"/>
              </a:defRPr>
            </a:pPr>
            <a:r>
              <a:rPr sz="1800" b="0">
                <a:solidFill>
                  <a:srgbClr val="17334D"/>
                </a:solidFill>
                <a:latin typeface="PingFang SC"/>
                <a:ea typeface="PingFang SC"/>
                <a:cs typeface="PingFang SC"/>
              </a:rPr>
              <a:t>版本变更未同步</a:t>
            </a:r>
          </a:p>
        </p:txBody>
      </p:sp>
      <p:sp>
        <p:nvSpPr>
          <p:cNvPr id="9" name="">
            <a:extLst xmlns:a="http://schemas.openxmlformats.org/drawingml/2006/main">
              <a:ext uri="{FF2B5EF4-FFF2-40B4-BE49-F238E27FC236}">
                <a16:creationId xmlns:a16="http://schemas.microsoft.com/office/drawing/2014/main" id="{9947E17D-68D6-41C2-B458-A3E52F05AF47}"/>
              </a:ext>
            </a:extLst>
          </p:cNvPr>
          <p:cNvSpPr>
            <a:spLocks xmlns:a="http://schemas.openxmlformats.org/drawingml/2006/main" noGrp="1"/>
          </p:cNvSpPr>
          <p:nvPr/>
        </p:nvSpPr>
        <p:spPr>
          <a:xfrm xmlns:a="http://schemas.openxmlformats.org/drawingml/2006/main" flipV="0">
            <a:off x="2143125" y="3019425"/>
            <a:ext cx="904875" cy="695325"/>
          </a:xfrm>
          <a:prstGeom xmlns:a="http://schemas.openxmlformats.org/drawingml/2006/main" prst="line">
            <a:avLst/>
          </a:prstGeom>
          <a:noFill xmlns:a="http://schemas.openxmlformats.org/drawingml/2006/main"/>
          <a:ln xmlns:a="http://schemas.openxmlformats.org/drawingml/2006/main" w="19050">
            <a:solidFill>
              <a:srgbClr val="477FA8"/>
            </a:solidFill>
          </a:ln>
        </p:spPr>
      </p:sp>
      <p:sp>
        <p:nvSpPr>
          <p:cNvPr id="10" name="">
            <a:extLst xmlns:a="http://schemas.openxmlformats.org/drawingml/2006/main">
              <a:ext uri="{FF2B5EF4-FFF2-40B4-BE49-F238E27FC236}">
                <a16:creationId xmlns:a16="http://schemas.microsoft.com/office/drawing/2014/main" id="{E69F42D8-2DE1-4FAF-94E2-40B6F83C07C8}"/>
              </a:ext>
            </a:extLst>
          </p:cNvPr>
          <p:cNvSpPr>
            <a:spLocks xmlns:a="http://schemas.openxmlformats.org/drawingml/2006/main" noGrp="1"/>
          </p:cNvSpPr>
          <p:nvPr/>
        </p:nvSpPr>
        <p:spPr>
          <a:xfrm xmlns:a="http://schemas.openxmlformats.org/drawingml/2006/main">
            <a:off x="3714750" y="194310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250" b="1">
                <a:solidFill>
                  <a:srgbClr val="477FA8"/>
                </a:solidFill>
                <a:latin typeface="PingFang SC"/>
                <a:ea typeface="PingFang SC"/>
                <a:cs typeface="PingFang SC"/>
              </a:defRPr>
            </a:defPPr>
            <a:lvl1pPr algn="ctr">
              <a:defRPr sz="2250" b="1">
                <a:solidFill>
                  <a:srgbClr val="477FA8"/>
                </a:solidFill>
                <a:latin typeface="PingFang SC"/>
                <a:ea typeface="PingFang SC"/>
                <a:cs typeface="PingFang SC"/>
              </a:defRPr>
            </a:lvl1pPr>
            <a:lvl2pPr algn="ctr">
              <a:defRPr sz="2250" b="1">
                <a:solidFill>
                  <a:srgbClr val="477FA8"/>
                </a:solidFill>
                <a:latin typeface="PingFang SC"/>
                <a:ea typeface="PingFang SC"/>
                <a:cs typeface="PingFang SC"/>
              </a:defRPr>
            </a:lvl2pPr>
            <a:lvl3pPr algn="ctr">
              <a:defRPr sz="2250" b="1">
                <a:solidFill>
                  <a:srgbClr val="477FA8"/>
                </a:solidFill>
                <a:latin typeface="PingFang SC"/>
                <a:ea typeface="PingFang SC"/>
                <a:cs typeface="PingFang SC"/>
              </a:defRPr>
            </a:lvl3pPr>
            <a:lvl4pPr algn="ctr">
              <a:defRPr sz="2250" b="1">
                <a:solidFill>
                  <a:srgbClr val="477FA8"/>
                </a:solidFill>
                <a:latin typeface="PingFang SC"/>
                <a:ea typeface="PingFang SC"/>
                <a:cs typeface="PingFang SC"/>
              </a:defRPr>
            </a:lvl4pPr>
            <a:lvl5pPr algn="ctr">
              <a:defRPr sz="2250" b="1">
                <a:solidFill>
                  <a:srgbClr val="477FA8"/>
                </a:solidFill>
                <a:latin typeface="PingFang SC"/>
                <a:ea typeface="PingFang SC"/>
                <a:cs typeface="PingFang SC"/>
              </a:defRPr>
            </a:lvl5pPr>
            <a:lvl6pPr algn="ctr">
              <a:defRPr sz="2250" b="1">
                <a:solidFill>
                  <a:srgbClr val="477FA8"/>
                </a:solidFill>
                <a:latin typeface="PingFang SC"/>
                <a:ea typeface="PingFang SC"/>
                <a:cs typeface="PingFang SC"/>
              </a:defRPr>
            </a:lvl6pPr>
            <a:lvl7pPr algn="ctr">
              <a:defRPr sz="2250" b="1">
                <a:solidFill>
                  <a:srgbClr val="477FA8"/>
                </a:solidFill>
                <a:latin typeface="PingFang SC"/>
                <a:ea typeface="PingFang SC"/>
                <a:cs typeface="PingFang SC"/>
              </a:defRPr>
            </a:lvl7pPr>
            <a:lvl8pPr algn="ctr">
              <a:defRPr sz="2250" b="1">
                <a:solidFill>
                  <a:srgbClr val="477FA8"/>
                </a:solidFill>
                <a:latin typeface="PingFang SC"/>
                <a:ea typeface="PingFang SC"/>
                <a:cs typeface="PingFang SC"/>
              </a:defRPr>
            </a:lvl8pPr>
            <a:lvl9pPr algn="ctr">
              <a:defRPr sz="2250" b="1">
                <a:solidFill>
                  <a:srgbClr val="477FA8"/>
                </a:solidFill>
                <a:latin typeface="PingFang SC"/>
                <a:ea typeface="PingFang SC"/>
                <a:cs typeface="PingFang SC"/>
              </a:defRPr>
            </a:lvl9pPr>
          </a:lstStyle>
          <a:p xmlns:a="http://schemas.openxmlformats.org/drawingml/2006/main">
            <a:pPr algn="ctr">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库存</a:t>
            </a:r>
          </a:p>
        </p:txBody>
      </p:sp>
      <p:sp>
        <p:nvSpPr>
          <p:cNvPr id="11" name="">
            <a:extLst xmlns:a="http://schemas.openxmlformats.org/drawingml/2006/main">
              <a:ext uri="{FF2B5EF4-FFF2-40B4-BE49-F238E27FC236}">
                <a16:creationId xmlns:a16="http://schemas.microsoft.com/office/drawing/2014/main" id="{34DA658E-5738-4C0D-B992-3180A4E791A4}"/>
              </a:ext>
            </a:extLst>
          </p:cNvPr>
          <p:cNvSpPr>
            <a:spLocks xmlns:a="http://schemas.openxmlformats.org/drawingml/2006/main" noGrp="1"/>
          </p:cNvSpPr>
          <p:nvPr/>
        </p:nvSpPr>
        <p:spPr>
          <a:xfrm xmlns:a="http://schemas.openxmlformats.org/drawingml/2006/main">
            <a:off x="3714750" y="240030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0">
                <a:solidFill>
                  <a:srgbClr val="17334D"/>
                </a:solidFill>
                <a:latin typeface="PingFang SC"/>
                <a:ea typeface="PingFang SC"/>
                <a:cs typeface="PingFang SC"/>
              </a:defRPr>
            </a:defPPr>
            <a:lvl1pPr algn="ctr">
              <a:defRPr sz="1800" b="0">
                <a:solidFill>
                  <a:srgbClr val="17334D"/>
                </a:solidFill>
                <a:latin typeface="PingFang SC"/>
                <a:ea typeface="PingFang SC"/>
                <a:cs typeface="PingFang SC"/>
              </a:defRPr>
            </a:lvl1pPr>
            <a:lvl2pPr algn="ctr">
              <a:defRPr sz="1800" b="0">
                <a:solidFill>
                  <a:srgbClr val="17334D"/>
                </a:solidFill>
                <a:latin typeface="PingFang SC"/>
                <a:ea typeface="PingFang SC"/>
                <a:cs typeface="PingFang SC"/>
              </a:defRPr>
            </a:lvl2pPr>
            <a:lvl3pPr algn="ctr">
              <a:defRPr sz="1800" b="0">
                <a:solidFill>
                  <a:srgbClr val="17334D"/>
                </a:solidFill>
                <a:latin typeface="PingFang SC"/>
                <a:ea typeface="PingFang SC"/>
                <a:cs typeface="PingFang SC"/>
              </a:defRPr>
            </a:lvl3pPr>
            <a:lvl4pPr algn="ctr">
              <a:defRPr sz="1800" b="0">
                <a:solidFill>
                  <a:srgbClr val="17334D"/>
                </a:solidFill>
                <a:latin typeface="PingFang SC"/>
                <a:ea typeface="PingFang SC"/>
                <a:cs typeface="PingFang SC"/>
              </a:defRPr>
            </a:lvl4pPr>
            <a:lvl5pPr algn="ctr">
              <a:defRPr sz="1800" b="0">
                <a:solidFill>
                  <a:srgbClr val="17334D"/>
                </a:solidFill>
                <a:latin typeface="PingFang SC"/>
                <a:ea typeface="PingFang SC"/>
                <a:cs typeface="PingFang SC"/>
              </a:defRPr>
            </a:lvl5pPr>
            <a:lvl6pPr algn="ctr">
              <a:defRPr sz="1800" b="0">
                <a:solidFill>
                  <a:srgbClr val="17334D"/>
                </a:solidFill>
                <a:latin typeface="PingFang SC"/>
                <a:ea typeface="PingFang SC"/>
                <a:cs typeface="PingFang SC"/>
              </a:defRPr>
            </a:lvl6pPr>
            <a:lvl7pPr algn="ctr">
              <a:defRPr sz="1800" b="0">
                <a:solidFill>
                  <a:srgbClr val="17334D"/>
                </a:solidFill>
                <a:latin typeface="PingFang SC"/>
                <a:ea typeface="PingFang SC"/>
                <a:cs typeface="PingFang SC"/>
              </a:defRPr>
            </a:lvl7pPr>
            <a:lvl8pPr algn="ctr">
              <a:defRPr sz="1800" b="0">
                <a:solidFill>
                  <a:srgbClr val="17334D"/>
                </a:solidFill>
                <a:latin typeface="PingFang SC"/>
                <a:ea typeface="PingFang SC"/>
                <a:cs typeface="PingFang SC"/>
              </a:defRPr>
            </a:lvl8pPr>
            <a:lvl9pPr algn="ctr">
              <a:defRPr sz="1800" b="0">
                <a:solidFill>
                  <a:srgbClr val="17334D"/>
                </a:solidFill>
                <a:latin typeface="PingFang SC"/>
                <a:ea typeface="PingFang SC"/>
                <a:cs typeface="PingFang SC"/>
              </a:defRPr>
            </a:lvl9pPr>
          </a:lstStyle>
          <a:p xmlns:a="http://schemas.openxmlformats.org/drawingml/2006/main">
            <a:pPr algn="ctr">
              <a:defRPr sz="1800" b="0">
                <a:solidFill>
                  <a:srgbClr val="17334D"/>
                </a:solidFill>
                <a:latin typeface="PingFang SC"/>
                <a:ea typeface="PingFang SC"/>
                <a:cs typeface="PingFang SC"/>
              </a:defRPr>
            </a:pPr>
            <a:r>
              <a:rPr sz="1800" b="0">
                <a:solidFill>
                  <a:srgbClr val="17334D"/>
                </a:solidFill>
                <a:latin typeface="PingFang SC"/>
                <a:ea typeface="PingFang SC"/>
                <a:cs typeface="PingFang SC"/>
              </a:rPr>
              <a:t>占用或状态不清</a:t>
            </a:r>
          </a:p>
        </p:txBody>
      </p:sp>
      <p:sp>
        <p:nvSpPr>
          <p:cNvPr id="12" name="">
            <a:extLst xmlns:a="http://schemas.openxmlformats.org/drawingml/2006/main">
              <a:ext uri="{FF2B5EF4-FFF2-40B4-BE49-F238E27FC236}">
                <a16:creationId xmlns:a16="http://schemas.microsoft.com/office/drawing/2014/main" id="{4D29F887-DD6C-417A-BE52-532598955078}"/>
              </a:ext>
            </a:extLst>
          </p:cNvPr>
          <p:cNvSpPr>
            <a:spLocks xmlns:a="http://schemas.openxmlformats.org/drawingml/2006/main" noGrp="1"/>
          </p:cNvSpPr>
          <p:nvPr/>
        </p:nvSpPr>
        <p:spPr>
          <a:xfrm xmlns:a="http://schemas.openxmlformats.org/drawingml/2006/main" flipV="0">
            <a:off x="4905375" y="3019425"/>
            <a:ext cx="904875" cy="695325"/>
          </a:xfrm>
          <a:prstGeom xmlns:a="http://schemas.openxmlformats.org/drawingml/2006/main" prst="line">
            <a:avLst/>
          </a:prstGeom>
          <a:noFill xmlns:a="http://schemas.openxmlformats.org/drawingml/2006/main"/>
          <a:ln xmlns:a="http://schemas.openxmlformats.org/drawingml/2006/main" w="19050">
            <a:solidFill>
              <a:srgbClr val="477FA8"/>
            </a:solidFill>
          </a:ln>
        </p:spPr>
      </p:sp>
      <p:sp>
        <p:nvSpPr>
          <p:cNvPr id="13" name="">
            <a:extLst xmlns:a="http://schemas.openxmlformats.org/drawingml/2006/main">
              <a:ext uri="{FF2B5EF4-FFF2-40B4-BE49-F238E27FC236}">
                <a16:creationId xmlns:a16="http://schemas.microsoft.com/office/drawing/2014/main" id="{DD42BC19-C0AB-46A3-8F9E-5F0BFB01A71B}"/>
              </a:ext>
            </a:extLst>
          </p:cNvPr>
          <p:cNvSpPr>
            <a:spLocks xmlns:a="http://schemas.openxmlformats.org/drawingml/2006/main" noGrp="1"/>
          </p:cNvSpPr>
          <p:nvPr/>
        </p:nvSpPr>
        <p:spPr>
          <a:xfrm xmlns:a="http://schemas.openxmlformats.org/drawingml/2006/main">
            <a:off x="6477000" y="194310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250" b="1">
                <a:solidFill>
                  <a:srgbClr val="477FA8"/>
                </a:solidFill>
                <a:latin typeface="PingFang SC"/>
                <a:ea typeface="PingFang SC"/>
                <a:cs typeface="PingFang SC"/>
              </a:defRPr>
            </a:defPPr>
            <a:lvl1pPr algn="ctr">
              <a:defRPr sz="2250" b="1">
                <a:solidFill>
                  <a:srgbClr val="477FA8"/>
                </a:solidFill>
                <a:latin typeface="PingFang SC"/>
                <a:ea typeface="PingFang SC"/>
                <a:cs typeface="PingFang SC"/>
              </a:defRPr>
            </a:lvl1pPr>
            <a:lvl2pPr algn="ctr">
              <a:defRPr sz="2250" b="1">
                <a:solidFill>
                  <a:srgbClr val="477FA8"/>
                </a:solidFill>
                <a:latin typeface="PingFang SC"/>
                <a:ea typeface="PingFang SC"/>
                <a:cs typeface="PingFang SC"/>
              </a:defRPr>
            </a:lvl2pPr>
            <a:lvl3pPr algn="ctr">
              <a:defRPr sz="2250" b="1">
                <a:solidFill>
                  <a:srgbClr val="477FA8"/>
                </a:solidFill>
                <a:latin typeface="PingFang SC"/>
                <a:ea typeface="PingFang SC"/>
                <a:cs typeface="PingFang SC"/>
              </a:defRPr>
            </a:lvl3pPr>
            <a:lvl4pPr algn="ctr">
              <a:defRPr sz="2250" b="1">
                <a:solidFill>
                  <a:srgbClr val="477FA8"/>
                </a:solidFill>
                <a:latin typeface="PingFang SC"/>
                <a:ea typeface="PingFang SC"/>
                <a:cs typeface="PingFang SC"/>
              </a:defRPr>
            </a:lvl4pPr>
            <a:lvl5pPr algn="ctr">
              <a:defRPr sz="2250" b="1">
                <a:solidFill>
                  <a:srgbClr val="477FA8"/>
                </a:solidFill>
                <a:latin typeface="PingFang SC"/>
                <a:ea typeface="PingFang SC"/>
                <a:cs typeface="PingFang SC"/>
              </a:defRPr>
            </a:lvl5pPr>
            <a:lvl6pPr algn="ctr">
              <a:defRPr sz="2250" b="1">
                <a:solidFill>
                  <a:srgbClr val="477FA8"/>
                </a:solidFill>
                <a:latin typeface="PingFang SC"/>
                <a:ea typeface="PingFang SC"/>
                <a:cs typeface="PingFang SC"/>
              </a:defRPr>
            </a:lvl6pPr>
            <a:lvl7pPr algn="ctr">
              <a:defRPr sz="2250" b="1">
                <a:solidFill>
                  <a:srgbClr val="477FA8"/>
                </a:solidFill>
                <a:latin typeface="PingFang SC"/>
                <a:ea typeface="PingFang SC"/>
                <a:cs typeface="PingFang SC"/>
              </a:defRPr>
            </a:lvl7pPr>
            <a:lvl8pPr algn="ctr">
              <a:defRPr sz="2250" b="1">
                <a:solidFill>
                  <a:srgbClr val="477FA8"/>
                </a:solidFill>
                <a:latin typeface="PingFang SC"/>
                <a:ea typeface="PingFang SC"/>
                <a:cs typeface="PingFang SC"/>
              </a:defRPr>
            </a:lvl8pPr>
            <a:lvl9pPr algn="ctr">
              <a:defRPr sz="2250" b="1">
                <a:solidFill>
                  <a:srgbClr val="477FA8"/>
                </a:solidFill>
                <a:latin typeface="PingFang SC"/>
                <a:ea typeface="PingFang SC"/>
                <a:cs typeface="PingFang SC"/>
              </a:defRPr>
            </a:lvl9pPr>
          </a:lstStyle>
          <a:p xmlns:a="http://schemas.openxmlformats.org/drawingml/2006/main">
            <a:pPr algn="ctr">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供应</a:t>
            </a:r>
          </a:p>
        </p:txBody>
      </p:sp>
      <p:sp>
        <p:nvSpPr>
          <p:cNvPr id="14" name="">
            <a:extLst xmlns:a="http://schemas.openxmlformats.org/drawingml/2006/main">
              <a:ext uri="{FF2B5EF4-FFF2-40B4-BE49-F238E27FC236}">
                <a16:creationId xmlns:a16="http://schemas.microsoft.com/office/drawing/2014/main" id="{5CB0FEE5-80E2-4BBE-A909-1C4FF17816B0}"/>
              </a:ext>
            </a:extLst>
          </p:cNvPr>
          <p:cNvSpPr>
            <a:spLocks xmlns:a="http://schemas.openxmlformats.org/drawingml/2006/main" noGrp="1"/>
          </p:cNvSpPr>
          <p:nvPr/>
        </p:nvSpPr>
        <p:spPr>
          <a:xfrm xmlns:a="http://schemas.openxmlformats.org/drawingml/2006/main">
            <a:off x="6477000" y="240030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0">
                <a:solidFill>
                  <a:srgbClr val="17334D"/>
                </a:solidFill>
                <a:latin typeface="PingFang SC"/>
                <a:ea typeface="PingFang SC"/>
                <a:cs typeface="PingFang SC"/>
              </a:defRPr>
            </a:defPPr>
            <a:lvl1pPr algn="ctr">
              <a:defRPr sz="1800" b="0">
                <a:solidFill>
                  <a:srgbClr val="17334D"/>
                </a:solidFill>
                <a:latin typeface="PingFang SC"/>
                <a:ea typeface="PingFang SC"/>
                <a:cs typeface="PingFang SC"/>
              </a:defRPr>
            </a:lvl1pPr>
            <a:lvl2pPr algn="ctr">
              <a:defRPr sz="1800" b="0">
                <a:solidFill>
                  <a:srgbClr val="17334D"/>
                </a:solidFill>
                <a:latin typeface="PingFang SC"/>
                <a:ea typeface="PingFang SC"/>
                <a:cs typeface="PingFang SC"/>
              </a:defRPr>
            </a:lvl2pPr>
            <a:lvl3pPr algn="ctr">
              <a:defRPr sz="1800" b="0">
                <a:solidFill>
                  <a:srgbClr val="17334D"/>
                </a:solidFill>
                <a:latin typeface="PingFang SC"/>
                <a:ea typeface="PingFang SC"/>
                <a:cs typeface="PingFang SC"/>
              </a:defRPr>
            </a:lvl3pPr>
            <a:lvl4pPr algn="ctr">
              <a:defRPr sz="1800" b="0">
                <a:solidFill>
                  <a:srgbClr val="17334D"/>
                </a:solidFill>
                <a:latin typeface="PingFang SC"/>
                <a:ea typeface="PingFang SC"/>
                <a:cs typeface="PingFang SC"/>
              </a:defRPr>
            </a:lvl4pPr>
            <a:lvl5pPr algn="ctr">
              <a:defRPr sz="1800" b="0">
                <a:solidFill>
                  <a:srgbClr val="17334D"/>
                </a:solidFill>
                <a:latin typeface="PingFang SC"/>
                <a:ea typeface="PingFang SC"/>
                <a:cs typeface="PingFang SC"/>
              </a:defRPr>
            </a:lvl5pPr>
            <a:lvl6pPr algn="ctr">
              <a:defRPr sz="1800" b="0">
                <a:solidFill>
                  <a:srgbClr val="17334D"/>
                </a:solidFill>
                <a:latin typeface="PingFang SC"/>
                <a:ea typeface="PingFang SC"/>
                <a:cs typeface="PingFang SC"/>
              </a:defRPr>
            </a:lvl6pPr>
            <a:lvl7pPr algn="ctr">
              <a:defRPr sz="1800" b="0">
                <a:solidFill>
                  <a:srgbClr val="17334D"/>
                </a:solidFill>
                <a:latin typeface="PingFang SC"/>
                <a:ea typeface="PingFang SC"/>
                <a:cs typeface="PingFang SC"/>
              </a:defRPr>
            </a:lvl7pPr>
            <a:lvl8pPr algn="ctr">
              <a:defRPr sz="1800" b="0">
                <a:solidFill>
                  <a:srgbClr val="17334D"/>
                </a:solidFill>
                <a:latin typeface="PingFang SC"/>
                <a:ea typeface="PingFang SC"/>
                <a:cs typeface="PingFang SC"/>
              </a:defRPr>
            </a:lvl8pPr>
            <a:lvl9pPr algn="ctr">
              <a:defRPr sz="1800" b="0">
                <a:solidFill>
                  <a:srgbClr val="17334D"/>
                </a:solidFill>
                <a:latin typeface="PingFang SC"/>
                <a:ea typeface="PingFang SC"/>
                <a:cs typeface="PingFang SC"/>
              </a:defRPr>
            </a:lvl9pPr>
          </a:lstStyle>
          <a:p xmlns:a="http://schemas.openxmlformats.org/drawingml/2006/main">
            <a:pPr algn="ctr">
              <a:defRPr sz="1800" b="0">
                <a:solidFill>
                  <a:srgbClr val="17334D"/>
                </a:solidFill>
                <a:latin typeface="PingFang SC"/>
                <a:ea typeface="PingFang SC"/>
                <a:cs typeface="PingFang SC"/>
              </a:defRPr>
            </a:pPr>
            <a:r>
              <a:rPr sz="1800" b="0">
                <a:solidFill>
                  <a:srgbClr val="17334D"/>
                </a:solidFill>
                <a:latin typeface="PingFang SC"/>
                <a:ea typeface="PingFang SC"/>
                <a:cs typeface="PingFang SC"/>
              </a:rPr>
              <a:t>实际交期变化</a:t>
            </a:r>
          </a:p>
        </p:txBody>
      </p:sp>
      <p:sp>
        <p:nvSpPr>
          <p:cNvPr id="15" name="">
            <a:extLst xmlns:a="http://schemas.openxmlformats.org/drawingml/2006/main">
              <a:ext uri="{FF2B5EF4-FFF2-40B4-BE49-F238E27FC236}">
                <a16:creationId xmlns:a16="http://schemas.microsoft.com/office/drawing/2014/main" id="{AD5FFF4A-89F9-469E-B2F3-85630748FE03}"/>
              </a:ext>
            </a:extLst>
          </p:cNvPr>
          <p:cNvSpPr>
            <a:spLocks xmlns:a="http://schemas.openxmlformats.org/drawingml/2006/main" noGrp="1"/>
          </p:cNvSpPr>
          <p:nvPr/>
        </p:nvSpPr>
        <p:spPr>
          <a:xfrm xmlns:a="http://schemas.openxmlformats.org/drawingml/2006/main" flipV="0">
            <a:off x="7667625" y="3019425"/>
            <a:ext cx="904875" cy="695325"/>
          </a:xfrm>
          <a:prstGeom xmlns:a="http://schemas.openxmlformats.org/drawingml/2006/main" prst="line">
            <a:avLst/>
          </a:prstGeom>
          <a:noFill xmlns:a="http://schemas.openxmlformats.org/drawingml/2006/main"/>
          <a:ln xmlns:a="http://schemas.openxmlformats.org/drawingml/2006/main" w="19050">
            <a:solidFill>
              <a:srgbClr val="477FA8"/>
            </a:solidFill>
          </a:ln>
        </p:spPr>
      </p:sp>
      <p:sp>
        <p:nvSpPr>
          <p:cNvPr id="16" name="">
            <a:extLst xmlns:a="http://schemas.openxmlformats.org/drawingml/2006/main">
              <a:ext uri="{FF2B5EF4-FFF2-40B4-BE49-F238E27FC236}">
                <a16:creationId xmlns:a16="http://schemas.microsoft.com/office/drawing/2014/main" id="{A39E3D96-66B8-4749-8E4B-385A174DE89E}"/>
              </a:ext>
            </a:extLst>
          </p:cNvPr>
          <p:cNvSpPr>
            <a:spLocks xmlns:a="http://schemas.openxmlformats.org/drawingml/2006/main" noGrp="1"/>
          </p:cNvSpPr>
          <p:nvPr/>
        </p:nvSpPr>
        <p:spPr>
          <a:xfrm xmlns:a="http://schemas.openxmlformats.org/drawingml/2006/main">
            <a:off x="952500" y="449580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250" b="1">
                <a:solidFill>
                  <a:srgbClr val="477FA8"/>
                </a:solidFill>
                <a:latin typeface="PingFang SC"/>
                <a:ea typeface="PingFang SC"/>
                <a:cs typeface="PingFang SC"/>
              </a:defRPr>
            </a:defPPr>
            <a:lvl1pPr algn="ctr">
              <a:defRPr sz="2250" b="1">
                <a:solidFill>
                  <a:srgbClr val="477FA8"/>
                </a:solidFill>
                <a:latin typeface="PingFang SC"/>
                <a:ea typeface="PingFang SC"/>
                <a:cs typeface="PingFang SC"/>
              </a:defRPr>
            </a:lvl1pPr>
            <a:lvl2pPr algn="ctr">
              <a:defRPr sz="2250" b="1">
                <a:solidFill>
                  <a:srgbClr val="477FA8"/>
                </a:solidFill>
                <a:latin typeface="PingFang SC"/>
                <a:ea typeface="PingFang SC"/>
                <a:cs typeface="PingFang SC"/>
              </a:defRPr>
            </a:lvl2pPr>
            <a:lvl3pPr algn="ctr">
              <a:defRPr sz="2250" b="1">
                <a:solidFill>
                  <a:srgbClr val="477FA8"/>
                </a:solidFill>
                <a:latin typeface="PingFang SC"/>
                <a:ea typeface="PingFang SC"/>
                <a:cs typeface="PingFang SC"/>
              </a:defRPr>
            </a:lvl3pPr>
            <a:lvl4pPr algn="ctr">
              <a:defRPr sz="2250" b="1">
                <a:solidFill>
                  <a:srgbClr val="477FA8"/>
                </a:solidFill>
                <a:latin typeface="PingFang SC"/>
                <a:ea typeface="PingFang SC"/>
                <a:cs typeface="PingFang SC"/>
              </a:defRPr>
            </a:lvl4pPr>
            <a:lvl5pPr algn="ctr">
              <a:defRPr sz="2250" b="1">
                <a:solidFill>
                  <a:srgbClr val="477FA8"/>
                </a:solidFill>
                <a:latin typeface="PingFang SC"/>
                <a:ea typeface="PingFang SC"/>
                <a:cs typeface="PingFang SC"/>
              </a:defRPr>
            </a:lvl5pPr>
            <a:lvl6pPr algn="ctr">
              <a:defRPr sz="2250" b="1">
                <a:solidFill>
                  <a:srgbClr val="477FA8"/>
                </a:solidFill>
                <a:latin typeface="PingFang SC"/>
                <a:ea typeface="PingFang SC"/>
                <a:cs typeface="PingFang SC"/>
              </a:defRPr>
            </a:lvl6pPr>
            <a:lvl7pPr algn="ctr">
              <a:defRPr sz="2250" b="1">
                <a:solidFill>
                  <a:srgbClr val="477FA8"/>
                </a:solidFill>
                <a:latin typeface="PingFang SC"/>
                <a:ea typeface="PingFang SC"/>
                <a:cs typeface="PingFang SC"/>
              </a:defRPr>
            </a:lvl7pPr>
            <a:lvl8pPr algn="ctr">
              <a:defRPr sz="2250" b="1">
                <a:solidFill>
                  <a:srgbClr val="477FA8"/>
                </a:solidFill>
                <a:latin typeface="PingFang SC"/>
                <a:ea typeface="PingFang SC"/>
                <a:cs typeface="PingFang SC"/>
              </a:defRPr>
            </a:lvl8pPr>
            <a:lvl9pPr algn="ctr">
              <a:defRPr sz="2250" b="1">
                <a:solidFill>
                  <a:srgbClr val="477FA8"/>
                </a:solidFill>
                <a:latin typeface="PingFang SC"/>
                <a:ea typeface="PingFang SC"/>
                <a:cs typeface="PingFang SC"/>
              </a:defRPr>
            </a:lvl9pPr>
          </a:lstStyle>
          <a:p xmlns:a="http://schemas.openxmlformats.org/drawingml/2006/main">
            <a:pPr algn="ctr">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数据</a:t>
            </a:r>
          </a:p>
        </p:txBody>
      </p:sp>
      <p:sp>
        <p:nvSpPr>
          <p:cNvPr id="17" name="">
            <a:extLst xmlns:a="http://schemas.openxmlformats.org/drawingml/2006/main">
              <a:ext uri="{FF2B5EF4-FFF2-40B4-BE49-F238E27FC236}">
                <a16:creationId xmlns:a16="http://schemas.microsoft.com/office/drawing/2014/main" id="{0E58290A-1073-4170-8137-81EF8CFD21AF}"/>
              </a:ext>
            </a:extLst>
          </p:cNvPr>
          <p:cNvSpPr>
            <a:spLocks xmlns:a="http://schemas.openxmlformats.org/drawingml/2006/main" noGrp="1"/>
          </p:cNvSpPr>
          <p:nvPr/>
        </p:nvSpPr>
        <p:spPr>
          <a:xfrm xmlns:a="http://schemas.openxmlformats.org/drawingml/2006/main">
            <a:off x="952500" y="495300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0">
                <a:solidFill>
                  <a:srgbClr val="17334D"/>
                </a:solidFill>
                <a:latin typeface="PingFang SC"/>
                <a:ea typeface="PingFang SC"/>
                <a:cs typeface="PingFang SC"/>
              </a:defRPr>
            </a:defPPr>
            <a:lvl1pPr algn="ctr">
              <a:defRPr sz="1800" b="0">
                <a:solidFill>
                  <a:srgbClr val="17334D"/>
                </a:solidFill>
                <a:latin typeface="PingFang SC"/>
                <a:ea typeface="PingFang SC"/>
                <a:cs typeface="PingFang SC"/>
              </a:defRPr>
            </a:lvl1pPr>
            <a:lvl2pPr algn="ctr">
              <a:defRPr sz="1800" b="0">
                <a:solidFill>
                  <a:srgbClr val="17334D"/>
                </a:solidFill>
                <a:latin typeface="PingFang SC"/>
                <a:ea typeface="PingFang SC"/>
                <a:cs typeface="PingFang SC"/>
              </a:defRPr>
            </a:lvl2pPr>
            <a:lvl3pPr algn="ctr">
              <a:defRPr sz="1800" b="0">
                <a:solidFill>
                  <a:srgbClr val="17334D"/>
                </a:solidFill>
                <a:latin typeface="PingFang SC"/>
                <a:ea typeface="PingFang SC"/>
                <a:cs typeface="PingFang SC"/>
              </a:defRPr>
            </a:lvl3pPr>
            <a:lvl4pPr algn="ctr">
              <a:defRPr sz="1800" b="0">
                <a:solidFill>
                  <a:srgbClr val="17334D"/>
                </a:solidFill>
                <a:latin typeface="PingFang SC"/>
                <a:ea typeface="PingFang SC"/>
                <a:cs typeface="PingFang SC"/>
              </a:defRPr>
            </a:lvl4pPr>
            <a:lvl5pPr algn="ctr">
              <a:defRPr sz="1800" b="0">
                <a:solidFill>
                  <a:srgbClr val="17334D"/>
                </a:solidFill>
                <a:latin typeface="PingFang SC"/>
                <a:ea typeface="PingFang SC"/>
                <a:cs typeface="PingFang SC"/>
              </a:defRPr>
            </a:lvl5pPr>
            <a:lvl6pPr algn="ctr">
              <a:defRPr sz="1800" b="0">
                <a:solidFill>
                  <a:srgbClr val="17334D"/>
                </a:solidFill>
                <a:latin typeface="PingFang SC"/>
                <a:ea typeface="PingFang SC"/>
                <a:cs typeface="PingFang SC"/>
              </a:defRPr>
            </a:lvl6pPr>
            <a:lvl7pPr algn="ctr">
              <a:defRPr sz="1800" b="0">
                <a:solidFill>
                  <a:srgbClr val="17334D"/>
                </a:solidFill>
                <a:latin typeface="PingFang SC"/>
                <a:ea typeface="PingFang SC"/>
                <a:cs typeface="PingFang SC"/>
              </a:defRPr>
            </a:lvl7pPr>
            <a:lvl8pPr algn="ctr">
              <a:defRPr sz="1800" b="0">
                <a:solidFill>
                  <a:srgbClr val="17334D"/>
                </a:solidFill>
                <a:latin typeface="PingFang SC"/>
                <a:ea typeface="PingFang SC"/>
                <a:cs typeface="PingFang SC"/>
              </a:defRPr>
            </a:lvl8pPr>
            <a:lvl9pPr algn="ctr">
              <a:defRPr sz="1800" b="0">
                <a:solidFill>
                  <a:srgbClr val="17334D"/>
                </a:solidFill>
                <a:latin typeface="PingFang SC"/>
                <a:ea typeface="PingFang SC"/>
                <a:cs typeface="PingFang SC"/>
              </a:defRPr>
            </a:lvl9pPr>
          </a:lstStyle>
          <a:p xmlns:a="http://schemas.openxmlformats.org/drawingml/2006/main">
            <a:pPr algn="ctr">
              <a:defRPr sz="1800" b="0">
                <a:solidFill>
                  <a:srgbClr val="17334D"/>
                </a:solidFill>
                <a:latin typeface="PingFang SC"/>
                <a:ea typeface="PingFang SC"/>
                <a:cs typeface="PingFang SC"/>
              </a:defRPr>
            </a:pPr>
            <a:r>
              <a:rPr sz="1800" b="0">
                <a:solidFill>
                  <a:srgbClr val="17334D"/>
                </a:solidFill>
                <a:latin typeface="PingFang SC"/>
                <a:ea typeface="PingFang SC"/>
                <a:cs typeface="PingFang SC"/>
              </a:rPr>
              <a:t>件号或单位不一致</a:t>
            </a:r>
          </a:p>
        </p:txBody>
      </p:sp>
      <p:sp>
        <p:nvSpPr>
          <p:cNvPr id="18" name="">
            <a:extLst xmlns:a="http://schemas.openxmlformats.org/drawingml/2006/main">
              <a:ext uri="{FF2B5EF4-FFF2-40B4-BE49-F238E27FC236}">
                <a16:creationId xmlns:a16="http://schemas.microsoft.com/office/drawing/2014/main" id="{4C631800-6D2C-4A0D-A1C1-2FCD791EA540}"/>
              </a:ext>
            </a:extLst>
          </p:cNvPr>
          <p:cNvSpPr>
            <a:spLocks xmlns:a="http://schemas.openxmlformats.org/drawingml/2006/main" noGrp="1"/>
          </p:cNvSpPr>
          <p:nvPr/>
        </p:nvSpPr>
        <p:spPr>
          <a:xfrm xmlns:a="http://schemas.openxmlformats.org/drawingml/2006/main" flipV="1">
            <a:off x="2143125" y="3714750"/>
            <a:ext cx="904875" cy="695325"/>
          </a:xfrm>
          <a:prstGeom xmlns:a="http://schemas.openxmlformats.org/drawingml/2006/main" prst="line">
            <a:avLst/>
          </a:prstGeom>
          <a:noFill xmlns:a="http://schemas.openxmlformats.org/drawingml/2006/main"/>
          <a:ln xmlns:a="http://schemas.openxmlformats.org/drawingml/2006/main" w="19050">
            <a:solidFill>
              <a:srgbClr val="477FA8"/>
            </a:solidFill>
          </a:ln>
        </p:spPr>
      </p:sp>
      <p:sp>
        <p:nvSpPr>
          <p:cNvPr id="19" name="">
            <a:extLst xmlns:a="http://schemas.openxmlformats.org/drawingml/2006/main">
              <a:ext uri="{FF2B5EF4-FFF2-40B4-BE49-F238E27FC236}">
                <a16:creationId xmlns:a16="http://schemas.microsoft.com/office/drawing/2014/main" id="{F9831961-BBD1-49D2-B1A8-4FC25D2AA18A}"/>
              </a:ext>
            </a:extLst>
          </p:cNvPr>
          <p:cNvSpPr>
            <a:spLocks xmlns:a="http://schemas.openxmlformats.org/drawingml/2006/main" noGrp="1"/>
          </p:cNvSpPr>
          <p:nvPr/>
        </p:nvSpPr>
        <p:spPr>
          <a:xfrm xmlns:a="http://schemas.openxmlformats.org/drawingml/2006/main">
            <a:off x="3714750" y="449580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250" b="1">
                <a:solidFill>
                  <a:srgbClr val="477FA8"/>
                </a:solidFill>
                <a:latin typeface="PingFang SC"/>
                <a:ea typeface="PingFang SC"/>
                <a:cs typeface="PingFang SC"/>
              </a:defRPr>
            </a:defPPr>
            <a:lvl1pPr algn="ctr">
              <a:defRPr sz="2250" b="1">
                <a:solidFill>
                  <a:srgbClr val="477FA8"/>
                </a:solidFill>
                <a:latin typeface="PingFang SC"/>
                <a:ea typeface="PingFang SC"/>
                <a:cs typeface="PingFang SC"/>
              </a:defRPr>
            </a:lvl1pPr>
            <a:lvl2pPr algn="ctr">
              <a:defRPr sz="2250" b="1">
                <a:solidFill>
                  <a:srgbClr val="477FA8"/>
                </a:solidFill>
                <a:latin typeface="PingFang SC"/>
                <a:ea typeface="PingFang SC"/>
                <a:cs typeface="PingFang SC"/>
              </a:defRPr>
            </a:lvl2pPr>
            <a:lvl3pPr algn="ctr">
              <a:defRPr sz="2250" b="1">
                <a:solidFill>
                  <a:srgbClr val="477FA8"/>
                </a:solidFill>
                <a:latin typeface="PingFang SC"/>
                <a:ea typeface="PingFang SC"/>
                <a:cs typeface="PingFang SC"/>
              </a:defRPr>
            </a:lvl3pPr>
            <a:lvl4pPr algn="ctr">
              <a:defRPr sz="2250" b="1">
                <a:solidFill>
                  <a:srgbClr val="477FA8"/>
                </a:solidFill>
                <a:latin typeface="PingFang SC"/>
                <a:ea typeface="PingFang SC"/>
                <a:cs typeface="PingFang SC"/>
              </a:defRPr>
            </a:lvl4pPr>
            <a:lvl5pPr algn="ctr">
              <a:defRPr sz="2250" b="1">
                <a:solidFill>
                  <a:srgbClr val="477FA8"/>
                </a:solidFill>
                <a:latin typeface="PingFang SC"/>
                <a:ea typeface="PingFang SC"/>
                <a:cs typeface="PingFang SC"/>
              </a:defRPr>
            </a:lvl5pPr>
            <a:lvl6pPr algn="ctr">
              <a:defRPr sz="2250" b="1">
                <a:solidFill>
                  <a:srgbClr val="477FA8"/>
                </a:solidFill>
                <a:latin typeface="PingFang SC"/>
                <a:ea typeface="PingFang SC"/>
                <a:cs typeface="PingFang SC"/>
              </a:defRPr>
            </a:lvl6pPr>
            <a:lvl7pPr algn="ctr">
              <a:defRPr sz="2250" b="1">
                <a:solidFill>
                  <a:srgbClr val="477FA8"/>
                </a:solidFill>
                <a:latin typeface="PingFang SC"/>
                <a:ea typeface="PingFang SC"/>
                <a:cs typeface="PingFang SC"/>
              </a:defRPr>
            </a:lvl7pPr>
            <a:lvl8pPr algn="ctr">
              <a:defRPr sz="2250" b="1">
                <a:solidFill>
                  <a:srgbClr val="477FA8"/>
                </a:solidFill>
                <a:latin typeface="PingFang SC"/>
                <a:ea typeface="PingFang SC"/>
                <a:cs typeface="PingFang SC"/>
              </a:defRPr>
            </a:lvl8pPr>
            <a:lvl9pPr algn="ctr">
              <a:defRPr sz="2250" b="1">
                <a:solidFill>
                  <a:srgbClr val="477FA8"/>
                </a:solidFill>
                <a:latin typeface="PingFang SC"/>
                <a:ea typeface="PingFang SC"/>
                <a:cs typeface="PingFang SC"/>
              </a:defRPr>
            </a:lvl9pPr>
          </a:lstStyle>
          <a:p xmlns:a="http://schemas.openxmlformats.org/drawingml/2006/main">
            <a:pPr algn="ctr">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流程</a:t>
            </a:r>
          </a:p>
        </p:txBody>
      </p:sp>
      <p:sp>
        <p:nvSpPr>
          <p:cNvPr id="20" name="">
            <a:extLst xmlns:a="http://schemas.openxmlformats.org/drawingml/2006/main">
              <a:ext uri="{FF2B5EF4-FFF2-40B4-BE49-F238E27FC236}">
                <a16:creationId xmlns:a16="http://schemas.microsoft.com/office/drawing/2014/main" id="{070720C3-56D5-478D-BB61-7AE549CB3741}"/>
              </a:ext>
            </a:extLst>
          </p:cNvPr>
          <p:cNvSpPr>
            <a:spLocks xmlns:a="http://schemas.openxmlformats.org/drawingml/2006/main" noGrp="1"/>
          </p:cNvSpPr>
          <p:nvPr/>
        </p:nvSpPr>
        <p:spPr>
          <a:xfrm xmlns:a="http://schemas.openxmlformats.org/drawingml/2006/main">
            <a:off x="3714750" y="495300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0">
                <a:solidFill>
                  <a:srgbClr val="17334D"/>
                </a:solidFill>
                <a:latin typeface="PingFang SC"/>
                <a:ea typeface="PingFang SC"/>
                <a:cs typeface="PingFang SC"/>
              </a:defRPr>
            </a:defPPr>
            <a:lvl1pPr algn="ctr">
              <a:defRPr sz="1800" b="0">
                <a:solidFill>
                  <a:srgbClr val="17334D"/>
                </a:solidFill>
                <a:latin typeface="PingFang SC"/>
                <a:ea typeface="PingFang SC"/>
                <a:cs typeface="PingFang SC"/>
              </a:defRPr>
            </a:lvl1pPr>
            <a:lvl2pPr algn="ctr">
              <a:defRPr sz="1800" b="0">
                <a:solidFill>
                  <a:srgbClr val="17334D"/>
                </a:solidFill>
                <a:latin typeface="PingFang SC"/>
                <a:ea typeface="PingFang SC"/>
                <a:cs typeface="PingFang SC"/>
              </a:defRPr>
            </a:lvl2pPr>
            <a:lvl3pPr algn="ctr">
              <a:defRPr sz="1800" b="0">
                <a:solidFill>
                  <a:srgbClr val="17334D"/>
                </a:solidFill>
                <a:latin typeface="PingFang SC"/>
                <a:ea typeface="PingFang SC"/>
                <a:cs typeface="PingFang SC"/>
              </a:defRPr>
            </a:lvl3pPr>
            <a:lvl4pPr algn="ctr">
              <a:defRPr sz="1800" b="0">
                <a:solidFill>
                  <a:srgbClr val="17334D"/>
                </a:solidFill>
                <a:latin typeface="PingFang SC"/>
                <a:ea typeface="PingFang SC"/>
                <a:cs typeface="PingFang SC"/>
              </a:defRPr>
            </a:lvl4pPr>
            <a:lvl5pPr algn="ctr">
              <a:defRPr sz="1800" b="0">
                <a:solidFill>
                  <a:srgbClr val="17334D"/>
                </a:solidFill>
                <a:latin typeface="PingFang SC"/>
                <a:ea typeface="PingFang SC"/>
                <a:cs typeface="PingFang SC"/>
              </a:defRPr>
            </a:lvl5pPr>
            <a:lvl6pPr algn="ctr">
              <a:defRPr sz="1800" b="0">
                <a:solidFill>
                  <a:srgbClr val="17334D"/>
                </a:solidFill>
                <a:latin typeface="PingFang SC"/>
                <a:ea typeface="PingFang SC"/>
                <a:cs typeface="PingFang SC"/>
              </a:defRPr>
            </a:lvl6pPr>
            <a:lvl7pPr algn="ctr">
              <a:defRPr sz="1800" b="0">
                <a:solidFill>
                  <a:srgbClr val="17334D"/>
                </a:solidFill>
                <a:latin typeface="PingFang SC"/>
                <a:ea typeface="PingFang SC"/>
                <a:cs typeface="PingFang SC"/>
              </a:defRPr>
            </a:lvl7pPr>
            <a:lvl8pPr algn="ctr">
              <a:defRPr sz="1800" b="0">
                <a:solidFill>
                  <a:srgbClr val="17334D"/>
                </a:solidFill>
                <a:latin typeface="PingFang SC"/>
                <a:ea typeface="PingFang SC"/>
                <a:cs typeface="PingFang SC"/>
              </a:defRPr>
            </a:lvl8pPr>
            <a:lvl9pPr algn="ctr">
              <a:defRPr sz="1800" b="0">
                <a:solidFill>
                  <a:srgbClr val="17334D"/>
                </a:solidFill>
                <a:latin typeface="PingFang SC"/>
                <a:ea typeface="PingFang SC"/>
                <a:cs typeface="PingFang SC"/>
              </a:defRPr>
            </a:lvl9pPr>
          </a:lstStyle>
          <a:p xmlns:a="http://schemas.openxmlformats.org/drawingml/2006/main">
            <a:pPr algn="ctr">
              <a:defRPr sz="1800" b="0">
                <a:solidFill>
                  <a:srgbClr val="17334D"/>
                </a:solidFill>
                <a:latin typeface="PingFang SC"/>
                <a:ea typeface="PingFang SC"/>
                <a:cs typeface="PingFang SC"/>
              </a:defRPr>
            </a:pPr>
            <a:r>
              <a:rPr sz="1800" b="0">
                <a:solidFill>
                  <a:srgbClr val="17334D"/>
                </a:solidFill>
                <a:latin typeface="PingFang SC"/>
                <a:ea typeface="PingFang SC"/>
                <a:cs typeface="PingFang SC"/>
              </a:rPr>
              <a:t>异常没有明确责任</a:t>
            </a:r>
          </a:p>
        </p:txBody>
      </p:sp>
      <p:sp>
        <p:nvSpPr>
          <p:cNvPr id="21" name="">
            <a:extLst xmlns:a="http://schemas.openxmlformats.org/drawingml/2006/main">
              <a:ext uri="{FF2B5EF4-FFF2-40B4-BE49-F238E27FC236}">
                <a16:creationId xmlns:a16="http://schemas.microsoft.com/office/drawing/2014/main" id="{C01C618C-5EDE-4F59-98A4-FAC87D61A65B}"/>
              </a:ext>
            </a:extLst>
          </p:cNvPr>
          <p:cNvSpPr>
            <a:spLocks xmlns:a="http://schemas.openxmlformats.org/drawingml/2006/main" noGrp="1"/>
          </p:cNvSpPr>
          <p:nvPr/>
        </p:nvSpPr>
        <p:spPr>
          <a:xfrm xmlns:a="http://schemas.openxmlformats.org/drawingml/2006/main" flipV="1">
            <a:off x="4905375" y="3714750"/>
            <a:ext cx="904875" cy="695325"/>
          </a:xfrm>
          <a:prstGeom xmlns:a="http://schemas.openxmlformats.org/drawingml/2006/main" prst="line">
            <a:avLst/>
          </a:prstGeom>
          <a:noFill xmlns:a="http://schemas.openxmlformats.org/drawingml/2006/main"/>
          <a:ln xmlns:a="http://schemas.openxmlformats.org/drawingml/2006/main" w="19050">
            <a:solidFill>
              <a:srgbClr val="477FA8"/>
            </a:solidFill>
          </a:ln>
        </p:spPr>
      </p:sp>
      <p:sp>
        <p:nvSpPr>
          <p:cNvPr id="22" name="">
            <a:extLst xmlns:a="http://schemas.openxmlformats.org/drawingml/2006/main">
              <a:ext uri="{FF2B5EF4-FFF2-40B4-BE49-F238E27FC236}">
                <a16:creationId xmlns:a16="http://schemas.microsoft.com/office/drawing/2014/main" id="{A19390C9-E192-44E1-BDAD-310B636B117D}"/>
              </a:ext>
            </a:extLst>
          </p:cNvPr>
          <p:cNvSpPr>
            <a:spLocks xmlns:a="http://schemas.openxmlformats.org/drawingml/2006/main" noGrp="1"/>
          </p:cNvSpPr>
          <p:nvPr/>
        </p:nvSpPr>
        <p:spPr>
          <a:xfrm xmlns:a="http://schemas.openxmlformats.org/drawingml/2006/main">
            <a:off x="6477000" y="449580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250" b="1">
                <a:solidFill>
                  <a:srgbClr val="477FA8"/>
                </a:solidFill>
                <a:latin typeface="PingFang SC"/>
                <a:ea typeface="PingFang SC"/>
                <a:cs typeface="PingFang SC"/>
              </a:defRPr>
            </a:defPPr>
            <a:lvl1pPr algn="ctr">
              <a:defRPr sz="2250" b="1">
                <a:solidFill>
                  <a:srgbClr val="477FA8"/>
                </a:solidFill>
                <a:latin typeface="PingFang SC"/>
                <a:ea typeface="PingFang SC"/>
                <a:cs typeface="PingFang SC"/>
              </a:defRPr>
            </a:lvl1pPr>
            <a:lvl2pPr algn="ctr">
              <a:defRPr sz="2250" b="1">
                <a:solidFill>
                  <a:srgbClr val="477FA8"/>
                </a:solidFill>
                <a:latin typeface="PingFang SC"/>
                <a:ea typeface="PingFang SC"/>
                <a:cs typeface="PingFang SC"/>
              </a:defRPr>
            </a:lvl2pPr>
            <a:lvl3pPr algn="ctr">
              <a:defRPr sz="2250" b="1">
                <a:solidFill>
                  <a:srgbClr val="477FA8"/>
                </a:solidFill>
                <a:latin typeface="PingFang SC"/>
                <a:ea typeface="PingFang SC"/>
                <a:cs typeface="PingFang SC"/>
              </a:defRPr>
            </a:lvl3pPr>
            <a:lvl4pPr algn="ctr">
              <a:defRPr sz="2250" b="1">
                <a:solidFill>
                  <a:srgbClr val="477FA8"/>
                </a:solidFill>
                <a:latin typeface="PingFang SC"/>
                <a:ea typeface="PingFang SC"/>
                <a:cs typeface="PingFang SC"/>
              </a:defRPr>
            </a:lvl4pPr>
            <a:lvl5pPr algn="ctr">
              <a:defRPr sz="2250" b="1">
                <a:solidFill>
                  <a:srgbClr val="477FA8"/>
                </a:solidFill>
                <a:latin typeface="PingFang SC"/>
                <a:ea typeface="PingFang SC"/>
                <a:cs typeface="PingFang SC"/>
              </a:defRPr>
            </a:lvl5pPr>
            <a:lvl6pPr algn="ctr">
              <a:defRPr sz="2250" b="1">
                <a:solidFill>
                  <a:srgbClr val="477FA8"/>
                </a:solidFill>
                <a:latin typeface="PingFang SC"/>
                <a:ea typeface="PingFang SC"/>
                <a:cs typeface="PingFang SC"/>
              </a:defRPr>
            </a:lvl6pPr>
            <a:lvl7pPr algn="ctr">
              <a:defRPr sz="2250" b="1">
                <a:solidFill>
                  <a:srgbClr val="477FA8"/>
                </a:solidFill>
                <a:latin typeface="PingFang SC"/>
                <a:ea typeface="PingFang SC"/>
                <a:cs typeface="PingFang SC"/>
              </a:defRPr>
            </a:lvl7pPr>
            <a:lvl8pPr algn="ctr">
              <a:defRPr sz="2250" b="1">
                <a:solidFill>
                  <a:srgbClr val="477FA8"/>
                </a:solidFill>
                <a:latin typeface="PingFang SC"/>
                <a:ea typeface="PingFang SC"/>
                <a:cs typeface="PingFang SC"/>
              </a:defRPr>
            </a:lvl8pPr>
            <a:lvl9pPr algn="ctr">
              <a:defRPr sz="2250" b="1">
                <a:solidFill>
                  <a:srgbClr val="477FA8"/>
                </a:solidFill>
                <a:latin typeface="PingFang SC"/>
                <a:ea typeface="PingFang SC"/>
                <a:cs typeface="PingFang SC"/>
              </a:defRPr>
            </a:lvl9pPr>
          </a:lstStyle>
          <a:p xmlns:a="http://schemas.openxmlformats.org/drawingml/2006/main">
            <a:pPr algn="ctr">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协同</a:t>
            </a:r>
          </a:p>
        </p:txBody>
      </p:sp>
      <p:sp>
        <p:nvSpPr>
          <p:cNvPr id="23" name="">
            <a:extLst xmlns:a="http://schemas.openxmlformats.org/drawingml/2006/main">
              <a:ext uri="{FF2B5EF4-FFF2-40B4-BE49-F238E27FC236}">
                <a16:creationId xmlns:a16="http://schemas.microsoft.com/office/drawing/2014/main" id="{DB2C4B40-0ACD-436C-BF0E-9EBD6FEA4924}"/>
              </a:ext>
            </a:extLst>
          </p:cNvPr>
          <p:cNvSpPr>
            <a:spLocks xmlns:a="http://schemas.openxmlformats.org/drawingml/2006/main" noGrp="1"/>
          </p:cNvSpPr>
          <p:nvPr/>
        </p:nvSpPr>
        <p:spPr>
          <a:xfrm xmlns:a="http://schemas.openxmlformats.org/drawingml/2006/main">
            <a:off x="6477000" y="495300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0">
                <a:solidFill>
                  <a:srgbClr val="17334D"/>
                </a:solidFill>
                <a:latin typeface="PingFang SC"/>
                <a:ea typeface="PingFang SC"/>
                <a:cs typeface="PingFang SC"/>
              </a:defRPr>
            </a:defPPr>
            <a:lvl1pPr algn="ctr">
              <a:defRPr sz="1800" b="0">
                <a:solidFill>
                  <a:srgbClr val="17334D"/>
                </a:solidFill>
                <a:latin typeface="PingFang SC"/>
                <a:ea typeface="PingFang SC"/>
                <a:cs typeface="PingFang SC"/>
              </a:defRPr>
            </a:lvl1pPr>
            <a:lvl2pPr algn="ctr">
              <a:defRPr sz="1800" b="0">
                <a:solidFill>
                  <a:srgbClr val="17334D"/>
                </a:solidFill>
                <a:latin typeface="PingFang SC"/>
                <a:ea typeface="PingFang SC"/>
                <a:cs typeface="PingFang SC"/>
              </a:defRPr>
            </a:lvl2pPr>
            <a:lvl3pPr algn="ctr">
              <a:defRPr sz="1800" b="0">
                <a:solidFill>
                  <a:srgbClr val="17334D"/>
                </a:solidFill>
                <a:latin typeface="PingFang SC"/>
                <a:ea typeface="PingFang SC"/>
                <a:cs typeface="PingFang SC"/>
              </a:defRPr>
            </a:lvl3pPr>
            <a:lvl4pPr algn="ctr">
              <a:defRPr sz="1800" b="0">
                <a:solidFill>
                  <a:srgbClr val="17334D"/>
                </a:solidFill>
                <a:latin typeface="PingFang SC"/>
                <a:ea typeface="PingFang SC"/>
                <a:cs typeface="PingFang SC"/>
              </a:defRPr>
            </a:lvl4pPr>
            <a:lvl5pPr algn="ctr">
              <a:defRPr sz="1800" b="0">
                <a:solidFill>
                  <a:srgbClr val="17334D"/>
                </a:solidFill>
                <a:latin typeface="PingFang SC"/>
                <a:ea typeface="PingFang SC"/>
                <a:cs typeface="PingFang SC"/>
              </a:defRPr>
            </a:lvl5pPr>
            <a:lvl6pPr algn="ctr">
              <a:defRPr sz="1800" b="0">
                <a:solidFill>
                  <a:srgbClr val="17334D"/>
                </a:solidFill>
                <a:latin typeface="PingFang SC"/>
                <a:ea typeface="PingFang SC"/>
                <a:cs typeface="PingFang SC"/>
              </a:defRPr>
            </a:lvl6pPr>
            <a:lvl7pPr algn="ctr">
              <a:defRPr sz="1800" b="0">
                <a:solidFill>
                  <a:srgbClr val="17334D"/>
                </a:solidFill>
                <a:latin typeface="PingFang SC"/>
                <a:ea typeface="PingFang SC"/>
                <a:cs typeface="PingFang SC"/>
              </a:defRPr>
            </a:lvl7pPr>
            <a:lvl8pPr algn="ctr">
              <a:defRPr sz="1800" b="0">
                <a:solidFill>
                  <a:srgbClr val="17334D"/>
                </a:solidFill>
                <a:latin typeface="PingFang SC"/>
                <a:ea typeface="PingFang SC"/>
                <a:cs typeface="PingFang SC"/>
              </a:defRPr>
            </a:lvl8pPr>
            <a:lvl9pPr algn="ctr">
              <a:defRPr sz="1800" b="0">
                <a:solidFill>
                  <a:srgbClr val="17334D"/>
                </a:solidFill>
                <a:latin typeface="PingFang SC"/>
                <a:ea typeface="PingFang SC"/>
                <a:cs typeface="PingFang SC"/>
              </a:defRPr>
            </a:lvl9pPr>
          </a:lstStyle>
          <a:p xmlns:a="http://schemas.openxmlformats.org/drawingml/2006/main">
            <a:pPr algn="ctr">
              <a:defRPr sz="1800" b="0">
                <a:solidFill>
                  <a:srgbClr val="17334D"/>
                </a:solidFill>
                <a:latin typeface="PingFang SC"/>
                <a:ea typeface="PingFang SC"/>
                <a:cs typeface="PingFang SC"/>
              </a:defRPr>
            </a:pPr>
            <a:r>
              <a:rPr sz="1800" b="0">
                <a:solidFill>
                  <a:srgbClr val="17334D"/>
                </a:solidFill>
                <a:latin typeface="PingFang SC"/>
                <a:ea typeface="PingFang SC"/>
                <a:cs typeface="PingFang SC"/>
              </a:rPr>
              <a:t>工程或计划信息滞后</a:t>
            </a:r>
          </a:p>
        </p:txBody>
      </p:sp>
      <p:sp>
        <p:nvSpPr>
          <p:cNvPr id="24" name="">
            <a:extLst xmlns:a="http://schemas.openxmlformats.org/drawingml/2006/main">
              <a:ext uri="{FF2B5EF4-FFF2-40B4-BE49-F238E27FC236}">
                <a16:creationId xmlns:a16="http://schemas.microsoft.com/office/drawing/2014/main" id="{AF727954-C4DB-421E-AD05-4CAA2CA0055D}"/>
              </a:ext>
            </a:extLst>
          </p:cNvPr>
          <p:cNvSpPr>
            <a:spLocks xmlns:a="http://schemas.openxmlformats.org/drawingml/2006/main" noGrp="1"/>
          </p:cNvSpPr>
          <p:nvPr/>
        </p:nvSpPr>
        <p:spPr>
          <a:xfrm xmlns:a="http://schemas.openxmlformats.org/drawingml/2006/main" flipV="1">
            <a:off x="7667625" y="3714750"/>
            <a:ext cx="904875" cy="695325"/>
          </a:xfrm>
          <a:prstGeom xmlns:a="http://schemas.openxmlformats.org/drawingml/2006/main" prst="line">
            <a:avLst/>
          </a:prstGeom>
          <a:noFill xmlns:a="http://schemas.openxmlformats.org/drawingml/2006/main"/>
          <a:ln xmlns:a="http://schemas.openxmlformats.org/drawingml/2006/main" w="19050">
            <a:solidFill>
              <a:srgbClr val="477FA8"/>
            </a:solidFill>
          </a:ln>
        </p:spPr>
      </p:sp>
      <p:sp>
        <p:nvSpPr>
          <p:cNvPr id="25" name="">
            <a:extLst xmlns:a="http://schemas.openxmlformats.org/drawingml/2006/main">
              <a:ext uri="{FF2B5EF4-FFF2-40B4-BE49-F238E27FC236}">
                <a16:creationId xmlns:a16="http://schemas.microsoft.com/office/drawing/2014/main" id="{2E43467F-E14E-42AD-9CCA-5083EBB64B41}"/>
              </a:ext>
            </a:extLst>
          </p:cNvPr>
          <p:cNvSpPr>
            <a:spLocks xmlns:a="http://schemas.openxmlformats.org/drawingml/2006/main" noGrp="1"/>
          </p:cNvSpPr>
          <p:nvPr/>
        </p:nvSpPr>
        <p:spPr>
          <a:xfrm xmlns:a="http://schemas.openxmlformats.org/drawingml/2006/main">
            <a:off x="628650" y="57721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1">
                <a:solidFill>
                  <a:srgbClr val="477FA8"/>
                </a:solidFill>
                <a:latin typeface="PingFang SC"/>
                <a:ea typeface="PingFang SC"/>
                <a:cs typeface="PingFang SC"/>
              </a:defRPr>
            </a:defPPr>
            <a:lvl1pPr algn="l">
              <a:defRPr sz="2025" b="1">
                <a:solidFill>
                  <a:srgbClr val="477FA8"/>
                </a:solidFill>
                <a:latin typeface="PingFang SC"/>
                <a:ea typeface="PingFang SC"/>
                <a:cs typeface="PingFang SC"/>
              </a:defRPr>
            </a:lvl1pPr>
            <a:lvl2pPr algn="l">
              <a:defRPr sz="2025" b="1">
                <a:solidFill>
                  <a:srgbClr val="477FA8"/>
                </a:solidFill>
                <a:latin typeface="PingFang SC"/>
                <a:ea typeface="PingFang SC"/>
                <a:cs typeface="PingFang SC"/>
              </a:defRPr>
            </a:lvl2pPr>
            <a:lvl3pPr algn="l">
              <a:defRPr sz="2025" b="1">
                <a:solidFill>
                  <a:srgbClr val="477FA8"/>
                </a:solidFill>
                <a:latin typeface="PingFang SC"/>
                <a:ea typeface="PingFang SC"/>
                <a:cs typeface="PingFang SC"/>
              </a:defRPr>
            </a:lvl3pPr>
            <a:lvl4pPr algn="l">
              <a:defRPr sz="2025" b="1">
                <a:solidFill>
                  <a:srgbClr val="477FA8"/>
                </a:solidFill>
                <a:latin typeface="PingFang SC"/>
                <a:ea typeface="PingFang SC"/>
                <a:cs typeface="PingFang SC"/>
              </a:defRPr>
            </a:lvl4pPr>
            <a:lvl5pPr algn="l">
              <a:defRPr sz="2025" b="1">
                <a:solidFill>
                  <a:srgbClr val="477FA8"/>
                </a:solidFill>
                <a:latin typeface="PingFang SC"/>
                <a:ea typeface="PingFang SC"/>
                <a:cs typeface="PingFang SC"/>
              </a:defRPr>
            </a:lvl5pPr>
            <a:lvl6pPr algn="l">
              <a:defRPr sz="2025" b="1">
                <a:solidFill>
                  <a:srgbClr val="477FA8"/>
                </a:solidFill>
                <a:latin typeface="PingFang SC"/>
                <a:ea typeface="PingFang SC"/>
                <a:cs typeface="PingFang SC"/>
              </a:defRPr>
            </a:lvl6pPr>
            <a:lvl7pPr algn="l">
              <a:defRPr sz="2025" b="1">
                <a:solidFill>
                  <a:srgbClr val="477FA8"/>
                </a:solidFill>
                <a:latin typeface="PingFang SC"/>
                <a:ea typeface="PingFang SC"/>
                <a:cs typeface="PingFang SC"/>
              </a:defRPr>
            </a:lvl7pPr>
            <a:lvl8pPr algn="l">
              <a:defRPr sz="2025" b="1">
                <a:solidFill>
                  <a:srgbClr val="477FA8"/>
                </a:solidFill>
                <a:latin typeface="PingFang SC"/>
                <a:ea typeface="PingFang SC"/>
                <a:cs typeface="PingFang SC"/>
              </a:defRPr>
            </a:lvl8pPr>
            <a:lvl9pPr algn="l">
              <a:defRPr sz="2025" b="1">
                <a:solidFill>
                  <a:srgbClr val="477FA8"/>
                </a:solidFill>
                <a:latin typeface="PingFang SC"/>
                <a:ea typeface="PingFang SC"/>
                <a:cs typeface="PingFang SC"/>
              </a:defRPr>
            </a:lvl9pPr>
          </a:lstStyle>
          <a:p xmlns:a="http://schemas.openxmlformats.org/drawingml/2006/main">
            <a:pPr algn="l">
              <a:defRPr sz="2025" b="1">
                <a:solidFill>
                  <a:srgbClr val="477FA8"/>
                </a:solidFill>
                <a:latin typeface="PingFang SC"/>
                <a:ea typeface="PingFang SC"/>
                <a:cs typeface="PingFang SC"/>
              </a:defRPr>
            </a:pPr>
            <a:r>
              <a:rPr sz="2025" b="1">
                <a:solidFill>
                  <a:srgbClr val="477FA8"/>
                </a:solidFill>
                <a:latin typeface="PingFang SC"/>
                <a:ea typeface="PingFang SC"/>
                <a:cs typeface="PingFang SC"/>
              </a:rPr>
              <a:t>讨论：哪一条原因最有证据？还需要核对哪份记录？</a:t>
            </a:r>
          </a:p>
        </p:txBody>
      </p:sp>
    </p:spTree>
    <p:extLst>
      <p:ext uri="{BB962C8B-B14F-4D97-AF65-F5344CB8AC3E}">
        <p14:creationId xmlns:p14="http://schemas.microsoft.com/office/powerpoint/2010/main" val="199856786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25D8CD4-772A-4BFB-AFF5-02806FF60F56}"/>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小组诊断：形成一张问题与根因表</a:t>
            </a:r>
          </a:p>
        </p:txBody>
      </p:sp>
      <p:sp>
        <p:nvSpPr>
          <p:cNvPr id="2" name="">
            <a:extLst xmlns:a="http://schemas.openxmlformats.org/drawingml/2006/main">
              <a:ext uri="{FF2B5EF4-FFF2-40B4-BE49-F238E27FC236}">
                <a16:creationId xmlns:a16="http://schemas.microsoft.com/office/drawing/2014/main" id="{6E65E485-B436-4343-AAC9-BFC025B589D7}"/>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本环节22分钟，先讨论，再由各组汇报</a:t>
            </a:r>
          </a:p>
        </p:txBody>
      </p:sp>
      <p:sp>
        <p:nvSpPr>
          <p:cNvPr id="3" name="">
            <a:extLst xmlns:a="http://schemas.openxmlformats.org/drawingml/2006/main">
              <a:ext uri="{FF2B5EF4-FFF2-40B4-BE49-F238E27FC236}">
                <a16:creationId xmlns:a16="http://schemas.microsoft.com/office/drawing/2014/main" id="{781B5EC5-9DFA-466F-9B9A-01300A55F3E2}"/>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导入与问题诊断  22分钟</a:t>
            </a:r>
          </a:p>
        </p:txBody>
      </p:sp>
      <p:sp>
        <p:nvSpPr>
          <p:cNvPr id="4" name="">
            <a:extLst xmlns:a="http://schemas.openxmlformats.org/drawingml/2006/main">
              <a:ext uri="{FF2B5EF4-FFF2-40B4-BE49-F238E27FC236}">
                <a16:creationId xmlns:a16="http://schemas.microsoft.com/office/drawing/2014/main" id="{043F524A-5CD4-45C6-998D-56A2CD5417C0}"/>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11 / 94</a:t>
            </a:r>
          </a:p>
        </p:txBody>
      </p:sp>
      <p:sp>
        <p:nvSpPr>
          <p:cNvPr id="5" name="">
            <a:extLst xmlns:a="http://schemas.openxmlformats.org/drawingml/2006/main">
              <a:ext uri="{FF2B5EF4-FFF2-40B4-BE49-F238E27FC236}">
                <a16:creationId xmlns:a16="http://schemas.microsoft.com/office/drawing/2014/main" id="{CBEC0506-781C-4F3A-BE42-6A37E8FA4E96}"/>
              </a:ext>
            </a:extLst>
          </p:cNvPr>
          <p:cNvSpPr>
            <a:spLocks xmlns:a="http://schemas.openxmlformats.org/drawingml/2006/main" noGrp="1"/>
          </p:cNvSpPr>
          <p:nvPr/>
        </p:nvSpPr>
        <p:spPr>
          <a:xfrm xmlns:a="http://schemas.openxmlformats.org/drawingml/2006/main">
            <a:off x="609600" y="17526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讨论与操作</a:t>
            </a:r>
          </a:p>
        </p:txBody>
      </p:sp>
      <p:sp>
        <p:nvSpPr>
          <p:cNvPr id="6" name="">
            <a:extLst xmlns:a="http://schemas.openxmlformats.org/drawingml/2006/main">
              <a:ext uri="{FF2B5EF4-FFF2-40B4-BE49-F238E27FC236}">
                <a16:creationId xmlns:a16="http://schemas.microsoft.com/office/drawing/2014/main" id="{3F1EA681-3B9B-41F3-AFE7-64F7ED677418}"/>
              </a:ext>
            </a:extLst>
          </p:cNvPr>
          <p:cNvSpPr>
            <a:spLocks xmlns:a="http://schemas.openxmlformats.org/drawingml/2006/main" noGrp="1"/>
          </p:cNvSpPr>
          <p:nvPr/>
        </p:nvSpPr>
        <p:spPr>
          <a:xfrm xmlns:a="http://schemas.openxmlformats.org/drawingml/2006/main">
            <a:off x="609600" y="2476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01</a:t>
            </a:r>
          </a:p>
        </p:txBody>
      </p:sp>
      <p:sp>
        <p:nvSpPr>
          <p:cNvPr id="7" name="">
            <a:extLst xmlns:a="http://schemas.openxmlformats.org/drawingml/2006/main">
              <a:ext uri="{FF2B5EF4-FFF2-40B4-BE49-F238E27FC236}">
                <a16:creationId xmlns:a16="http://schemas.microsoft.com/office/drawing/2014/main" id="{968DC0A7-A9A2-400E-8874-5412F3DA4E90}"/>
              </a:ext>
            </a:extLst>
          </p:cNvPr>
          <p:cNvSpPr>
            <a:spLocks xmlns:a="http://schemas.openxmlformats.org/drawingml/2006/main" noGrp="1"/>
          </p:cNvSpPr>
          <p:nvPr/>
        </p:nvSpPr>
        <p:spPr>
          <a:xfrm xmlns:a="http://schemas.openxmlformats.org/drawingml/2006/main">
            <a:off x="1476375" y="23526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选择一个交付相关问题</a:t>
            </a:r>
          </a:p>
        </p:txBody>
      </p:sp>
      <p:sp>
        <p:nvSpPr>
          <p:cNvPr id="8" name="">
            <a:extLst xmlns:a="http://schemas.openxmlformats.org/drawingml/2006/main">
              <a:ext uri="{FF2B5EF4-FFF2-40B4-BE49-F238E27FC236}">
                <a16:creationId xmlns:a16="http://schemas.microsoft.com/office/drawing/2014/main" id="{D0EDB211-9B69-4A1F-B6BB-E4AF6A7C5D22}"/>
              </a:ext>
            </a:extLst>
          </p:cNvPr>
          <p:cNvSpPr>
            <a:spLocks xmlns:a="http://schemas.openxmlformats.org/drawingml/2006/main" noGrp="1"/>
          </p:cNvSpPr>
          <p:nvPr/>
        </p:nvSpPr>
        <p:spPr>
          <a:xfrm xmlns:a="http://schemas.openxmlformats.org/drawingml/2006/main">
            <a:off x="609600" y="35814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02</a:t>
            </a:r>
          </a:p>
        </p:txBody>
      </p:sp>
      <p:sp>
        <p:nvSpPr>
          <p:cNvPr id="9" name="">
            <a:extLst xmlns:a="http://schemas.openxmlformats.org/drawingml/2006/main">
              <a:ext uri="{FF2B5EF4-FFF2-40B4-BE49-F238E27FC236}">
                <a16:creationId xmlns:a16="http://schemas.microsoft.com/office/drawing/2014/main" id="{DA261651-D95A-4C20-8147-BE09690DE2E6}"/>
              </a:ext>
            </a:extLst>
          </p:cNvPr>
          <p:cNvSpPr>
            <a:spLocks xmlns:a="http://schemas.openxmlformats.org/drawingml/2006/main" noGrp="1"/>
          </p:cNvSpPr>
          <p:nvPr/>
        </p:nvSpPr>
        <p:spPr>
          <a:xfrm xmlns:a="http://schemas.openxmlformats.org/drawingml/2006/main">
            <a:off x="1476375" y="34575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画出需求到到货的时间线</a:t>
            </a:r>
          </a:p>
        </p:txBody>
      </p:sp>
      <p:sp>
        <p:nvSpPr>
          <p:cNvPr id="10" name="">
            <a:extLst xmlns:a="http://schemas.openxmlformats.org/drawingml/2006/main">
              <a:ext uri="{FF2B5EF4-FFF2-40B4-BE49-F238E27FC236}">
                <a16:creationId xmlns:a16="http://schemas.microsoft.com/office/drawing/2014/main" id="{D85CA3A1-1CB7-4196-9AA0-05B06D304DDF}"/>
              </a:ext>
            </a:extLst>
          </p:cNvPr>
          <p:cNvSpPr>
            <a:spLocks xmlns:a="http://schemas.openxmlformats.org/drawingml/2006/main" noGrp="1"/>
          </p:cNvSpPr>
          <p:nvPr/>
        </p:nvSpPr>
        <p:spPr>
          <a:xfrm xmlns:a="http://schemas.openxmlformats.org/drawingml/2006/main">
            <a:off x="609600" y="4686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03</a:t>
            </a:r>
          </a:p>
        </p:txBody>
      </p:sp>
      <p:sp>
        <p:nvSpPr>
          <p:cNvPr id="11" name="">
            <a:extLst xmlns:a="http://schemas.openxmlformats.org/drawingml/2006/main">
              <a:ext uri="{FF2B5EF4-FFF2-40B4-BE49-F238E27FC236}">
                <a16:creationId xmlns:a16="http://schemas.microsoft.com/office/drawing/2014/main" id="{19AE8E1C-E725-46F6-8FAE-887C7ABCD6C4}"/>
              </a:ext>
            </a:extLst>
          </p:cNvPr>
          <p:cNvSpPr>
            <a:spLocks xmlns:a="http://schemas.openxmlformats.org/drawingml/2006/main" noGrp="1"/>
          </p:cNvSpPr>
          <p:nvPr/>
        </p:nvSpPr>
        <p:spPr>
          <a:xfrm xmlns:a="http://schemas.openxmlformats.org/drawingml/2006/main">
            <a:off x="1476375" y="45624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列出两条根因假设及所需证据</a:t>
            </a:r>
          </a:p>
        </p:txBody>
      </p:sp>
      <p:sp>
        <p:nvSpPr>
          <p:cNvPr id="12" name="">
            <a:extLst xmlns:a="http://schemas.openxmlformats.org/drawingml/2006/main">
              <a:ext uri="{FF2B5EF4-FFF2-40B4-BE49-F238E27FC236}">
                <a16:creationId xmlns:a16="http://schemas.microsoft.com/office/drawing/2014/main" id="{01DEEFFF-1864-4773-B7EF-24F210F356E6}"/>
              </a:ext>
            </a:extLst>
          </p:cNvPr>
          <p:cNvSpPr>
            <a:spLocks xmlns:a="http://schemas.openxmlformats.org/drawingml/2006/main" noGrp="1"/>
          </p:cNvSpPr>
          <p:nvPr/>
        </p:nvSpPr>
        <p:spPr>
          <a:xfrm xmlns:a="http://schemas.openxmlformats.org/drawingml/2006/main">
            <a:off x="7943850" y="17526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本次输出</a:t>
            </a:r>
          </a:p>
        </p:txBody>
      </p:sp>
      <p:sp>
        <p:nvSpPr>
          <p:cNvPr id="13" name="">
            <a:extLst xmlns:a="http://schemas.openxmlformats.org/drawingml/2006/main">
              <a:ext uri="{FF2B5EF4-FFF2-40B4-BE49-F238E27FC236}">
                <a16:creationId xmlns:a16="http://schemas.microsoft.com/office/drawing/2014/main" id="{CFF21F9C-F995-4C24-933E-81B631A8C6CF}"/>
              </a:ext>
            </a:extLst>
          </p:cNvPr>
          <p:cNvSpPr>
            <a:spLocks xmlns:a="http://schemas.openxmlformats.org/drawingml/2006/main" noGrp="1"/>
          </p:cNvSpPr>
          <p:nvPr/>
        </p:nvSpPr>
        <p:spPr>
          <a:xfrm xmlns:a="http://schemas.openxmlformats.org/drawingml/2006/main">
            <a:off x="7943850" y="24574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问题与影响</a:t>
            </a:r>
          </a:p>
        </p:txBody>
      </p:sp>
      <p:sp>
        <p:nvSpPr>
          <p:cNvPr id="14" name="">
            <a:extLst xmlns:a="http://schemas.openxmlformats.org/drawingml/2006/main">
              <a:ext uri="{FF2B5EF4-FFF2-40B4-BE49-F238E27FC236}">
                <a16:creationId xmlns:a16="http://schemas.microsoft.com/office/drawing/2014/main" id="{3B5C50C6-8A26-49A3-A253-F0714EC8FA20}"/>
              </a:ext>
            </a:extLst>
          </p:cNvPr>
          <p:cNvSpPr>
            <a:spLocks xmlns:a="http://schemas.openxmlformats.org/drawingml/2006/main" noGrp="1"/>
          </p:cNvSpPr>
          <p:nvPr/>
        </p:nvSpPr>
        <p:spPr>
          <a:xfrm xmlns:a="http://schemas.openxmlformats.org/drawingml/2006/main">
            <a:off x="7943850" y="35623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证据和待确认项</a:t>
            </a:r>
          </a:p>
        </p:txBody>
      </p:sp>
      <p:sp>
        <p:nvSpPr>
          <p:cNvPr id="15" name="">
            <a:extLst xmlns:a="http://schemas.openxmlformats.org/drawingml/2006/main">
              <a:ext uri="{FF2B5EF4-FFF2-40B4-BE49-F238E27FC236}">
                <a16:creationId xmlns:a16="http://schemas.microsoft.com/office/drawing/2014/main" id="{26C31681-0211-49E3-A839-859A44DCE58A}"/>
              </a:ext>
            </a:extLst>
          </p:cNvPr>
          <p:cNvSpPr>
            <a:spLocks xmlns:a="http://schemas.openxmlformats.org/drawingml/2006/main" noGrp="1"/>
          </p:cNvSpPr>
          <p:nvPr/>
        </p:nvSpPr>
        <p:spPr>
          <a:xfrm xmlns:a="http://schemas.openxmlformats.org/drawingml/2006/main">
            <a:off x="7943850" y="46672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根因优先级与责任岗位</a:t>
            </a:r>
          </a:p>
        </p:txBody>
      </p:sp>
    </p:spTree>
    <p:extLst>
      <p:ext uri="{BB962C8B-B14F-4D97-AF65-F5344CB8AC3E}">
        <p14:creationId xmlns:p14="http://schemas.microsoft.com/office/powerpoint/2010/main" val="6114030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59A3EE-EC9B-4A86-B8DE-13EAD67213F0}"/>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需求计划：采购为什么总在追变化？</a:t>
            </a:r>
          </a:p>
        </p:txBody>
      </p:sp>
      <p:sp>
        <p:nvSpPr>
          <p:cNvPr id="2" name="">
            <a:extLst xmlns:a="http://schemas.openxmlformats.org/drawingml/2006/main">
              <a:ext uri="{FF2B5EF4-FFF2-40B4-BE49-F238E27FC236}">
                <a16:creationId xmlns:a16="http://schemas.microsoft.com/office/drawing/2014/main" id="{FDD2D254-8340-4057-B45E-1724A7E4BC0D}"/>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专题目标：区分需求来源，判断缺口与采购启动顺序</a:t>
            </a:r>
          </a:p>
        </p:txBody>
      </p:sp>
      <p:sp>
        <p:nvSpPr>
          <p:cNvPr id="3" name="">
            <a:extLst xmlns:a="http://schemas.openxmlformats.org/drawingml/2006/main">
              <a:ext uri="{FF2B5EF4-FFF2-40B4-BE49-F238E27FC236}">
                <a16:creationId xmlns:a16="http://schemas.microsoft.com/office/drawing/2014/main" id="{3A1064FB-0F88-4243-B91B-BAA5208E48AE}"/>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需求预测与采购计划  3分钟</a:t>
            </a:r>
          </a:p>
        </p:txBody>
      </p:sp>
      <p:sp>
        <p:nvSpPr>
          <p:cNvPr id="4" name="">
            <a:extLst xmlns:a="http://schemas.openxmlformats.org/drawingml/2006/main">
              <a:ext uri="{FF2B5EF4-FFF2-40B4-BE49-F238E27FC236}">
                <a16:creationId xmlns:a16="http://schemas.microsoft.com/office/drawing/2014/main" id="{B5F39B95-AB48-4206-BDC1-A4A5290EF0AF}"/>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12 / 94</a:t>
            </a:r>
          </a:p>
        </p:txBody>
      </p:sp>
      <p:sp>
        <p:nvSpPr>
          <p:cNvPr id="5" name="">
            <a:extLst xmlns:a="http://schemas.openxmlformats.org/drawingml/2006/main">
              <a:ext uri="{FF2B5EF4-FFF2-40B4-BE49-F238E27FC236}">
                <a16:creationId xmlns:a16="http://schemas.microsoft.com/office/drawing/2014/main" id="{EF350A2F-89E1-4890-A223-1541F385D8B1}"/>
              </a:ext>
            </a:extLst>
          </p:cNvPr>
          <p:cNvSpPr>
            <a:spLocks xmlns:a="http://schemas.openxmlformats.org/drawingml/2006/main" noGrp="1"/>
          </p:cNvSpPr>
          <p:nvPr/>
        </p:nvSpPr>
        <p:spPr>
          <a:xfrm xmlns:a="http://schemas.openxmlformats.org/drawingml/2006/main">
            <a:off x="609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待分析的问题</a:t>
            </a:r>
          </a:p>
        </p:txBody>
      </p:sp>
      <p:sp>
        <p:nvSpPr>
          <p:cNvPr id="6" name="">
            <a:extLst xmlns:a="http://schemas.openxmlformats.org/drawingml/2006/main">
              <a:ext uri="{FF2B5EF4-FFF2-40B4-BE49-F238E27FC236}">
                <a16:creationId xmlns:a16="http://schemas.microsoft.com/office/drawing/2014/main" id="{2AB8387E-716D-46BD-BA92-59B9A4F473DE}"/>
              </a:ext>
            </a:extLst>
          </p:cNvPr>
          <p:cNvSpPr>
            <a:spLocks xmlns:a="http://schemas.openxmlformats.org/drawingml/2006/main" noGrp="1"/>
          </p:cNvSpPr>
          <p:nvPr/>
        </p:nvSpPr>
        <p:spPr>
          <a:xfrm xmlns:a="http://schemas.openxmlformats.org/drawingml/2006/main">
            <a:off x="609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定检需求与非计划需求混在一起</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需求日更新，采购信息未同步</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低频高值件难以沿用平均消耗</a:t>
            </a:r>
          </a:p>
        </p:txBody>
      </p:sp>
      <p:sp>
        <p:nvSpPr>
          <p:cNvPr id="7" name="">
            <a:extLst xmlns:a="http://schemas.openxmlformats.org/drawingml/2006/main">
              <a:ext uri="{FF2B5EF4-FFF2-40B4-BE49-F238E27FC236}">
                <a16:creationId xmlns:a16="http://schemas.microsoft.com/office/drawing/2014/main" id="{37833224-98B9-49EA-912C-F4928454C441}"/>
              </a:ext>
            </a:extLst>
          </p:cNvPr>
          <p:cNvSpPr>
            <a:spLocks xmlns:a="http://schemas.openxmlformats.org/drawingml/2006/main" noGrp="1"/>
          </p:cNvSpPr>
          <p:nvPr/>
        </p:nvSpPr>
        <p:spPr>
          <a:xfrm xmlns:a="http://schemas.openxmlformats.org/drawingml/2006/main">
            <a:off x="6324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本专题输出</a:t>
            </a:r>
          </a:p>
        </p:txBody>
      </p:sp>
      <p:sp>
        <p:nvSpPr>
          <p:cNvPr id="8" name="">
            <a:extLst xmlns:a="http://schemas.openxmlformats.org/drawingml/2006/main">
              <a:ext uri="{FF2B5EF4-FFF2-40B4-BE49-F238E27FC236}">
                <a16:creationId xmlns:a16="http://schemas.microsoft.com/office/drawing/2014/main" id="{6BD9EAA9-B5D6-4295-B7FE-D61571223254}"/>
              </a:ext>
            </a:extLst>
          </p:cNvPr>
          <p:cNvSpPr>
            <a:spLocks xmlns:a="http://schemas.openxmlformats.org/drawingml/2006/main" noGrp="1"/>
          </p:cNvSpPr>
          <p:nvPr/>
        </p:nvSpPr>
        <p:spPr>
          <a:xfrm xmlns:a="http://schemas.openxmlformats.org/drawingml/2006/main">
            <a:off x="6324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按件号整理采购缺口</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解释最早启动采购的原因</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提出需求变更的核对方法</a:t>
            </a:r>
          </a:p>
        </p:txBody>
      </p:sp>
    </p:spTree>
    <p:extLst>
      <p:ext uri="{BB962C8B-B14F-4D97-AF65-F5344CB8AC3E}">
        <p14:creationId xmlns:p14="http://schemas.microsoft.com/office/powerpoint/2010/main" val="108568247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853FC0-5179-493C-832A-B9B3F465DD16}"/>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不同需求需要不同处理方法</a:t>
            </a:r>
          </a:p>
        </p:txBody>
      </p:sp>
      <p:sp>
        <p:nvSpPr>
          <p:cNvPr id="2" name="">
            <a:extLst xmlns:a="http://schemas.openxmlformats.org/drawingml/2006/main">
              <a:ext uri="{FF2B5EF4-FFF2-40B4-BE49-F238E27FC236}">
                <a16:creationId xmlns:a16="http://schemas.microsoft.com/office/drawing/2014/main" id="{12445CE8-9A5C-4335-9314-020C6C554275}"/>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计划性、波动性和低频需求，不能简单共用一条预测规则</a:t>
            </a:r>
          </a:p>
        </p:txBody>
      </p:sp>
      <p:sp>
        <p:nvSpPr>
          <p:cNvPr id="3" name="">
            <a:extLst xmlns:a="http://schemas.openxmlformats.org/drawingml/2006/main">
              <a:ext uri="{FF2B5EF4-FFF2-40B4-BE49-F238E27FC236}">
                <a16:creationId xmlns:a16="http://schemas.microsoft.com/office/drawing/2014/main" id="{3880CF3A-32DC-4E8B-A729-FFC5A3670A60}"/>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需求预测与采购计划  6分钟</a:t>
            </a:r>
          </a:p>
        </p:txBody>
      </p:sp>
      <p:sp>
        <p:nvSpPr>
          <p:cNvPr id="4" name="">
            <a:extLst xmlns:a="http://schemas.openxmlformats.org/drawingml/2006/main">
              <a:ext uri="{FF2B5EF4-FFF2-40B4-BE49-F238E27FC236}">
                <a16:creationId xmlns:a16="http://schemas.microsoft.com/office/drawing/2014/main" id="{1471DEC4-0CD2-4A5E-9EB5-7DAED3A2BE6A}"/>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13 / 94</a:t>
            </a:r>
          </a:p>
        </p:txBody>
      </p:sp>
      <p:graphicFrame>
        <p:nvGraphicFramePr>
          <p:cNvPr id="5" name="">
            <a:extLst xmlns:a="http://schemas.openxmlformats.org/drawingml/2006/main">
              <a:ext uri="{FF2B5EF4-FFF2-40B4-BE49-F238E27FC236}">
                <a16:creationId xmlns:a16="http://schemas.microsoft.com/office/drawing/2014/main" id="{612092B1-407B-4075-AF1C-BB3FCC1489DF}"/>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571750"/>
                <a:gridCol w="4095750"/>
                <a:gridCol w="4305300"/>
              </a:tblGrid>
              <a:tr h="800100">
                <a:tc>
                  <a:txBody>
                    <a:bodyPr lIns="114300" tIns="114300" rIns="114300" bIns="114300"/>
                    <a:lstStyle/>
                    <a:p>
                      <a:r>
                        <a:rPr sz="1725" b="1">
                          <a:solidFill>
                            <a:srgbClr val="477FA8"/>
                          </a:solidFill>
                          <a:latin typeface="PingFang SC"/>
                          <a:ea typeface="PingFang SC"/>
                          <a:cs typeface="PingFang SC"/>
                        </a:rPr>
                        <a:t>需求类型</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可用依据</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容易出错的做法</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定期维修需求</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工作包、任务清单与版本</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把未确认工作包当确定需求</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非计划消耗</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同口径消耗历史与暴露量</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把异常领料当稳定日需求</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低频高价值航材</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故障与维修事件、工程判断</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仅凭短期平均值追加库存</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替代、借件或交换</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适用性、可获得性与归还条件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把候选保障方式当已确认供给</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20176254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628C23CF-68FF-46C6-B98B-DAA10072FF46}"/>
              </a:ext>
            </a:extLst>
          </p:cNvPr>
          <p:cNvCxnSpPr>
            <a:stCxn xmlns:a="http://schemas.openxmlformats.org/drawingml/2006/main" id="7" idx="3"/>
            <a:endCxn xmlns:a="http://schemas.openxmlformats.org/drawingml/2006/main" id="10" idx="1"/>
          </p:cNvCxnSpPr>
          <p:nvPr/>
        </p:nvCxnSpPr>
        <p:spPr>
          <a:xfrm xmlns:a="http://schemas.openxmlformats.org/drawingml/2006/main">
            <a:off x="77978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8C9525FA-4B8A-4972-94C2-4625E4D1704C}"/>
              </a:ext>
            </a:extLst>
          </p:cNvPr>
          <p:cNvCxnSpPr>
            <a:stCxn xmlns:a="http://schemas.openxmlformats.org/drawingml/2006/main" id="5" idx="3"/>
            <a:endCxn xmlns:a="http://schemas.openxmlformats.org/drawingml/2006/main" id="7" idx="1"/>
          </p:cNvCxnSpPr>
          <p:nvPr/>
        </p:nvCxnSpPr>
        <p:spPr>
          <a:xfrm xmlns:a="http://schemas.openxmlformats.org/drawingml/2006/main">
            <a:off x="40132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4" name="">
            <a:extLst xmlns:a="http://schemas.openxmlformats.org/drawingml/2006/main">
              <a:ext uri="{FF2B5EF4-FFF2-40B4-BE49-F238E27FC236}">
                <a16:creationId xmlns:a16="http://schemas.microsoft.com/office/drawing/2014/main" id="{CD52DF4C-2124-4630-9EC3-B576869FC057}"/>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采购缺口的三类数据依据</a:t>
            </a:r>
          </a:p>
        </p:txBody>
      </p:sp>
      <p:sp>
        <p:nvSpPr>
          <p:cNvPr id="2" name="">
            <a:extLst xmlns:a="http://schemas.openxmlformats.org/drawingml/2006/main">
              <a:ext uri="{FF2B5EF4-FFF2-40B4-BE49-F238E27FC236}">
                <a16:creationId xmlns:a16="http://schemas.microsoft.com/office/drawing/2014/main" id="{9583825A-CE4B-409A-B010-D40003E9FF73}"/>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通用MRO、WMS与ERP对象，需要在同一业务粒度关联</a:t>
            </a:r>
          </a:p>
        </p:txBody>
      </p:sp>
      <p:sp>
        <p:nvSpPr>
          <p:cNvPr id="3" name="">
            <a:extLst xmlns:a="http://schemas.openxmlformats.org/drawingml/2006/main">
              <a:ext uri="{FF2B5EF4-FFF2-40B4-BE49-F238E27FC236}">
                <a16:creationId xmlns:a16="http://schemas.microsoft.com/office/drawing/2014/main" id="{F24999AE-3C7A-49D6-8BD1-448EEC843424}"/>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需求预测与采购计划  5分钟</a:t>
            </a:r>
          </a:p>
        </p:txBody>
      </p:sp>
      <p:sp>
        <p:nvSpPr>
          <p:cNvPr id="4" name="">
            <a:extLst xmlns:a="http://schemas.openxmlformats.org/drawingml/2006/main">
              <a:ext uri="{FF2B5EF4-FFF2-40B4-BE49-F238E27FC236}">
                <a16:creationId xmlns:a16="http://schemas.microsoft.com/office/drawing/2014/main" id="{174DA7C7-6BBE-437C-9D66-A448EF008E1D}"/>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14 / 94</a:t>
            </a:r>
          </a:p>
        </p:txBody>
      </p:sp>
      <p:sp>
        <p:nvSpPr>
          <p:cNvPr id="5" name="">
            <a:extLst xmlns:a="http://schemas.openxmlformats.org/drawingml/2006/main">
              <a:ext uri="{FF2B5EF4-FFF2-40B4-BE49-F238E27FC236}">
                <a16:creationId xmlns:a16="http://schemas.microsoft.com/office/drawing/2014/main" id="{7A448BB1-D6F6-4928-969E-79AF2554B187}"/>
              </a:ext>
            </a:extLst>
          </p:cNvPr>
          <p:cNvSpPr>
            <a:spLocks xmlns:a="http://schemas.openxmlformats.org/drawingml/2006/main" noGrp="1"/>
          </p:cNvSpPr>
          <p:nvPr/>
        </p:nvSpPr>
        <p:spPr>
          <a:xfrm xmlns:a="http://schemas.openxmlformats.org/drawingml/2006/main">
            <a:off x="609600" y="2057400"/>
            <a:ext cx="340360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维修需求</a:t>
            </a:r>
          </a:p>
        </p:txBody>
      </p:sp>
      <p:sp>
        <p:nvSpPr>
          <p:cNvPr id="6" name="">
            <a:extLst xmlns:a="http://schemas.openxmlformats.org/drawingml/2006/main">
              <a:ext uri="{FF2B5EF4-FFF2-40B4-BE49-F238E27FC236}">
                <a16:creationId xmlns:a16="http://schemas.microsoft.com/office/drawing/2014/main" id="{2C4EE667-49A2-425A-8AB0-545D08FE6CD1}"/>
              </a:ext>
            </a:extLst>
          </p:cNvPr>
          <p:cNvSpPr>
            <a:spLocks xmlns:a="http://schemas.openxmlformats.org/drawingml/2006/main" noGrp="1"/>
          </p:cNvSpPr>
          <p:nvPr/>
        </p:nvSpPr>
        <p:spPr>
          <a:xfrm xmlns:a="http://schemas.openxmlformats.org/drawingml/2006/main">
            <a:off x="571500" y="3486150"/>
            <a:ext cx="3479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件号、数量、需求日</a:t>
            </a:r>
          </a:p>
        </p:txBody>
      </p:sp>
      <p:sp>
        <p:nvSpPr>
          <p:cNvPr id="7" name="">
            <a:extLst xmlns:a="http://schemas.openxmlformats.org/drawingml/2006/main">
              <a:ext uri="{FF2B5EF4-FFF2-40B4-BE49-F238E27FC236}">
                <a16:creationId xmlns:a16="http://schemas.microsoft.com/office/drawing/2014/main" id="{F4B55C7D-A928-4971-B6C0-11EC4B846C3F}"/>
              </a:ext>
            </a:extLst>
          </p:cNvPr>
          <p:cNvSpPr>
            <a:spLocks xmlns:a="http://schemas.openxmlformats.org/drawingml/2006/main" noGrp="1"/>
          </p:cNvSpPr>
          <p:nvPr/>
        </p:nvSpPr>
        <p:spPr>
          <a:xfrm xmlns:a="http://schemas.openxmlformats.org/drawingml/2006/main">
            <a:off x="4394200" y="2057400"/>
            <a:ext cx="340360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库存与在途</a:t>
            </a:r>
          </a:p>
        </p:txBody>
      </p:sp>
      <p:sp>
        <p:nvSpPr>
          <p:cNvPr id="9" name="">
            <a:extLst xmlns:a="http://schemas.openxmlformats.org/drawingml/2006/main">
              <a:ext uri="{FF2B5EF4-FFF2-40B4-BE49-F238E27FC236}">
                <a16:creationId xmlns:a16="http://schemas.microsoft.com/office/drawing/2014/main" id="{DBEE7AF5-EDF2-4797-8D72-7653309E61DA}"/>
              </a:ext>
            </a:extLst>
          </p:cNvPr>
          <p:cNvSpPr>
            <a:spLocks xmlns:a="http://schemas.openxmlformats.org/drawingml/2006/main" noGrp="1"/>
          </p:cNvSpPr>
          <p:nvPr/>
        </p:nvSpPr>
        <p:spPr>
          <a:xfrm xmlns:a="http://schemas.openxmlformats.org/drawingml/2006/main">
            <a:off x="4356100" y="3486150"/>
            <a:ext cx="3479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按期可用量、占用状态</a:t>
            </a:r>
          </a:p>
        </p:txBody>
      </p:sp>
      <p:sp>
        <p:nvSpPr>
          <p:cNvPr id="10" name="">
            <a:extLst xmlns:a="http://schemas.openxmlformats.org/drawingml/2006/main">
              <a:ext uri="{FF2B5EF4-FFF2-40B4-BE49-F238E27FC236}">
                <a16:creationId xmlns:a16="http://schemas.microsoft.com/office/drawing/2014/main" id="{CBCA1A1F-22DF-4877-8318-AD8A88AC1F6D}"/>
              </a:ext>
            </a:extLst>
          </p:cNvPr>
          <p:cNvSpPr>
            <a:spLocks xmlns:a="http://schemas.openxmlformats.org/drawingml/2006/main" noGrp="1"/>
          </p:cNvSpPr>
          <p:nvPr/>
        </p:nvSpPr>
        <p:spPr>
          <a:xfrm xmlns:a="http://schemas.openxmlformats.org/drawingml/2006/main">
            <a:off x="8178800" y="2057400"/>
            <a:ext cx="340360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消耗与供应</a:t>
            </a:r>
          </a:p>
        </p:txBody>
      </p:sp>
      <p:sp>
        <p:nvSpPr>
          <p:cNvPr id="12" name="">
            <a:extLst xmlns:a="http://schemas.openxmlformats.org/drawingml/2006/main">
              <a:ext uri="{FF2B5EF4-FFF2-40B4-BE49-F238E27FC236}">
                <a16:creationId xmlns:a16="http://schemas.microsoft.com/office/drawing/2014/main" id="{FB53BB48-C719-46CF-88A5-081B1EA8CC16}"/>
              </a:ext>
            </a:extLst>
          </p:cNvPr>
          <p:cNvSpPr>
            <a:spLocks xmlns:a="http://schemas.openxmlformats.org/drawingml/2006/main" noGrp="1"/>
          </p:cNvSpPr>
          <p:nvPr/>
        </p:nvSpPr>
        <p:spPr>
          <a:xfrm xmlns:a="http://schemas.openxmlformats.org/drawingml/2006/main">
            <a:off x="8140700" y="3486150"/>
            <a:ext cx="3479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日需求、交期与截至时间</a:t>
            </a:r>
          </a:p>
        </p:txBody>
      </p:sp>
      <p:sp>
        <p:nvSpPr>
          <p:cNvPr id="13" name="">
            <a:extLst xmlns:a="http://schemas.openxmlformats.org/drawingml/2006/main">
              <a:ext uri="{FF2B5EF4-FFF2-40B4-BE49-F238E27FC236}">
                <a16:creationId xmlns:a16="http://schemas.microsoft.com/office/drawing/2014/main" id="{4CC4FE22-CBA9-4855-98D9-C2F460DC1875}"/>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按件号关联前，先统一单位、件况、物权与时间窗口</a:t>
            </a:r>
          </a:p>
        </p:txBody>
      </p:sp>
    </p:spTree>
    <p:extLst>
      <p:ext uri="{BB962C8B-B14F-4D97-AF65-F5344CB8AC3E}">
        <p14:creationId xmlns:p14="http://schemas.microsoft.com/office/powerpoint/2010/main" val="77491486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7F002E4-82D2-4C6F-AC4B-6B0223DE78FF}"/>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采购缺口的基本算例</a:t>
            </a:r>
          </a:p>
        </p:txBody>
      </p:sp>
      <p:sp>
        <p:nvSpPr>
          <p:cNvPr id="2" name="">
            <a:extLst xmlns:a="http://schemas.openxmlformats.org/drawingml/2006/main">
              <a:ext uri="{FF2B5EF4-FFF2-40B4-BE49-F238E27FC236}">
                <a16:creationId xmlns:a16="http://schemas.microsoft.com/office/drawing/2014/main" id="{D7F17AC9-400B-4173-965E-9DE337C470DE}"/>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教学规则，先确认口径再代入</a:t>
            </a:r>
          </a:p>
        </p:txBody>
      </p:sp>
      <p:sp>
        <p:nvSpPr>
          <p:cNvPr id="3" name="">
            <a:extLst xmlns:a="http://schemas.openxmlformats.org/drawingml/2006/main">
              <a:ext uri="{FF2B5EF4-FFF2-40B4-BE49-F238E27FC236}">
                <a16:creationId xmlns:a16="http://schemas.microsoft.com/office/drawing/2014/main" id="{5958B9E7-A4A0-4CFD-9833-C4D2D4A29551}"/>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需求预测与采购计划  8分钟</a:t>
            </a:r>
          </a:p>
        </p:txBody>
      </p:sp>
      <p:sp>
        <p:nvSpPr>
          <p:cNvPr id="4" name="">
            <a:extLst xmlns:a="http://schemas.openxmlformats.org/drawingml/2006/main">
              <a:ext uri="{FF2B5EF4-FFF2-40B4-BE49-F238E27FC236}">
                <a16:creationId xmlns:a16="http://schemas.microsoft.com/office/drawing/2014/main" id="{1849609F-E26F-416B-B301-27EFDD2828F5}"/>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15 / 94</a:t>
            </a:r>
          </a:p>
        </p:txBody>
      </p:sp>
      <p:sp>
        <p:nvSpPr>
          <p:cNvPr id="5" name="">
            <a:extLst xmlns:a="http://schemas.openxmlformats.org/drawingml/2006/main">
              <a:ext uri="{FF2B5EF4-FFF2-40B4-BE49-F238E27FC236}">
                <a16:creationId xmlns:a16="http://schemas.microsoft.com/office/drawing/2014/main" id="{F67AA020-0114-4647-AA75-47D2E209DC79}"/>
              </a:ext>
            </a:extLst>
          </p:cNvPr>
          <p:cNvSpPr>
            <a:spLocks xmlns:a="http://schemas.openxmlformats.org/drawingml/2006/main" noGrp="1"/>
          </p:cNvSpPr>
          <p:nvPr/>
        </p:nvSpPr>
        <p:spPr>
          <a:xfrm xmlns:a="http://schemas.openxmlformats.org/drawingml/2006/main">
            <a:off x="609600" y="1866900"/>
            <a:ext cx="109728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77FA8"/>
                </a:solidFill>
                <a:latin typeface="PingFang SC"/>
                <a:ea typeface="PingFang SC"/>
                <a:cs typeface="PingFang SC"/>
              </a:defRPr>
            </a:defPPr>
            <a:lvl1pPr algn="l">
              <a:defRPr sz="2550" b="1">
                <a:solidFill>
                  <a:srgbClr val="477FA8"/>
                </a:solidFill>
                <a:latin typeface="PingFang SC"/>
                <a:ea typeface="PingFang SC"/>
                <a:cs typeface="PingFang SC"/>
              </a:defRPr>
            </a:lvl1pPr>
            <a:lvl2pPr algn="l">
              <a:defRPr sz="2550" b="1">
                <a:solidFill>
                  <a:srgbClr val="477FA8"/>
                </a:solidFill>
                <a:latin typeface="PingFang SC"/>
                <a:ea typeface="PingFang SC"/>
                <a:cs typeface="PingFang SC"/>
              </a:defRPr>
            </a:lvl2pPr>
            <a:lvl3pPr algn="l">
              <a:defRPr sz="2550" b="1">
                <a:solidFill>
                  <a:srgbClr val="477FA8"/>
                </a:solidFill>
                <a:latin typeface="PingFang SC"/>
                <a:ea typeface="PingFang SC"/>
                <a:cs typeface="PingFang SC"/>
              </a:defRPr>
            </a:lvl3pPr>
            <a:lvl4pPr algn="l">
              <a:defRPr sz="2550" b="1">
                <a:solidFill>
                  <a:srgbClr val="477FA8"/>
                </a:solidFill>
                <a:latin typeface="PingFang SC"/>
                <a:ea typeface="PingFang SC"/>
                <a:cs typeface="PingFang SC"/>
              </a:defRPr>
            </a:lvl4pPr>
            <a:lvl5pPr algn="l">
              <a:defRPr sz="2550" b="1">
                <a:solidFill>
                  <a:srgbClr val="477FA8"/>
                </a:solidFill>
                <a:latin typeface="PingFang SC"/>
                <a:ea typeface="PingFang SC"/>
                <a:cs typeface="PingFang SC"/>
              </a:defRPr>
            </a:lvl5pPr>
            <a:lvl6pPr algn="l">
              <a:defRPr sz="2550" b="1">
                <a:solidFill>
                  <a:srgbClr val="477FA8"/>
                </a:solidFill>
                <a:latin typeface="PingFang SC"/>
                <a:ea typeface="PingFang SC"/>
                <a:cs typeface="PingFang SC"/>
              </a:defRPr>
            </a:lvl6pPr>
            <a:lvl7pPr algn="l">
              <a:defRPr sz="2550" b="1">
                <a:solidFill>
                  <a:srgbClr val="477FA8"/>
                </a:solidFill>
                <a:latin typeface="PingFang SC"/>
                <a:ea typeface="PingFang SC"/>
                <a:cs typeface="PingFang SC"/>
              </a:defRPr>
            </a:lvl7pPr>
            <a:lvl8pPr algn="l">
              <a:defRPr sz="2550" b="1">
                <a:solidFill>
                  <a:srgbClr val="477FA8"/>
                </a:solidFill>
                <a:latin typeface="PingFang SC"/>
                <a:ea typeface="PingFang SC"/>
                <a:cs typeface="PingFang SC"/>
              </a:defRPr>
            </a:lvl8pPr>
            <a:lvl9pPr algn="l">
              <a:defRPr sz="2550" b="1">
                <a:solidFill>
                  <a:srgbClr val="477FA8"/>
                </a:solidFill>
                <a:latin typeface="PingFang SC"/>
                <a:ea typeface="PingFang SC"/>
                <a:cs typeface="PingFang SC"/>
              </a:defRPr>
            </a:lvl9pPr>
          </a:lstStyle>
          <a:p xmlns:a="http://schemas.openxmlformats.org/drawingml/2006/main">
            <a:pPr algn="l">
              <a:defRPr sz="2550" b="1">
                <a:solidFill>
                  <a:srgbClr val="477FA8"/>
                </a:solidFill>
                <a:latin typeface="PingFang SC"/>
                <a:ea typeface="PingFang SC"/>
                <a:cs typeface="PingFang SC"/>
              </a:defRPr>
            </a:pPr>
            <a:r>
              <a:rPr sz="2550" b="1">
                <a:solidFill>
                  <a:srgbClr val="477FA8"/>
                </a:solidFill>
                <a:latin typeface="PingFang SC"/>
                <a:ea typeface="PingFang SC"/>
                <a:cs typeface="PingFang SC"/>
              </a:rPr>
              <a:t>缺口 = max（⌈需求估计 − 可用库存 − 按期在途⌉，0）</a:t>
            </a:r>
          </a:p>
        </p:txBody>
      </p:sp>
      <p:sp>
        <p:nvSpPr>
          <p:cNvPr id="6" name="">
            <a:extLst xmlns:a="http://schemas.openxmlformats.org/drawingml/2006/main">
              <a:ext uri="{FF2B5EF4-FFF2-40B4-BE49-F238E27FC236}">
                <a16:creationId xmlns:a16="http://schemas.microsoft.com/office/drawing/2014/main" id="{DFC685F7-6F3E-4C3D-834F-6B63B3171CD4}"/>
              </a:ext>
            </a:extLst>
          </p:cNvPr>
          <p:cNvSpPr>
            <a:spLocks xmlns:a="http://schemas.openxmlformats.org/drawingml/2006/main" noGrp="1"/>
          </p:cNvSpPr>
          <p:nvPr/>
        </p:nvSpPr>
        <p:spPr>
          <a:xfrm xmlns:a="http://schemas.openxmlformats.org/drawingml/2006/main">
            <a:off x="628650" y="3571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0">
                <a:solidFill>
                  <a:srgbClr val="667D91"/>
                </a:solidFill>
                <a:latin typeface="PingFang SC"/>
                <a:ea typeface="PingFang SC"/>
                <a:cs typeface="PingFang SC"/>
              </a:defRPr>
            </a:defPPr>
            <a:lvl1pPr algn="l">
              <a:defRPr sz="1875" b="0">
                <a:solidFill>
                  <a:srgbClr val="667D91"/>
                </a:solidFill>
                <a:latin typeface="PingFang SC"/>
                <a:ea typeface="PingFang SC"/>
                <a:cs typeface="PingFang SC"/>
              </a:defRPr>
            </a:lvl1pPr>
            <a:lvl2pPr algn="l">
              <a:defRPr sz="1875" b="0">
                <a:solidFill>
                  <a:srgbClr val="667D91"/>
                </a:solidFill>
                <a:latin typeface="PingFang SC"/>
                <a:ea typeface="PingFang SC"/>
                <a:cs typeface="PingFang SC"/>
              </a:defRPr>
            </a:lvl2pPr>
            <a:lvl3pPr algn="l">
              <a:defRPr sz="1875" b="0">
                <a:solidFill>
                  <a:srgbClr val="667D91"/>
                </a:solidFill>
                <a:latin typeface="PingFang SC"/>
                <a:ea typeface="PingFang SC"/>
                <a:cs typeface="PingFang SC"/>
              </a:defRPr>
            </a:lvl3pPr>
            <a:lvl4pPr algn="l">
              <a:defRPr sz="1875" b="0">
                <a:solidFill>
                  <a:srgbClr val="667D91"/>
                </a:solidFill>
                <a:latin typeface="PingFang SC"/>
                <a:ea typeface="PingFang SC"/>
                <a:cs typeface="PingFang SC"/>
              </a:defRPr>
            </a:lvl4pPr>
            <a:lvl5pPr algn="l">
              <a:defRPr sz="1875" b="0">
                <a:solidFill>
                  <a:srgbClr val="667D91"/>
                </a:solidFill>
                <a:latin typeface="PingFang SC"/>
                <a:ea typeface="PingFang SC"/>
                <a:cs typeface="PingFang SC"/>
              </a:defRPr>
            </a:lvl5pPr>
            <a:lvl6pPr algn="l">
              <a:defRPr sz="1875" b="0">
                <a:solidFill>
                  <a:srgbClr val="667D91"/>
                </a:solidFill>
                <a:latin typeface="PingFang SC"/>
                <a:ea typeface="PingFang SC"/>
                <a:cs typeface="PingFang SC"/>
              </a:defRPr>
            </a:lvl6pPr>
            <a:lvl7pPr algn="l">
              <a:defRPr sz="1875" b="0">
                <a:solidFill>
                  <a:srgbClr val="667D91"/>
                </a:solidFill>
                <a:latin typeface="PingFang SC"/>
                <a:ea typeface="PingFang SC"/>
                <a:cs typeface="PingFang SC"/>
              </a:defRPr>
            </a:lvl7pPr>
            <a:lvl8pPr algn="l">
              <a:defRPr sz="1875" b="0">
                <a:solidFill>
                  <a:srgbClr val="667D91"/>
                </a:solidFill>
                <a:latin typeface="PingFang SC"/>
                <a:ea typeface="PingFang SC"/>
                <a:cs typeface="PingFang SC"/>
              </a:defRPr>
            </a:lvl8pPr>
            <a:lvl9pPr algn="l">
              <a:defRPr sz="1875" b="0">
                <a:solidFill>
                  <a:srgbClr val="667D91"/>
                </a:solidFill>
                <a:latin typeface="PingFang SC"/>
                <a:ea typeface="PingFang SC"/>
                <a:cs typeface="PingFang SC"/>
              </a:defRPr>
            </a:lvl9pPr>
          </a:lstStyle>
          <a:p xmlns:a="http://schemas.openxmlformats.org/drawingml/2006/main">
            <a:pPr algn="l">
              <a:defRPr sz="1875" b="0">
                <a:solidFill>
                  <a:srgbClr val="667D91"/>
                </a:solidFill>
                <a:latin typeface="PingFang SC"/>
                <a:ea typeface="PingFang SC"/>
                <a:cs typeface="PingFang SC"/>
              </a:defRPr>
            </a:pPr>
            <a:r>
              <a:rPr sz="1875" b="0">
                <a:solidFill>
                  <a:srgbClr val="667D91"/>
                </a:solidFill>
                <a:latin typeface="PingFang SC"/>
                <a:ea typeface="PingFang SC"/>
                <a:cs typeface="PingFang SC"/>
              </a:rPr>
              <a:t>需求估计 =（计划需求 + 日均非计划需求 × 交期）× 情景倍率</a:t>
            </a:r>
          </a:p>
        </p:txBody>
      </p:sp>
      <p:sp>
        <p:nvSpPr>
          <p:cNvPr id="7" name="">
            <a:extLst xmlns:a="http://schemas.openxmlformats.org/drawingml/2006/main">
              <a:ext uri="{FF2B5EF4-FFF2-40B4-BE49-F238E27FC236}">
                <a16:creationId xmlns:a16="http://schemas.microsoft.com/office/drawing/2014/main" id="{4D94A169-1146-4430-B6D8-E7DBCDCDD932}"/>
              </a:ext>
            </a:extLst>
          </p:cNvPr>
          <p:cNvSpPr>
            <a:spLocks xmlns:a="http://schemas.openxmlformats.org/drawingml/2006/main" noGrp="1"/>
          </p:cNvSpPr>
          <p:nvPr/>
        </p:nvSpPr>
        <p:spPr>
          <a:xfrm xmlns:a="http://schemas.openxmlformats.org/drawingml/2006/main">
            <a:off x="628650" y="42195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0">
                <a:solidFill>
                  <a:srgbClr val="667D91"/>
                </a:solidFill>
                <a:latin typeface="PingFang SC"/>
                <a:ea typeface="PingFang SC"/>
                <a:cs typeface="PingFang SC"/>
              </a:defRPr>
            </a:defPPr>
            <a:lvl1pPr algn="l">
              <a:defRPr sz="1875" b="0">
                <a:solidFill>
                  <a:srgbClr val="667D91"/>
                </a:solidFill>
                <a:latin typeface="PingFang SC"/>
                <a:ea typeface="PingFang SC"/>
                <a:cs typeface="PingFang SC"/>
              </a:defRPr>
            </a:lvl1pPr>
            <a:lvl2pPr algn="l">
              <a:defRPr sz="1875" b="0">
                <a:solidFill>
                  <a:srgbClr val="667D91"/>
                </a:solidFill>
                <a:latin typeface="PingFang SC"/>
                <a:ea typeface="PingFang SC"/>
                <a:cs typeface="PingFang SC"/>
              </a:defRPr>
            </a:lvl2pPr>
            <a:lvl3pPr algn="l">
              <a:defRPr sz="1875" b="0">
                <a:solidFill>
                  <a:srgbClr val="667D91"/>
                </a:solidFill>
                <a:latin typeface="PingFang SC"/>
                <a:ea typeface="PingFang SC"/>
                <a:cs typeface="PingFang SC"/>
              </a:defRPr>
            </a:lvl3pPr>
            <a:lvl4pPr algn="l">
              <a:defRPr sz="1875" b="0">
                <a:solidFill>
                  <a:srgbClr val="667D91"/>
                </a:solidFill>
                <a:latin typeface="PingFang SC"/>
                <a:ea typeface="PingFang SC"/>
                <a:cs typeface="PingFang SC"/>
              </a:defRPr>
            </a:lvl4pPr>
            <a:lvl5pPr algn="l">
              <a:defRPr sz="1875" b="0">
                <a:solidFill>
                  <a:srgbClr val="667D91"/>
                </a:solidFill>
                <a:latin typeface="PingFang SC"/>
                <a:ea typeface="PingFang SC"/>
                <a:cs typeface="PingFang SC"/>
              </a:defRPr>
            </a:lvl5pPr>
            <a:lvl6pPr algn="l">
              <a:defRPr sz="1875" b="0">
                <a:solidFill>
                  <a:srgbClr val="667D91"/>
                </a:solidFill>
                <a:latin typeface="PingFang SC"/>
                <a:ea typeface="PingFang SC"/>
                <a:cs typeface="PingFang SC"/>
              </a:defRPr>
            </a:lvl6pPr>
            <a:lvl7pPr algn="l">
              <a:defRPr sz="1875" b="0">
                <a:solidFill>
                  <a:srgbClr val="667D91"/>
                </a:solidFill>
                <a:latin typeface="PingFang SC"/>
                <a:ea typeface="PingFang SC"/>
                <a:cs typeface="PingFang SC"/>
              </a:defRPr>
            </a:lvl7pPr>
            <a:lvl8pPr algn="l">
              <a:defRPr sz="1875" b="0">
                <a:solidFill>
                  <a:srgbClr val="667D91"/>
                </a:solidFill>
                <a:latin typeface="PingFang SC"/>
                <a:ea typeface="PingFang SC"/>
                <a:cs typeface="PingFang SC"/>
              </a:defRPr>
            </a:lvl8pPr>
            <a:lvl9pPr algn="l">
              <a:defRPr sz="1875" b="0">
                <a:solidFill>
                  <a:srgbClr val="667D91"/>
                </a:solidFill>
                <a:latin typeface="PingFang SC"/>
                <a:ea typeface="PingFang SC"/>
                <a:cs typeface="PingFang SC"/>
              </a:defRPr>
            </a:lvl9pPr>
          </a:lstStyle>
          <a:p xmlns:a="http://schemas.openxmlformats.org/drawingml/2006/main">
            <a:pPr algn="l">
              <a:defRPr sz="1875" b="0">
                <a:solidFill>
                  <a:srgbClr val="667D91"/>
                </a:solidFill>
                <a:latin typeface="PingFang SC"/>
                <a:ea typeface="PingFang SC"/>
                <a:cs typeface="PingFang SC"/>
              </a:defRPr>
            </a:pPr>
            <a:r>
              <a:rPr sz="1875" b="0">
                <a:solidFill>
                  <a:srgbClr val="667D91"/>
                </a:solidFill>
                <a:latin typeface="PingFang SC"/>
                <a:ea typeface="PingFang SC"/>
                <a:cs typeface="PingFang SC"/>
              </a:rPr>
              <a:t>两类需求须互不重复，库存和在途不能重复扣减</a:t>
            </a:r>
          </a:p>
        </p:txBody>
      </p:sp>
      <p:sp>
        <p:nvSpPr>
          <p:cNvPr id="8" name="">
            <a:extLst xmlns:a="http://schemas.openxmlformats.org/drawingml/2006/main">
              <a:ext uri="{FF2B5EF4-FFF2-40B4-BE49-F238E27FC236}">
                <a16:creationId xmlns:a16="http://schemas.microsoft.com/office/drawing/2014/main" id="{00426D34-3E67-46B5-8372-77FB234E19EA}"/>
              </a:ext>
            </a:extLst>
          </p:cNvPr>
          <p:cNvSpPr>
            <a:spLocks xmlns:a="http://schemas.openxmlformats.org/drawingml/2006/main" noGrp="1"/>
          </p:cNvSpPr>
          <p:nvPr/>
        </p:nvSpPr>
        <p:spPr>
          <a:xfrm xmlns:a="http://schemas.openxmlformats.org/drawingml/2006/main">
            <a:off x="628650" y="5257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325" b="1">
                <a:solidFill>
                  <a:srgbClr val="17334D"/>
                </a:solidFill>
                <a:latin typeface="PingFang SC"/>
                <a:ea typeface="PingFang SC"/>
                <a:cs typeface="PingFang SC"/>
              </a:defRPr>
            </a:defPPr>
            <a:lvl1pPr algn="l">
              <a:defRPr sz="2325" b="1">
                <a:solidFill>
                  <a:srgbClr val="17334D"/>
                </a:solidFill>
                <a:latin typeface="PingFang SC"/>
                <a:ea typeface="PingFang SC"/>
                <a:cs typeface="PingFang SC"/>
              </a:defRPr>
            </a:lvl1pPr>
            <a:lvl2pPr algn="l">
              <a:defRPr sz="2325" b="1">
                <a:solidFill>
                  <a:srgbClr val="17334D"/>
                </a:solidFill>
                <a:latin typeface="PingFang SC"/>
                <a:ea typeface="PingFang SC"/>
                <a:cs typeface="PingFang SC"/>
              </a:defRPr>
            </a:lvl2pPr>
            <a:lvl3pPr algn="l">
              <a:defRPr sz="2325" b="1">
                <a:solidFill>
                  <a:srgbClr val="17334D"/>
                </a:solidFill>
                <a:latin typeface="PingFang SC"/>
                <a:ea typeface="PingFang SC"/>
                <a:cs typeface="PingFang SC"/>
              </a:defRPr>
            </a:lvl3pPr>
            <a:lvl4pPr algn="l">
              <a:defRPr sz="2325" b="1">
                <a:solidFill>
                  <a:srgbClr val="17334D"/>
                </a:solidFill>
                <a:latin typeface="PingFang SC"/>
                <a:ea typeface="PingFang SC"/>
                <a:cs typeface="PingFang SC"/>
              </a:defRPr>
            </a:lvl4pPr>
            <a:lvl5pPr algn="l">
              <a:defRPr sz="2325" b="1">
                <a:solidFill>
                  <a:srgbClr val="17334D"/>
                </a:solidFill>
                <a:latin typeface="PingFang SC"/>
                <a:ea typeface="PingFang SC"/>
                <a:cs typeface="PingFang SC"/>
              </a:defRPr>
            </a:lvl5pPr>
            <a:lvl6pPr algn="l">
              <a:defRPr sz="2325" b="1">
                <a:solidFill>
                  <a:srgbClr val="17334D"/>
                </a:solidFill>
                <a:latin typeface="PingFang SC"/>
                <a:ea typeface="PingFang SC"/>
                <a:cs typeface="PingFang SC"/>
              </a:defRPr>
            </a:lvl6pPr>
            <a:lvl7pPr algn="l">
              <a:defRPr sz="2325" b="1">
                <a:solidFill>
                  <a:srgbClr val="17334D"/>
                </a:solidFill>
                <a:latin typeface="PingFang SC"/>
                <a:ea typeface="PingFang SC"/>
                <a:cs typeface="PingFang SC"/>
              </a:defRPr>
            </a:lvl7pPr>
            <a:lvl8pPr algn="l">
              <a:defRPr sz="2325" b="1">
                <a:solidFill>
                  <a:srgbClr val="17334D"/>
                </a:solidFill>
                <a:latin typeface="PingFang SC"/>
                <a:ea typeface="PingFang SC"/>
                <a:cs typeface="PingFang SC"/>
              </a:defRPr>
            </a:lvl8pPr>
            <a:lvl9pPr algn="l">
              <a:defRPr sz="2325" b="1">
                <a:solidFill>
                  <a:srgbClr val="17334D"/>
                </a:solidFill>
                <a:latin typeface="PingFang SC"/>
                <a:ea typeface="PingFang SC"/>
                <a:cs typeface="PingFang SC"/>
              </a:defRPr>
            </a:lvl9pPr>
          </a:lstStyle>
          <a:p xmlns:a="http://schemas.openxmlformats.org/drawingml/2006/main">
            <a:pPr algn="l">
              <a:defRPr sz="2325" b="1">
                <a:solidFill>
                  <a:srgbClr val="17334D"/>
                </a:solidFill>
                <a:latin typeface="PingFang SC"/>
                <a:ea typeface="PingFang SC"/>
                <a:cs typeface="PingFang SC"/>
              </a:defRPr>
            </a:pPr>
            <a:r>
              <a:rPr sz="2325" b="1">
                <a:solidFill>
                  <a:srgbClr val="17334D"/>
                </a:solidFill>
                <a:latin typeface="PingFang SC"/>
                <a:ea typeface="PingFang SC"/>
                <a:cs typeface="PingFang SC"/>
              </a:rPr>
              <a:t>PN-1001：20 + 0.5×30 − 18 − 6 = 11件</a:t>
            </a:r>
          </a:p>
        </p:txBody>
      </p:sp>
    </p:spTree>
    <p:extLst>
      <p:ext uri="{BB962C8B-B14F-4D97-AF65-F5344CB8AC3E}">
        <p14:creationId xmlns:p14="http://schemas.microsoft.com/office/powerpoint/2010/main" val="11196944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6B3F97-DD20-485A-B65A-43507CE9C40A}"/>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总缺口18件，哪个件号先启动？</a:t>
            </a:r>
          </a:p>
        </p:txBody>
      </p:sp>
      <p:sp>
        <p:nvSpPr>
          <p:cNvPr id="2" name="">
            <a:extLst xmlns:a="http://schemas.openxmlformats.org/drawingml/2006/main">
              <a:ext uri="{FF2B5EF4-FFF2-40B4-BE49-F238E27FC236}">
                <a16:creationId xmlns:a16="http://schemas.microsoft.com/office/drawing/2014/main" id="{688FB2F2-1A5E-4B39-B7FC-31D38C0C8960}"/>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M01基础教学数据，采购启动规则还要看交期</a:t>
            </a:r>
          </a:p>
        </p:txBody>
      </p:sp>
      <p:sp>
        <p:nvSpPr>
          <p:cNvPr id="3" name="">
            <a:extLst xmlns:a="http://schemas.openxmlformats.org/drawingml/2006/main">
              <a:ext uri="{FF2B5EF4-FFF2-40B4-BE49-F238E27FC236}">
                <a16:creationId xmlns:a16="http://schemas.microsoft.com/office/drawing/2014/main" id="{BAAB9350-9C21-42F9-AAB2-47FCFC3932AB}"/>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需求预测与采购计划  6分钟</a:t>
            </a:r>
          </a:p>
        </p:txBody>
      </p:sp>
      <p:sp>
        <p:nvSpPr>
          <p:cNvPr id="4" name="">
            <a:extLst xmlns:a="http://schemas.openxmlformats.org/drawingml/2006/main">
              <a:ext uri="{FF2B5EF4-FFF2-40B4-BE49-F238E27FC236}">
                <a16:creationId xmlns:a16="http://schemas.microsoft.com/office/drawing/2014/main" id="{6C7D7716-B4B9-4558-9C55-4497170AB2D2}"/>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16 / 94</a:t>
            </a:r>
          </a:p>
        </p:txBody>
      </p:sp>
      <p:graphicFrame>
        <p:nvGraphicFramePr>
          <p:cNvPr id="5" name="Chart">
            <a:extLst xmlns:a="http://schemas.openxmlformats.org/drawingml/2006/main">
              <a:ext uri="{FF2B5EF4-FFF2-40B4-BE49-F238E27FC236}">
                <a16:creationId xmlns:a16="http://schemas.microsoft.com/office/drawing/2014/main" id="{8A6C1CD5-B8D6-4AE3-B6FE-93CC037D6ED0}"/>
              </a:ext>
            </a:extLst>
          </p:cNvPr>
          <p:cNvGraphicFramePr/>
          <p:nvPr/>
        </p:nvGraphicFramePr>
        <p:xfrm>
          <a:off xmlns:a="http://schemas.openxmlformats.org/drawingml/2006/main" x="609600" y="191452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27f7b8cb494b4d3e"/>
          </a:graphicData>
        </a:graphic>
      </p:graphicFrame>
      <p:sp>
        <p:nvSpPr>
          <p:cNvPr id="6" name="">
            <a:extLst xmlns:a="http://schemas.openxmlformats.org/drawingml/2006/main">
              <a:ext uri="{FF2B5EF4-FFF2-40B4-BE49-F238E27FC236}">
                <a16:creationId xmlns:a16="http://schemas.microsoft.com/office/drawing/2014/main" id="{96F35B53-7AB8-4516-8CBC-2028EBEBFDDB}"/>
              </a:ext>
            </a:extLst>
          </p:cNvPr>
          <p:cNvSpPr>
            <a:spLocks xmlns:a="http://schemas.openxmlformats.org/drawingml/2006/main" noGrp="1"/>
          </p:cNvSpPr>
          <p:nvPr/>
        </p:nvSpPr>
        <p:spPr>
          <a:xfrm xmlns:a="http://schemas.openxmlformats.org/drawingml/2006/main">
            <a:off x="619125" y="15621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采购缺口（件）</a:t>
            </a:r>
          </a:p>
        </p:txBody>
      </p:sp>
      <p:sp>
        <p:nvSpPr>
          <p:cNvPr id="7" name="">
            <a:extLst xmlns:a="http://schemas.openxmlformats.org/drawingml/2006/main">
              <a:ext uri="{FF2B5EF4-FFF2-40B4-BE49-F238E27FC236}">
                <a16:creationId xmlns:a16="http://schemas.microsoft.com/office/drawing/2014/main" id="{4BC6916D-AA1C-4372-9F27-E97E88BDD2B0}"/>
              </a:ext>
            </a:extLst>
          </p:cNvPr>
          <p:cNvSpPr>
            <a:spLocks xmlns:a="http://schemas.openxmlformats.org/drawingml/2006/main" noGrp="1"/>
          </p:cNvSpPr>
          <p:nvPr/>
        </p:nvSpPr>
        <p:spPr>
          <a:xfrm xmlns:a="http://schemas.openxmlformats.org/drawingml/2006/main">
            <a:off x="628650" y="5391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本例先关注PN-1002：存在缺口，且采购交期45天</a:t>
            </a:r>
          </a:p>
        </p:txBody>
      </p:sp>
    </p:spTree>
    <p:extLst>
      <p:ext uri="{BB962C8B-B14F-4D97-AF65-F5344CB8AC3E}">
        <p14:creationId xmlns:p14="http://schemas.microsoft.com/office/powerpoint/2010/main" val="3668591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EB120E-601B-40A5-A526-D68BD3FF8EBF}"/>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采购启动日与需求日的关系</a:t>
            </a:r>
          </a:p>
        </p:txBody>
      </p:sp>
      <p:sp>
        <p:nvSpPr>
          <p:cNvPr id="2" name="">
            <a:extLst xmlns:a="http://schemas.openxmlformats.org/drawingml/2006/main">
              <a:ext uri="{FF2B5EF4-FFF2-40B4-BE49-F238E27FC236}">
                <a16:creationId xmlns:a16="http://schemas.microsoft.com/office/drawing/2014/main" id="{4B6BDF67-54AD-4293-A6E6-6AA0DC506715}"/>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交期长，并不自动等于业务最紧急</a:t>
            </a:r>
          </a:p>
        </p:txBody>
      </p:sp>
      <p:sp>
        <p:nvSpPr>
          <p:cNvPr id="3" name="">
            <a:extLst xmlns:a="http://schemas.openxmlformats.org/drawingml/2006/main">
              <a:ext uri="{FF2B5EF4-FFF2-40B4-BE49-F238E27FC236}">
                <a16:creationId xmlns:a16="http://schemas.microsoft.com/office/drawing/2014/main" id="{3745E396-4415-4EB3-95CB-686AF35D4E64}"/>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需求预测与采购计划  8分钟</a:t>
            </a:r>
          </a:p>
        </p:txBody>
      </p:sp>
      <p:sp>
        <p:nvSpPr>
          <p:cNvPr id="4" name="">
            <a:extLst xmlns:a="http://schemas.openxmlformats.org/drawingml/2006/main">
              <a:ext uri="{FF2B5EF4-FFF2-40B4-BE49-F238E27FC236}">
                <a16:creationId xmlns:a16="http://schemas.microsoft.com/office/drawing/2014/main" id="{166EE27E-2FF7-4DE6-87FF-E9F75FDC37E7}"/>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17 / 94</a:t>
            </a:r>
          </a:p>
        </p:txBody>
      </p:sp>
      <p:graphicFrame>
        <p:nvGraphicFramePr>
          <p:cNvPr id="5" name="">
            <a:extLst xmlns:a="http://schemas.openxmlformats.org/drawingml/2006/main">
              <a:ext uri="{FF2B5EF4-FFF2-40B4-BE49-F238E27FC236}">
                <a16:creationId xmlns:a16="http://schemas.microsoft.com/office/drawing/2014/main" id="{30FDF7A1-D3E8-40A3-A7A4-5E8476D01094}"/>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667000"/>
                <a:gridCol w="4191000"/>
                <a:gridCol w="4114800"/>
              </a:tblGrid>
              <a:tr h="800100">
                <a:tc>
                  <a:txBody>
                    <a:bodyPr lIns="114300" tIns="114300" rIns="114300" bIns="114300"/>
                    <a:lstStyle/>
                    <a:p>
                      <a:r>
                        <a:rPr sz="1725" b="1">
                          <a:solidFill>
                            <a:srgbClr val="477FA8"/>
                          </a:solidFill>
                          <a:latin typeface="PingFang SC"/>
                          <a:ea typeface="PingFang SC"/>
                          <a:cs typeface="PingFang SC"/>
                        </a:rPr>
                        <a:t>核对项</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要回答的问题</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需要的证据</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维修需求日期</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最晚何时必须可用？</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计划版本、工作包</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供应和内部处理时间</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采购、运输、收货共需多久？</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历史交期与当前承诺</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缓冲与例外</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哪部分时间可能波动？</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异常记录、审核要求</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启动日已过</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需要调整哪项保障方式？</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催交、调拨、借件候选</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14114131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6B2379-BF4A-434C-97A7-BAE995483939}"/>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需求增加20%，缺口会怎样变化？</a:t>
            </a:r>
          </a:p>
        </p:txBody>
      </p:sp>
      <p:sp>
        <p:nvSpPr>
          <p:cNvPr id="2" name="">
            <a:extLst xmlns:a="http://schemas.openxmlformats.org/drawingml/2006/main">
              <a:ext uri="{FF2B5EF4-FFF2-40B4-BE49-F238E27FC236}">
                <a16:creationId xmlns:a16="http://schemas.microsoft.com/office/drawing/2014/main" id="{034358D7-2C59-4E6B-99F9-614CAC0BDAE3}"/>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教学情景：计划与非计划需求合计统一乘以1.2</a:t>
            </a:r>
          </a:p>
        </p:txBody>
      </p:sp>
      <p:sp>
        <p:nvSpPr>
          <p:cNvPr id="3" name="">
            <a:extLst xmlns:a="http://schemas.openxmlformats.org/drawingml/2006/main">
              <a:ext uri="{FF2B5EF4-FFF2-40B4-BE49-F238E27FC236}">
                <a16:creationId xmlns:a16="http://schemas.microsoft.com/office/drawing/2014/main" id="{461916D7-8E4A-4E70-A876-95D84F9C864A}"/>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需求预测与采购计划  5分钟</a:t>
            </a:r>
          </a:p>
        </p:txBody>
      </p:sp>
      <p:sp>
        <p:nvSpPr>
          <p:cNvPr id="4" name="">
            <a:extLst xmlns:a="http://schemas.openxmlformats.org/drawingml/2006/main">
              <a:ext uri="{FF2B5EF4-FFF2-40B4-BE49-F238E27FC236}">
                <a16:creationId xmlns:a16="http://schemas.microsoft.com/office/drawing/2014/main" id="{38AD0853-48DB-43AC-91F5-915CFAFF8917}"/>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18 / 94</a:t>
            </a:r>
          </a:p>
        </p:txBody>
      </p:sp>
      <p:graphicFrame>
        <p:nvGraphicFramePr>
          <p:cNvPr id="5" name="Chart">
            <a:extLst xmlns:a="http://schemas.openxmlformats.org/drawingml/2006/main">
              <a:ext uri="{FF2B5EF4-FFF2-40B4-BE49-F238E27FC236}">
                <a16:creationId xmlns:a16="http://schemas.microsoft.com/office/drawing/2014/main" id="{09B02B4D-90B4-48FC-8B85-0AF400BA241D}"/>
              </a:ext>
            </a:extLst>
          </p:cNvPr>
          <p:cNvGraphicFramePr/>
          <p:nvPr/>
        </p:nvGraphicFramePr>
        <p:xfrm>
          <a:off xmlns:a="http://schemas.openxmlformats.org/drawingml/2006/main" x="609600" y="191452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dbd3ee25e9b944c2"/>
          </a:graphicData>
        </a:graphic>
      </p:graphicFrame>
      <p:sp>
        <p:nvSpPr>
          <p:cNvPr id="6" name="">
            <a:extLst xmlns:a="http://schemas.openxmlformats.org/drawingml/2006/main">
              <a:ext uri="{FF2B5EF4-FFF2-40B4-BE49-F238E27FC236}">
                <a16:creationId xmlns:a16="http://schemas.microsoft.com/office/drawing/2014/main" id="{1563A25E-3D81-4487-84AE-15A3619166FC}"/>
              </a:ext>
            </a:extLst>
          </p:cNvPr>
          <p:cNvSpPr>
            <a:spLocks xmlns:a="http://schemas.openxmlformats.org/drawingml/2006/main" noGrp="1"/>
          </p:cNvSpPr>
          <p:nvPr/>
        </p:nvSpPr>
        <p:spPr>
          <a:xfrm xmlns:a="http://schemas.openxmlformats.org/drawingml/2006/main">
            <a:off x="619125" y="15621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采购缺口（件）</a:t>
            </a:r>
          </a:p>
        </p:txBody>
      </p:sp>
      <p:sp>
        <p:nvSpPr>
          <p:cNvPr id="7" name="">
            <a:extLst xmlns:a="http://schemas.openxmlformats.org/drawingml/2006/main">
              <a:ext uri="{FF2B5EF4-FFF2-40B4-BE49-F238E27FC236}">
                <a16:creationId xmlns:a16="http://schemas.microsoft.com/office/drawing/2014/main" id="{9F34DC4C-C324-4746-9992-C5F3425C1F8C}"/>
              </a:ext>
            </a:extLst>
          </p:cNvPr>
          <p:cNvSpPr>
            <a:spLocks xmlns:a="http://schemas.openxmlformats.org/drawingml/2006/main" noGrp="1"/>
          </p:cNvSpPr>
          <p:nvPr/>
        </p:nvSpPr>
        <p:spPr>
          <a:xfrm xmlns:a="http://schemas.openxmlformats.org/drawingml/2006/main">
            <a:off x="628650" y="5391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总缺口从18件变为30件，库存和在途保持不变</a:t>
            </a:r>
          </a:p>
        </p:txBody>
      </p:sp>
    </p:spTree>
    <p:extLst>
      <p:ext uri="{BB962C8B-B14F-4D97-AF65-F5344CB8AC3E}">
        <p14:creationId xmlns:p14="http://schemas.microsoft.com/office/powerpoint/2010/main" val="139264106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775AF4-58FE-4D6B-AFFB-C16C3FCD50B4}"/>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预测、规则与人工如何配合？</a:t>
            </a:r>
          </a:p>
        </p:txBody>
      </p:sp>
      <p:sp>
        <p:nvSpPr>
          <p:cNvPr id="2" name="">
            <a:extLst xmlns:a="http://schemas.openxmlformats.org/drawingml/2006/main">
              <a:ext uri="{FF2B5EF4-FFF2-40B4-BE49-F238E27FC236}">
                <a16:creationId xmlns:a16="http://schemas.microsoft.com/office/drawing/2014/main" id="{FBD8F802-80D2-47A6-BB5D-7567AB1C99AD}"/>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模型计算前，先决定哪些信息可以被信任</a:t>
            </a:r>
          </a:p>
        </p:txBody>
      </p:sp>
      <p:sp>
        <p:nvSpPr>
          <p:cNvPr id="3" name="">
            <a:extLst xmlns:a="http://schemas.openxmlformats.org/drawingml/2006/main">
              <a:ext uri="{FF2B5EF4-FFF2-40B4-BE49-F238E27FC236}">
                <a16:creationId xmlns:a16="http://schemas.microsoft.com/office/drawing/2014/main" id="{1F0F7080-A05A-4113-B334-DED1B241C8C6}"/>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需求预测与采购计划  5分钟</a:t>
            </a:r>
          </a:p>
        </p:txBody>
      </p:sp>
      <p:sp>
        <p:nvSpPr>
          <p:cNvPr id="4" name="">
            <a:extLst xmlns:a="http://schemas.openxmlformats.org/drawingml/2006/main">
              <a:ext uri="{FF2B5EF4-FFF2-40B4-BE49-F238E27FC236}">
                <a16:creationId xmlns:a16="http://schemas.microsoft.com/office/drawing/2014/main" id="{C92D7693-384C-4E53-8353-BF0571D6EE0F}"/>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19 / 94</a:t>
            </a:r>
          </a:p>
        </p:txBody>
      </p:sp>
      <p:sp>
        <p:nvSpPr>
          <p:cNvPr id="5" name="">
            <a:extLst xmlns:a="http://schemas.openxmlformats.org/drawingml/2006/main">
              <a:ext uri="{FF2B5EF4-FFF2-40B4-BE49-F238E27FC236}">
                <a16:creationId xmlns:a16="http://schemas.microsoft.com/office/drawing/2014/main" id="{8F3EBE43-3FAB-4FE6-B449-98B415A5A0FD}"/>
              </a:ext>
            </a:extLst>
          </p:cNvPr>
          <p:cNvSpPr>
            <a:spLocks xmlns:a="http://schemas.openxmlformats.org/drawingml/2006/main" noGrp="1"/>
          </p:cNvSpPr>
          <p:nvPr/>
        </p:nvSpPr>
        <p:spPr>
          <a:xfrm xmlns:a="http://schemas.openxmlformats.org/drawingml/2006/main">
            <a:off x="609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AI与模型的作用</a:t>
            </a:r>
          </a:p>
        </p:txBody>
      </p:sp>
      <p:sp>
        <p:nvSpPr>
          <p:cNvPr id="6" name="">
            <a:extLst xmlns:a="http://schemas.openxmlformats.org/drawingml/2006/main">
              <a:ext uri="{FF2B5EF4-FFF2-40B4-BE49-F238E27FC236}">
                <a16:creationId xmlns:a16="http://schemas.microsoft.com/office/drawing/2014/main" id="{1224A6C8-F066-4933-80D5-E360E4E2AB33}"/>
              </a:ext>
            </a:extLst>
          </p:cNvPr>
          <p:cNvSpPr>
            <a:spLocks xmlns:a="http://schemas.openxmlformats.org/drawingml/2006/main" noGrp="1"/>
          </p:cNvSpPr>
          <p:nvPr/>
        </p:nvSpPr>
        <p:spPr>
          <a:xfrm xmlns:a="http://schemas.openxmlformats.org/drawingml/2006/main">
            <a:off x="609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辅助整理需求变更</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计算不同情景的缺口</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提示异常记录与缺失字段</a:t>
            </a:r>
          </a:p>
        </p:txBody>
      </p:sp>
      <p:sp>
        <p:nvSpPr>
          <p:cNvPr id="7" name="">
            <a:extLst xmlns:a="http://schemas.openxmlformats.org/drawingml/2006/main">
              <a:ext uri="{FF2B5EF4-FFF2-40B4-BE49-F238E27FC236}">
                <a16:creationId xmlns:a16="http://schemas.microsoft.com/office/drawing/2014/main" id="{B1089405-B6B0-48CD-BBC4-4B1883D20137}"/>
              </a:ext>
            </a:extLst>
          </p:cNvPr>
          <p:cNvSpPr>
            <a:spLocks xmlns:a="http://schemas.openxmlformats.org/drawingml/2006/main" noGrp="1"/>
          </p:cNvSpPr>
          <p:nvPr/>
        </p:nvSpPr>
        <p:spPr>
          <a:xfrm xmlns:a="http://schemas.openxmlformats.org/drawingml/2006/main">
            <a:off x="6324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必须由业务确认</a:t>
            </a:r>
          </a:p>
        </p:txBody>
      </p:sp>
      <p:sp>
        <p:nvSpPr>
          <p:cNvPr id="8" name="">
            <a:extLst xmlns:a="http://schemas.openxmlformats.org/drawingml/2006/main">
              <a:ext uri="{FF2B5EF4-FFF2-40B4-BE49-F238E27FC236}">
                <a16:creationId xmlns:a16="http://schemas.microsoft.com/office/drawing/2014/main" id="{255054D0-50A2-4CFB-A80D-5125F28C2B70}"/>
              </a:ext>
            </a:extLst>
          </p:cNvPr>
          <p:cNvSpPr>
            <a:spLocks xmlns:a="http://schemas.openxmlformats.org/drawingml/2006/main" noGrp="1"/>
          </p:cNvSpPr>
          <p:nvPr/>
        </p:nvSpPr>
        <p:spPr>
          <a:xfrm xmlns:a="http://schemas.openxmlformats.org/drawingml/2006/main">
            <a:off x="6324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工作包是否生效</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替代性与需求重复</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需求日和采购决策权限</a:t>
            </a:r>
          </a:p>
        </p:txBody>
      </p:sp>
    </p:spTree>
    <p:extLst>
      <p:ext uri="{BB962C8B-B14F-4D97-AF65-F5344CB8AC3E}">
        <p14:creationId xmlns:p14="http://schemas.microsoft.com/office/powerpoint/2010/main" val="187164718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BB109A7-AC50-4556-ACC3-7E1BC2C65A36}"/>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实训准备：缺口计算缺哪一类数据？</a:t>
            </a:r>
          </a:p>
        </p:txBody>
      </p:sp>
      <p:sp>
        <p:nvSpPr>
          <p:cNvPr id="2" name="">
            <a:extLst xmlns:a="http://schemas.openxmlformats.org/drawingml/2006/main">
              <a:ext uri="{FF2B5EF4-FFF2-40B4-BE49-F238E27FC236}">
                <a16:creationId xmlns:a16="http://schemas.microsoft.com/office/drawing/2014/main" id="{75AAA6CD-1759-417C-B96B-7AA3B1FCF216}"/>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系统帮助学员把数据来源与业务问题对齐</a:t>
            </a:r>
          </a:p>
        </p:txBody>
      </p:sp>
      <p:sp>
        <p:nvSpPr>
          <p:cNvPr id="3" name="">
            <a:extLst xmlns:a="http://schemas.openxmlformats.org/drawingml/2006/main">
              <a:ext uri="{FF2B5EF4-FFF2-40B4-BE49-F238E27FC236}">
                <a16:creationId xmlns:a16="http://schemas.microsoft.com/office/drawing/2014/main" id="{31AE350A-D4BE-419A-A385-0D0B07CFB083}"/>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需求预测与采购计划  8分钟</a:t>
            </a:r>
          </a:p>
        </p:txBody>
      </p:sp>
      <p:sp>
        <p:nvSpPr>
          <p:cNvPr id="4" name="">
            <a:extLst xmlns:a="http://schemas.openxmlformats.org/drawingml/2006/main">
              <a:ext uri="{FF2B5EF4-FFF2-40B4-BE49-F238E27FC236}">
                <a16:creationId xmlns:a16="http://schemas.microsoft.com/office/drawing/2014/main" id="{BCC3BB4D-56C8-4BAC-BD66-B55D202AA9EB}"/>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20 / 94</a:t>
            </a:r>
          </a:p>
        </p:txBody>
      </p:sp>
      <p:pic>
        <p:nvPicPr>
          <p:cNvPr id="5" name="">
            <a:extLst xmlns:a="http://schemas.openxmlformats.org/drawingml/2006/main">
              <a:ext uri="{FF2B5EF4-FFF2-40B4-BE49-F238E27FC236}">
                <a16:creationId xmlns:a16="http://schemas.microsoft.com/office/drawing/2014/main" id="{B770707F-F254-4B5E-9514-6F33461EBFFC}"/>
              </a:ext>
            </a:extLst>
          </p:cNvPr>
          <p:cNvPicPr>
            <a:picLocks xmlns:a="http://schemas.openxmlformats.org/drawingml/2006/main" noChangeAspect="1"/>
          </p:cNvPicPr>
          <p:nvPr/>
        </p:nvPicPr>
        <p:blipFill>
          <a:blip xmlns:r="http://schemas.openxmlformats.org/officeDocument/2006/relationships" xmlns:a="http://schemas.openxmlformats.org/drawingml/2006/main" r:embed="R3022c2def8184cbe"/>
          <a:stretch xmlns:a="http://schemas.openxmlformats.org/drawingml/2006/main"/>
        </p:blipFill>
        <p:spPr>
          <a:xfrm xmlns:a="http://schemas.openxmlformats.org/drawingml/2006/main">
            <a:off x="609600" y="2759869"/>
            <a:ext cx="7715250" cy="162401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719743E-11C9-4464-B71F-A6B9288AAC6C}"/>
              </a:ext>
            </a:extLst>
          </p:cNvPr>
          <p:cNvSpPr>
            <a:spLocks xmlns:a="http://schemas.openxmlformats.org/drawingml/2006/main" noGrp="1"/>
          </p:cNvSpPr>
          <p:nvPr/>
        </p:nvSpPr>
        <p:spPr>
          <a:xfrm xmlns:a="http://schemas.openxmlformats.org/drawingml/2006/main">
            <a:off x="8858250" y="1809750"/>
            <a:ext cx="2724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业务核对</a:t>
            </a:r>
          </a:p>
        </p:txBody>
      </p:sp>
      <p:sp>
        <p:nvSpPr>
          <p:cNvPr id="7" name="">
            <a:extLst xmlns:a="http://schemas.openxmlformats.org/drawingml/2006/main">
              <a:ext uri="{FF2B5EF4-FFF2-40B4-BE49-F238E27FC236}">
                <a16:creationId xmlns:a16="http://schemas.microsoft.com/office/drawing/2014/main" id="{72F3AE48-6F3F-467B-BDF0-C4E801E8AE48}"/>
              </a:ext>
            </a:extLst>
          </p:cNvPr>
          <p:cNvSpPr>
            <a:spLocks xmlns:a="http://schemas.openxmlformats.org/drawingml/2006/main" noGrp="1"/>
          </p:cNvSpPr>
          <p:nvPr/>
        </p:nvSpPr>
        <p:spPr>
          <a:xfrm xmlns:a="http://schemas.openxmlformats.org/drawingml/2006/main">
            <a:off x="8858250" y="25622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01</a:t>
            </a:r>
          </a:p>
        </p:txBody>
      </p:sp>
      <p:sp>
        <p:nvSpPr>
          <p:cNvPr id="8" name="">
            <a:extLst xmlns:a="http://schemas.openxmlformats.org/drawingml/2006/main">
              <a:ext uri="{FF2B5EF4-FFF2-40B4-BE49-F238E27FC236}">
                <a16:creationId xmlns:a16="http://schemas.microsoft.com/office/drawing/2014/main" id="{10B6E541-4B6D-4649-9CE6-09F467694E4A}"/>
              </a:ext>
            </a:extLst>
          </p:cNvPr>
          <p:cNvSpPr>
            <a:spLocks xmlns:a="http://schemas.openxmlformats.org/drawingml/2006/main" noGrp="1"/>
          </p:cNvSpPr>
          <p:nvPr/>
        </p:nvSpPr>
        <p:spPr>
          <a:xfrm xmlns:a="http://schemas.openxmlformats.org/drawingml/2006/main">
            <a:off x="8858250" y="29432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需求是否重复？</a:t>
            </a:r>
          </a:p>
        </p:txBody>
      </p:sp>
      <p:sp>
        <p:nvSpPr>
          <p:cNvPr id="9" name="">
            <a:extLst xmlns:a="http://schemas.openxmlformats.org/drawingml/2006/main">
              <a:ext uri="{FF2B5EF4-FFF2-40B4-BE49-F238E27FC236}">
                <a16:creationId xmlns:a16="http://schemas.microsoft.com/office/drawing/2014/main" id="{3C8D86E7-54DE-415A-8CBA-B320E44C03D1}"/>
              </a:ext>
            </a:extLst>
          </p:cNvPr>
          <p:cNvSpPr>
            <a:spLocks xmlns:a="http://schemas.openxmlformats.org/drawingml/2006/main" noGrp="1"/>
          </p:cNvSpPr>
          <p:nvPr/>
        </p:nvSpPr>
        <p:spPr>
          <a:xfrm xmlns:a="http://schemas.openxmlformats.org/drawingml/2006/main">
            <a:off x="8858250" y="36290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02</a:t>
            </a:r>
          </a:p>
        </p:txBody>
      </p:sp>
      <p:sp>
        <p:nvSpPr>
          <p:cNvPr id="10" name="">
            <a:extLst xmlns:a="http://schemas.openxmlformats.org/drawingml/2006/main">
              <a:ext uri="{FF2B5EF4-FFF2-40B4-BE49-F238E27FC236}">
                <a16:creationId xmlns:a16="http://schemas.microsoft.com/office/drawing/2014/main" id="{EAF60D06-ECFF-42DF-8604-95F251EDEBD7}"/>
              </a:ext>
            </a:extLst>
          </p:cNvPr>
          <p:cNvSpPr>
            <a:spLocks xmlns:a="http://schemas.openxmlformats.org/drawingml/2006/main" noGrp="1"/>
          </p:cNvSpPr>
          <p:nvPr/>
        </p:nvSpPr>
        <p:spPr>
          <a:xfrm xmlns:a="http://schemas.openxmlformats.org/drawingml/2006/main">
            <a:off x="8858250" y="40100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库存与在途是否可用？</a:t>
            </a:r>
          </a:p>
        </p:txBody>
      </p:sp>
      <p:sp>
        <p:nvSpPr>
          <p:cNvPr id="11" name="">
            <a:extLst xmlns:a="http://schemas.openxmlformats.org/drawingml/2006/main">
              <a:ext uri="{FF2B5EF4-FFF2-40B4-BE49-F238E27FC236}">
                <a16:creationId xmlns:a16="http://schemas.microsoft.com/office/drawing/2014/main" id="{85F2242D-5920-4901-99ED-69226537AEE0}"/>
              </a:ext>
            </a:extLst>
          </p:cNvPr>
          <p:cNvSpPr>
            <a:spLocks xmlns:a="http://schemas.openxmlformats.org/drawingml/2006/main" noGrp="1"/>
          </p:cNvSpPr>
          <p:nvPr/>
        </p:nvSpPr>
        <p:spPr>
          <a:xfrm xmlns:a="http://schemas.openxmlformats.org/drawingml/2006/main">
            <a:off x="8858250" y="46958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03</a:t>
            </a:r>
          </a:p>
        </p:txBody>
      </p:sp>
      <p:sp>
        <p:nvSpPr>
          <p:cNvPr id="12" name="">
            <a:extLst xmlns:a="http://schemas.openxmlformats.org/drawingml/2006/main">
              <a:ext uri="{FF2B5EF4-FFF2-40B4-BE49-F238E27FC236}">
                <a16:creationId xmlns:a16="http://schemas.microsoft.com/office/drawing/2014/main" id="{CD218408-AA1A-430C-BB9F-8A03642F5E2E}"/>
              </a:ext>
            </a:extLst>
          </p:cNvPr>
          <p:cNvSpPr>
            <a:spLocks xmlns:a="http://schemas.openxmlformats.org/drawingml/2006/main" noGrp="1"/>
          </p:cNvSpPr>
          <p:nvPr/>
        </p:nvSpPr>
        <p:spPr>
          <a:xfrm xmlns:a="http://schemas.openxmlformats.org/drawingml/2006/main">
            <a:off x="8858250" y="50768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供应周期是否仍有效？</a:t>
            </a:r>
          </a:p>
        </p:txBody>
      </p:sp>
      <p:sp>
        <p:nvSpPr>
          <p:cNvPr id="13" name="">
            <a:extLst xmlns:a="http://schemas.openxmlformats.org/drawingml/2006/main">
              <a:ext uri="{FF2B5EF4-FFF2-40B4-BE49-F238E27FC236}">
                <a16:creationId xmlns:a16="http://schemas.microsoft.com/office/drawing/2014/main" id="{C85B21F0-904C-4356-A81A-499652322E38}"/>
              </a:ext>
            </a:extLst>
          </p:cNvPr>
          <p:cNvSpPr>
            <a:spLocks xmlns:a="http://schemas.openxmlformats.org/drawingml/2006/main" noGrp="1"/>
          </p:cNvSpPr>
          <p:nvPr/>
        </p:nvSpPr>
        <p:spPr>
          <a:xfrm xmlns:a="http://schemas.openxmlformats.org/drawingml/2006/main">
            <a:off x="628650" y="5810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培训系统实际界面，数据为模拟。计算之后仍需业务复核</a:t>
            </a:r>
          </a:p>
        </p:txBody>
      </p:sp>
    </p:spTree>
    <p:extLst>
      <p:ext uri="{BB962C8B-B14F-4D97-AF65-F5344CB8AC3E}">
        <p14:creationId xmlns:p14="http://schemas.microsoft.com/office/powerpoint/2010/main" val="8046515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FC85388-E69A-4E6D-BF05-E4545E399869}"/>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实训核对：计算结果支持什么结论？</a:t>
            </a:r>
          </a:p>
        </p:txBody>
      </p:sp>
      <p:sp>
        <p:nvSpPr>
          <p:cNvPr id="2" name="">
            <a:extLst xmlns:a="http://schemas.openxmlformats.org/drawingml/2006/main">
              <a:ext uri="{FF2B5EF4-FFF2-40B4-BE49-F238E27FC236}">
                <a16:creationId xmlns:a16="http://schemas.microsoft.com/office/drawing/2014/main" id="{3DA736B4-8CF7-49EA-A4D4-0618EA8F6FB6}"/>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先复算一个件号，再解释采购启动顺序</a:t>
            </a:r>
          </a:p>
        </p:txBody>
      </p:sp>
      <p:sp>
        <p:nvSpPr>
          <p:cNvPr id="3" name="">
            <a:extLst xmlns:a="http://schemas.openxmlformats.org/drawingml/2006/main">
              <a:ext uri="{FF2B5EF4-FFF2-40B4-BE49-F238E27FC236}">
                <a16:creationId xmlns:a16="http://schemas.microsoft.com/office/drawing/2014/main" id="{CF37BF36-E3D8-4343-B53B-3172977D520B}"/>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需求预测与采购计划  6分钟</a:t>
            </a:r>
          </a:p>
        </p:txBody>
      </p:sp>
      <p:sp>
        <p:nvSpPr>
          <p:cNvPr id="4" name="">
            <a:extLst xmlns:a="http://schemas.openxmlformats.org/drawingml/2006/main">
              <a:ext uri="{FF2B5EF4-FFF2-40B4-BE49-F238E27FC236}">
                <a16:creationId xmlns:a16="http://schemas.microsoft.com/office/drawing/2014/main" id="{374B6AAF-D655-4262-AFDE-0C46065A1108}"/>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21 / 94</a:t>
            </a:r>
          </a:p>
        </p:txBody>
      </p:sp>
      <p:pic>
        <p:nvPicPr>
          <p:cNvPr id="5" name="">
            <a:extLst xmlns:a="http://schemas.openxmlformats.org/drawingml/2006/main">
              <a:ext uri="{FF2B5EF4-FFF2-40B4-BE49-F238E27FC236}">
                <a16:creationId xmlns:a16="http://schemas.microsoft.com/office/drawing/2014/main" id="{5CDA0D36-9B90-4C23-A6DC-DB6D2B7B24B6}"/>
              </a:ext>
            </a:extLst>
          </p:cNvPr>
          <p:cNvPicPr>
            <a:picLocks xmlns:a="http://schemas.openxmlformats.org/drawingml/2006/main" noChangeAspect="1"/>
          </p:cNvPicPr>
          <p:nvPr/>
        </p:nvPicPr>
        <p:blipFill>
          <a:blip xmlns:r="http://schemas.openxmlformats.org/officeDocument/2006/relationships" xmlns:a="http://schemas.openxmlformats.org/drawingml/2006/main" r:embed="R3c74a14771cd4b5f"/>
          <a:stretch xmlns:a="http://schemas.openxmlformats.org/drawingml/2006/main"/>
        </p:blipFill>
        <p:spPr>
          <a:xfrm xmlns:a="http://schemas.openxmlformats.org/drawingml/2006/main">
            <a:off x="609600" y="2917031"/>
            <a:ext cx="7715250" cy="13096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05A3C70-F03C-4720-B747-14F9391B7A34}"/>
              </a:ext>
            </a:extLst>
          </p:cNvPr>
          <p:cNvSpPr>
            <a:spLocks xmlns:a="http://schemas.openxmlformats.org/drawingml/2006/main" noGrp="1"/>
          </p:cNvSpPr>
          <p:nvPr/>
        </p:nvSpPr>
        <p:spPr>
          <a:xfrm xmlns:a="http://schemas.openxmlformats.org/drawingml/2006/main">
            <a:off x="8858250" y="1809750"/>
            <a:ext cx="2724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业务核对</a:t>
            </a:r>
          </a:p>
        </p:txBody>
      </p:sp>
      <p:sp>
        <p:nvSpPr>
          <p:cNvPr id="7" name="">
            <a:extLst xmlns:a="http://schemas.openxmlformats.org/drawingml/2006/main">
              <a:ext uri="{FF2B5EF4-FFF2-40B4-BE49-F238E27FC236}">
                <a16:creationId xmlns:a16="http://schemas.microsoft.com/office/drawing/2014/main" id="{79C07DCF-A837-460D-8328-2FD86A82CDA4}"/>
              </a:ext>
            </a:extLst>
          </p:cNvPr>
          <p:cNvSpPr>
            <a:spLocks xmlns:a="http://schemas.openxmlformats.org/drawingml/2006/main" noGrp="1"/>
          </p:cNvSpPr>
          <p:nvPr/>
        </p:nvSpPr>
        <p:spPr>
          <a:xfrm xmlns:a="http://schemas.openxmlformats.org/drawingml/2006/main">
            <a:off x="8858250" y="25622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01</a:t>
            </a:r>
          </a:p>
        </p:txBody>
      </p:sp>
      <p:sp>
        <p:nvSpPr>
          <p:cNvPr id="8" name="">
            <a:extLst xmlns:a="http://schemas.openxmlformats.org/drawingml/2006/main">
              <a:ext uri="{FF2B5EF4-FFF2-40B4-BE49-F238E27FC236}">
                <a16:creationId xmlns:a16="http://schemas.microsoft.com/office/drawing/2014/main" id="{A0900489-89CF-4E4F-93FD-978AF7547A0C}"/>
              </a:ext>
            </a:extLst>
          </p:cNvPr>
          <p:cNvSpPr>
            <a:spLocks xmlns:a="http://schemas.openxmlformats.org/drawingml/2006/main" noGrp="1"/>
          </p:cNvSpPr>
          <p:nvPr/>
        </p:nvSpPr>
        <p:spPr>
          <a:xfrm xmlns:a="http://schemas.openxmlformats.org/drawingml/2006/main">
            <a:off x="8858250" y="29432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核对11、7、0件缺口</a:t>
            </a:r>
          </a:p>
        </p:txBody>
      </p:sp>
      <p:sp>
        <p:nvSpPr>
          <p:cNvPr id="9" name="">
            <a:extLst xmlns:a="http://schemas.openxmlformats.org/drawingml/2006/main">
              <a:ext uri="{FF2B5EF4-FFF2-40B4-BE49-F238E27FC236}">
                <a16:creationId xmlns:a16="http://schemas.microsoft.com/office/drawing/2014/main" id="{4EF4C819-390E-4F57-8B7E-3B334D14FDAD}"/>
              </a:ext>
            </a:extLst>
          </p:cNvPr>
          <p:cNvSpPr>
            <a:spLocks xmlns:a="http://schemas.openxmlformats.org/drawingml/2006/main" noGrp="1"/>
          </p:cNvSpPr>
          <p:nvPr/>
        </p:nvSpPr>
        <p:spPr>
          <a:xfrm xmlns:a="http://schemas.openxmlformats.org/drawingml/2006/main">
            <a:off x="8858250" y="36290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02</a:t>
            </a:r>
          </a:p>
        </p:txBody>
      </p:sp>
      <p:sp>
        <p:nvSpPr>
          <p:cNvPr id="10" name="">
            <a:extLst xmlns:a="http://schemas.openxmlformats.org/drawingml/2006/main">
              <a:ext uri="{FF2B5EF4-FFF2-40B4-BE49-F238E27FC236}">
                <a16:creationId xmlns:a16="http://schemas.microsoft.com/office/drawing/2014/main" id="{D208216D-E50A-47F4-93AC-1A5CFFB2E1ED}"/>
              </a:ext>
            </a:extLst>
          </p:cNvPr>
          <p:cNvSpPr>
            <a:spLocks xmlns:a="http://schemas.openxmlformats.org/drawingml/2006/main" noGrp="1"/>
          </p:cNvSpPr>
          <p:nvPr/>
        </p:nvSpPr>
        <p:spPr>
          <a:xfrm xmlns:a="http://schemas.openxmlformats.org/drawingml/2006/main">
            <a:off x="8858250" y="40100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解释45天交期与顺序</a:t>
            </a:r>
          </a:p>
        </p:txBody>
      </p:sp>
      <p:sp>
        <p:nvSpPr>
          <p:cNvPr id="11" name="">
            <a:extLst xmlns:a="http://schemas.openxmlformats.org/drawingml/2006/main">
              <a:ext uri="{FF2B5EF4-FFF2-40B4-BE49-F238E27FC236}">
                <a16:creationId xmlns:a16="http://schemas.microsoft.com/office/drawing/2014/main" id="{7EBEF352-F75C-40F5-9F30-2483764632BE}"/>
              </a:ext>
            </a:extLst>
          </p:cNvPr>
          <p:cNvSpPr>
            <a:spLocks xmlns:a="http://schemas.openxmlformats.org/drawingml/2006/main" noGrp="1"/>
          </p:cNvSpPr>
          <p:nvPr/>
        </p:nvSpPr>
        <p:spPr>
          <a:xfrm xmlns:a="http://schemas.openxmlformats.org/drawingml/2006/main">
            <a:off x="8858250" y="46958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03</a:t>
            </a:r>
          </a:p>
        </p:txBody>
      </p:sp>
      <p:sp>
        <p:nvSpPr>
          <p:cNvPr id="12" name="">
            <a:extLst xmlns:a="http://schemas.openxmlformats.org/drawingml/2006/main">
              <a:ext uri="{FF2B5EF4-FFF2-40B4-BE49-F238E27FC236}">
                <a16:creationId xmlns:a16="http://schemas.microsoft.com/office/drawing/2014/main" id="{D22C7139-2454-406D-B72D-22F51B5FD8C7}"/>
              </a:ext>
            </a:extLst>
          </p:cNvPr>
          <p:cNvSpPr>
            <a:spLocks xmlns:a="http://schemas.openxmlformats.org/drawingml/2006/main" noGrp="1"/>
          </p:cNvSpPr>
          <p:nvPr/>
        </p:nvSpPr>
        <p:spPr>
          <a:xfrm xmlns:a="http://schemas.openxmlformats.org/drawingml/2006/main">
            <a:off x="8858250" y="50768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补充需求日等遗漏项</a:t>
            </a:r>
          </a:p>
        </p:txBody>
      </p:sp>
      <p:sp>
        <p:nvSpPr>
          <p:cNvPr id="13" name="">
            <a:extLst xmlns:a="http://schemas.openxmlformats.org/drawingml/2006/main">
              <a:ext uri="{FF2B5EF4-FFF2-40B4-BE49-F238E27FC236}">
                <a16:creationId xmlns:a16="http://schemas.microsoft.com/office/drawing/2014/main" id="{C7BBD999-FDF7-4BEF-ACEF-80477C1B33A9}"/>
              </a:ext>
            </a:extLst>
          </p:cNvPr>
          <p:cNvSpPr>
            <a:spLocks xmlns:a="http://schemas.openxmlformats.org/drawingml/2006/main" noGrp="1"/>
          </p:cNvSpPr>
          <p:nvPr/>
        </p:nvSpPr>
        <p:spPr>
          <a:xfrm xmlns:a="http://schemas.openxmlformats.org/drawingml/2006/main">
            <a:off x="628650" y="5810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培训系统实际界面，数据为模拟。计算之后仍需业务复核</a:t>
            </a:r>
          </a:p>
        </p:txBody>
      </p:sp>
    </p:spTree>
    <p:extLst>
      <p:ext uri="{BB962C8B-B14F-4D97-AF65-F5344CB8AC3E}">
        <p14:creationId xmlns:p14="http://schemas.microsoft.com/office/powerpoint/2010/main" val="5872949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4271EF1-C728-443B-99D2-90EBA61F3881}"/>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M01实训：编制预防性采购建议</a:t>
            </a:r>
          </a:p>
        </p:txBody>
      </p:sp>
      <p:sp>
        <p:nvSpPr>
          <p:cNvPr id="2" name="">
            <a:extLst xmlns:a="http://schemas.openxmlformats.org/drawingml/2006/main">
              <a:ext uri="{FF2B5EF4-FFF2-40B4-BE49-F238E27FC236}">
                <a16:creationId xmlns:a16="http://schemas.microsoft.com/office/drawing/2014/main" id="{5AE1C22A-1262-483E-BF2D-AD59D0282D4C}"/>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25分钟，先计算再讨论情景变化</a:t>
            </a:r>
          </a:p>
        </p:txBody>
      </p:sp>
      <p:sp>
        <p:nvSpPr>
          <p:cNvPr id="3" name="">
            <a:extLst xmlns:a="http://schemas.openxmlformats.org/drawingml/2006/main">
              <a:ext uri="{FF2B5EF4-FFF2-40B4-BE49-F238E27FC236}">
                <a16:creationId xmlns:a16="http://schemas.microsoft.com/office/drawing/2014/main" id="{066D0B44-9D8A-4C7D-A1B7-5256A8BFE2C1}"/>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需求预测与采购计划  25分钟</a:t>
            </a:r>
          </a:p>
        </p:txBody>
      </p:sp>
      <p:sp>
        <p:nvSpPr>
          <p:cNvPr id="4" name="">
            <a:extLst xmlns:a="http://schemas.openxmlformats.org/drawingml/2006/main">
              <a:ext uri="{FF2B5EF4-FFF2-40B4-BE49-F238E27FC236}">
                <a16:creationId xmlns:a16="http://schemas.microsoft.com/office/drawing/2014/main" id="{10A4FA45-C943-4B05-A5F0-6EAEA637D5F0}"/>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22 / 94</a:t>
            </a:r>
          </a:p>
        </p:txBody>
      </p:sp>
      <p:sp>
        <p:nvSpPr>
          <p:cNvPr id="5" name="">
            <a:extLst xmlns:a="http://schemas.openxmlformats.org/drawingml/2006/main">
              <a:ext uri="{FF2B5EF4-FFF2-40B4-BE49-F238E27FC236}">
                <a16:creationId xmlns:a16="http://schemas.microsoft.com/office/drawing/2014/main" id="{2E3E9B12-7281-4882-8009-CC53D37B1B3F}"/>
              </a:ext>
            </a:extLst>
          </p:cNvPr>
          <p:cNvSpPr>
            <a:spLocks xmlns:a="http://schemas.openxmlformats.org/drawingml/2006/main" noGrp="1"/>
          </p:cNvSpPr>
          <p:nvPr/>
        </p:nvSpPr>
        <p:spPr>
          <a:xfrm xmlns:a="http://schemas.openxmlformats.org/drawingml/2006/main">
            <a:off x="609600" y="17526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讨论与操作</a:t>
            </a:r>
          </a:p>
        </p:txBody>
      </p:sp>
      <p:sp>
        <p:nvSpPr>
          <p:cNvPr id="6" name="">
            <a:extLst xmlns:a="http://schemas.openxmlformats.org/drawingml/2006/main">
              <a:ext uri="{FF2B5EF4-FFF2-40B4-BE49-F238E27FC236}">
                <a16:creationId xmlns:a16="http://schemas.microsoft.com/office/drawing/2014/main" id="{61B6C0E1-EBC7-474B-A707-C8EB7F79A4CF}"/>
              </a:ext>
            </a:extLst>
          </p:cNvPr>
          <p:cNvSpPr>
            <a:spLocks xmlns:a="http://schemas.openxmlformats.org/drawingml/2006/main" noGrp="1"/>
          </p:cNvSpPr>
          <p:nvPr/>
        </p:nvSpPr>
        <p:spPr>
          <a:xfrm xmlns:a="http://schemas.openxmlformats.org/drawingml/2006/main">
            <a:off x="609600" y="2476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01</a:t>
            </a:r>
          </a:p>
        </p:txBody>
      </p:sp>
      <p:sp>
        <p:nvSpPr>
          <p:cNvPr id="7" name="">
            <a:extLst xmlns:a="http://schemas.openxmlformats.org/drawingml/2006/main">
              <a:ext uri="{FF2B5EF4-FFF2-40B4-BE49-F238E27FC236}">
                <a16:creationId xmlns:a16="http://schemas.microsoft.com/office/drawing/2014/main" id="{CD20AA4E-976F-4F84-AAF9-0FE32DB9E0F6}"/>
              </a:ext>
            </a:extLst>
          </p:cNvPr>
          <p:cNvSpPr>
            <a:spLocks xmlns:a="http://schemas.openxmlformats.org/drawingml/2006/main" noGrp="1"/>
          </p:cNvSpPr>
          <p:nvPr/>
        </p:nvSpPr>
        <p:spPr>
          <a:xfrm xmlns:a="http://schemas.openxmlformats.org/drawingml/2006/main">
            <a:off x="1476375" y="23526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核对三条基础数据及来源口径</a:t>
            </a:r>
          </a:p>
        </p:txBody>
      </p:sp>
      <p:sp>
        <p:nvSpPr>
          <p:cNvPr id="8" name="">
            <a:extLst xmlns:a="http://schemas.openxmlformats.org/drawingml/2006/main">
              <a:ext uri="{FF2B5EF4-FFF2-40B4-BE49-F238E27FC236}">
                <a16:creationId xmlns:a16="http://schemas.microsoft.com/office/drawing/2014/main" id="{9E78ABED-464C-4275-AF6B-9350B3400A9A}"/>
              </a:ext>
            </a:extLst>
          </p:cNvPr>
          <p:cNvSpPr>
            <a:spLocks xmlns:a="http://schemas.openxmlformats.org/drawingml/2006/main" noGrp="1"/>
          </p:cNvSpPr>
          <p:nvPr/>
        </p:nvSpPr>
        <p:spPr>
          <a:xfrm xmlns:a="http://schemas.openxmlformats.org/drawingml/2006/main">
            <a:off x="609600" y="35814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02</a:t>
            </a:r>
          </a:p>
        </p:txBody>
      </p:sp>
      <p:sp>
        <p:nvSpPr>
          <p:cNvPr id="9" name="">
            <a:extLst xmlns:a="http://schemas.openxmlformats.org/drawingml/2006/main">
              <a:ext uri="{FF2B5EF4-FFF2-40B4-BE49-F238E27FC236}">
                <a16:creationId xmlns:a16="http://schemas.microsoft.com/office/drawing/2014/main" id="{5395C75A-DC8B-4505-9DB2-DDBDA02400F3}"/>
              </a:ext>
            </a:extLst>
          </p:cNvPr>
          <p:cNvSpPr>
            <a:spLocks xmlns:a="http://schemas.openxmlformats.org/drawingml/2006/main" noGrp="1"/>
          </p:cNvSpPr>
          <p:nvPr/>
        </p:nvSpPr>
        <p:spPr>
          <a:xfrm xmlns:a="http://schemas.openxmlformats.org/drawingml/2006/main">
            <a:off x="1476375" y="34575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比较倍率1.0与1.2的采购缺口</a:t>
            </a:r>
          </a:p>
        </p:txBody>
      </p:sp>
      <p:sp>
        <p:nvSpPr>
          <p:cNvPr id="10" name="">
            <a:extLst xmlns:a="http://schemas.openxmlformats.org/drawingml/2006/main">
              <a:ext uri="{FF2B5EF4-FFF2-40B4-BE49-F238E27FC236}">
                <a16:creationId xmlns:a16="http://schemas.microsoft.com/office/drawing/2014/main" id="{F734E60C-874B-422E-97CD-69548A751AAD}"/>
              </a:ext>
            </a:extLst>
          </p:cNvPr>
          <p:cNvSpPr>
            <a:spLocks xmlns:a="http://schemas.openxmlformats.org/drawingml/2006/main" noGrp="1"/>
          </p:cNvSpPr>
          <p:nvPr/>
        </p:nvSpPr>
        <p:spPr>
          <a:xfrm xmlns:a="http://schemas.openxmlformats.org/drawingml/2006/main">
            <a:off x="609600" y="4686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03</a:t>
            </a:r>
          </a:p>
        </p:txBody>
      </p:sp>
      <p:sp>
        <p:nvSpPr>
          <p:cNvPr id="11" name="">
            <a:extLst xmlns:a="http://schemas.openxmlformats.org/drawingml/2006/main">
              <a:ext uri="{FF2B5EF4-FFF2-40B4-BE49-F238E27FC236}">
                <a16:creationId xmlns:a16="http://schemas.microsoft.com/office/drawing/2014/main" id="{F73CD4C5-5874-4213-BDD6-D557244B1007}"/>
              </a:ext>
            </a:extLst>
          </p:cNvPr>
          <p:cNvSpPr>
            <a:spLocks xmlns:a="http://schemas.openxmlformats.org/drawingml/2006/main" noGrp="1"/>
          </p:cNvSpPr>
          <p:nvPr/>
        </p:nvSpPr>
        <p:spPr>
          <a:xfrm xmlns:a="http://schemas.openxmlformats.org/drawingml/2006/main">
            <a:off x="1476375" y="45624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提出最早启动件号和例外处理</a:t>
            </a:r>
          </a:p>
        </p:txBody>
      </p:sp>
      <p:sp>
        <p:nvSpPr>
          <p:cNvPr id="12" name="">
            <a:extLst xmlns:a="http://schemas.openxmlformats.org/drawingml/2006/main">
              <a:ext uri="{FF2B5EF4-FFF2-40B4-BE49-F238E27FC236}">
                <a16:creationId xmlns:a16="http://schemas.microsoft.com/office/drawing/2014/main" id="{EE6083C6-4E66-4E62-9705-FFB2A548A3EA}"/>
              </a:ext>
            </a:extLst>
          </p:cNvPr>
          <p:cNvSpPr>
            <a:spLocks xmlns:a="http://schemas.openxmlformats.org/drawingml/2006/main" noGrp="1"/>
          </p:cNvSpPr>
          <p:nvPr/>
        </p:nvSpPr>
        <p:spPr>
          <a:xfrm xmlns:a="http://schemas.openxmlformats.org/drawingml/2006/main">
            <a:off x="7943850" y="17526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本次输出</a:t>
            </a:r>
          </a:p>
        </p:txBody>
      </p:sp>
      <p:sp>
        <p:nvSpPr>
          <p:cNvPr id="13" name="">
            <a:extLst xmlns:a="http://schemas.openxmlformats.org/drawingml/2006/main">
              <a:ext uri="{FF2B5EF4-FFF2-40B4-BE49-F238E27FC236}">
                <a16:creationId xmlns:a16="http://schemas.microsoft.com/office/drawing/2014/main" id="{943EA9CB-B8D2-4080-A7BF-F458EF4427EE}"/>
              </a:ext>
            </a:extLst>
          </p:cNvPr>
          <p:cNvSpPr>
            <a:spLocks xmlns:a="http://schemas.openxmlformats.org/drawingml/2006/main" noGrp="1"/>
          </p:cNvSpPr>
          <p:nvPr/>
        </p:nvSpPr>
        <p:spPr>
          <a:xfrm xmlns:a="http://schemas.openxmlformats.org/drawingml/2006/main">
            <a:off x="7943850" y="24574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缺口表与排序理由</a:t>
            </a:r>
          </a:p>
        </p:txBody>
      </p:sp>
      <p:sp>
        <p:nvSpPr>
          <p:cNvPr id="14" name="">
            <a:extLst xmlns:a="http://schemas.openxmlformats.org/drawingml/2006/main">
              <a:ext uri="{FF2B5EF4-FFF2-40B4-BE49-F238E27FC236}">
                <a16:creationId xmlns:a16="http://schemas.microsoft.com/office/drawing/2014/main" id="{F1E9117D-9E10-4381-B16F-5545D1A49128}"/>
              </a:ext>
            </a:extLst>
          </p:cNvPr>
          <p:cNvSpPr>
            <a:spLocks xmlns:a="http://schemas.openxmlformats.org/drawingml/2006/main" noGrp="1"/>
          </p:cNvSpPr>
          <p:nvPr/>
        </p:nvSpPr>
        <p:spPr>
          <a:xfrm xmlns:a="http://schemas.openxmlformats.org/drawingml/2006/main">
            <a:off x="7943850" y="35623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需求变更核对点</a:t>
            </a:r>
          </a:p>
        </p:txBody>
      </p:sp>
      <p:sp>
        <p:nvSpPr>
          <p:cNvPr id="15" name="">
            <a:extLst xmlns:a="http://schemas.openxmlformats.org/drawingml/2006/main">
              <a:ext uri="{FF2B5EF4-FFF2-40B4-BE49-F238E27FC236}">
                <a16:creationId xmlns:a16="http://schemas.microsoft.com/office/drawing/2014/main" id="{1005F407-66C4-4048-B60B-8000B5C21268}"/>
              </a:ext>
            </a:extLst>
          </p:cNvPr>
          <p:cNvSpPr>
            <a:spLocks xmlns:a="http://schemas.openxmlformats.org/drawingml/2006/main" noGrp="1"/>
          </p:cNvSpPr>
          <p:nvPr/>
        </p:nvSpPr>
        <p:spPr>
          <a:xfrm xmlns:a="http://schemas.openxmlformats.org/drawingml/2006/main">
            <a:off x="7943850" y="46672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一项尚待确认的数据</a:t>
            </a:r>
          </a:p>
        </p:txBody>
      </p:sp>
    </p:spTree>
    <p:extLst>
      <p:ext uri="{BB962C8B-B14F-4D97-AF65-F5344CB8AC3E}">
        <p14:creationId xmlns:p14="http://schemas.microsoft.com/office/powerpoint/2010/main" val="167248482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7202A4-B716-4D0C-9B9A-E377CA8210D9}"/>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M01复盘：建议是否可以执行？</a:t>
            </a:r>
          </a:p>
        </p:txBody>
      </p:sp>
      <p:sp>
        <p:nvSpPr>
          <p:cNvPr id="2" name="">
            <a:extLst xmlns:a="http://schemas.openxmlformats.org/drawingml/2006/main">
              <a:ext uri="{FF2B5EF4-FFF2-40B4-BE49-F238E27FC236}">
                <a16:creationId xmlns:a16="http://schemas.microsoft.com/office/drawing/2014/main" id="{ED260CA2-220E-4DB7-8DEC-4B7085D51D15}"/>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以证据和约束评价，避免只核对一个数值</a:t>
            </a:r>
          </a:p>
        </p:txBody>
      </p:sp>
      <p:sp>
        <p:nvSpPr>
          <p:cNvPr id="3" name="">
            <a:extLst xmlns:a="http://schemas.openxmlformats.org/drawingml/2006/main">
              <a:ext uri="{FF2B5EF4-FFF2-40B4-BE49-F238E27FC236}">
                <a16:creationId xmlns:a16="http://schemas.microsoft.com/office/drawing/2014/main" id="{B2269FCE-139D-4EF8-9F5F-784A1E23A168}"/>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需求预测与采购计划  15分钟</a:t>
            </a:r>
          </a:p>
        </p:txBody>
      </p:sp>
      <p:sp>
        <p:nvSpPr>
          <p:cNvPr id="4" name="">
            <a:extLst xmlns:a="http://schemas.openxmlformats.org/drawingml/2006/main">
              <a:ext uri="{FF2B5EF4-FFF2-40B4-BE49-F238E27FC236}">
                <a16:creationId xmlns:a16="http://schemas.microsoft.com/office/drawing/2014/main" id="{1387CB3A-EF73-4EC1-9EEF-ACBDB09E75B8}"/>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23 / 94</a:t>
            </a:r>
          </a:p>
        </p:txBody>
      </p:sp>
      <p:graphicFrame>
        <p:nvGraphicFramePr>
          <p:cNvPr id="5" name="">
            <a:extLst xmlns:a="http://schemas.openxmlformats.org/drawingml/2006/main">
              <a:ext uri="{FF2B5EF4-FFF2-40B4-BE49-F238E27FC236}">
                <a16:creationId xmlns:a16="http://schemas.microsoft.com/office/drawing/2014/main" id="{EEBA5EBF-95C1-44BB-A37C-A8AEE8CD0D70}"/>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571750"/>
                <a:gridCol w="4095750"/>
                <a:gridCol w="4305300"/>
              </a:tblGrid>
              <a:tr h="800100">
                <a:tc>
                  <a:txBody>
                    <a:bodyPr lIns="114300" tIns="114300" rIns="114300" bIns="114300"/>
                    <a:lstStyle/>
                    <a:p>
                      <a:r>
                        <a:rPr sz="1725" b="1">
                          <a:solidFill>
                            <a:srgbClr val="477FA8"/>
                          </a:solidFill>
                          <a:latin typeface="PingFang SC"/>
                          <a:ea typeface="PingFang SC"/>
                          <a:cs typeface="PingFang SC"/>
                        </a:rPr>
                        <a:t>检查点</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合格输出</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常见遗漏</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需求与库存口径</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能解释每个数的来源</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重复计算计划需求</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情景变化</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说明只改变了什么</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同时改多项无法归因</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采购启动理由</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结合交期并补需求时点</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只按缺口数量排序</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执行与验证</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责任岗位、复核项与试点指标</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把模型结果直接当采购指令</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85729584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5C7437-6513-4FFD-B166-2DA7FA96ADC6}"/>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寻源与询价：最低报价为何未必最优？</a:t>
            </a:r>
          </a:p>
        </p:txBody>
      </p:sp>
      <p:sp>
        <p:nvSpPr>
          <p:cNvPr id="2" name="">
            <a:extLst xmlns:a="http://schemas.openxmlformats.org/drawingml/2006/main">
              <a:ext uri="{FF2B5EF4-FFF2-40B4-BE49-F238E27FC236}">
                <a16:creationId xmlns:a16="http://schemas.microsoft.com/office/drawing/2014/main" id="{C35B6211-40F6-4B43-AC8D-06327E2CF75C}"/>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专题目标：统一报价口径，在可用方案中比较成本</a:t>
            </a:r>
          </a:p>
        </p:txBody>
      </p:sp>
      <p:sp>
        <p:nvSpPr>
          <p:cNvPr id="3" name="">
            <a:extLst xmlns:a="http://schemas.openxmlformats.org/drawingml/2006/main">
              <a:ext uri="{FF2B5EF4-FFF2-40B4-BE49-F238E27FC236}">
                <a16:creationId xmlns:a16="http://schemas.microsoft.com/office/drawing/2014/main" id="{0DE3A7EB-F6CF-48A0-A896-B5AE64D26D7B}"/>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3分钟</a:t>
            </a:r>
          </a:p>
        </p:txBody>
      </p:sp>
      <p:sp>
        <p:nvSpPr>
          <p:cNvPr id="4" name="">
            <a:extLst xmlns:a="http://schemas.openxmlformats.org/drawingml/2006/main">
              <a:ext uri="{FF2B5EF4-FFF2-40B4-BE49-F238E27FC236}">
                <a16:creationId xmlns:a16="http://schemas.microsoft.com/office/drawing/2014/main" id="{E2867E78-7B27-4359-9FD5-BB8196E4F9B0}"/>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24 / 94</a:t>
            </a:r>
          </a:p>
        </p:txBody>
      </p:sp>
      <p:sp>
        <p:nvSpPr>
          <p:cNvPr id="5" name="">
            <a:extLst xmlns:a="http://schemas.openxmlformats.org/drawingml/2006/main">
              <a:ext uri="{FF2B5EF4-FFF2-40B4-BE49-F238E27FC236}">
                <a16:creationId xmlns:a16="http://schemas.microsoft.com/office/drawing/2014/main" id="{68F0A3DA-EA5B-442D-A052-0CDF9017BE4A}"/>
              </a:ext>
            </a:extLst>
          </p:cNvPr>
          <p:cNvSpPr>
            <a:spLocks xmlns:a="http://schemas.openxmlformats.org/drawingml/2006/main" noGrp="1"/>
          </p:cNvSpPr>
          <p:nvPr/>
        </p:nvSpPr>
        <p:spPr>
          <a:xfrm xmlns:a="http://schemas.openxmlformats.org/drawingml/2006/main">
            <a:off x="609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待分析的问题</a:t>
            </a:r>
          </a:p>
        </p:txBody>
      </p:sp>
      <p:sp>
        <p:nvSpPr>
          <p:cNvPr id="6" name="">
            <a:extLst xmlns:a="http://schemas.openxmlformats.org/drawingml/2006/main">
              <a:ext uri="{FF2B5EF4-FFF2-40B4-BE49-F238E27FC236}">
                <a16:creationId xmlns:a16="http://schemas.microsoft.com/office/drawing/2014/main" id="{1E513BB7-5A56-4759-A454-19A0B38F4660}"/>
              </a:ext>
            </a:extLst>
          </p:cNvPr>
          <p:cNvSpPr>
            <a:spLocks xmlns:a="http://schemas.openxmlformats.org/drawingml/2006/main" noGrp="1"/>
          </p:cNvSpPr>
          <p:nvPr/>
        </p:nvSpPr>
        <p:spPr>
          <a:xfrm xmlns:a="http://schemas.openxmlformats.org/drawingml/2006/main">
            <a:off x="609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报价格式不一致</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币种、运输和交期口径不同</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证书与适用性信息不完整</a:t>
            </a:r>
          </a:p>
        </p:txBody>
      </p:sp>
      <p:sp>
        <p:nvSpPr>
          <p:cNvPr id="7" name="">
            <a:extLst xmlns:a="http://schemas.openxmlformats.org/drawingml/2006/main">
              <a:ext uri="{FF2B5EF4-FFF2-40B4-BE49-F238E27FC236}">
                <a16:creationId xmlns:a16="http://schemas.microsoft.com/office/drawing/2014/main" id="{240ECE4A-0599-42C3-AC9A-D27D771E8CD0}"/>
              </a:ext>
            </a:extLst>
          </p:cNvPr>
          <p:cNvSpPr>
            <a:spLocks xmlns:a="http://schemas.openxmlformats.org/drawingml/2006/main" noGrp="1"/>
          </p:cNvSpPr>
          <p:nvPr/>
        </p:nvSpPr>
        <p:spPr>
          <a:xfrm xmlns:a="http://schemas.openxmlformats.org/drawingml/2006/main">
            <a:off x="6324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本专题输出</a:t>
            </a:r>
          </a:p>
        </p:txBody>
      </p:sp>
      <p:sp>
        <p:nvSpPr>
          <p:cNvPr id="8" name="">
            <a:extLst xmlns:a="http://schemas.openxmlformats.org/drawingml/2006/main">
              <a:ext uri="{FF2B5EF4-FFF2-40B4-BE49-F238E27FC236}">
                <a16:creationId xmlns:a16="http://schemas.microsoft.com/office/drawing/2014/main" id="{7BD4851F-0D30-4142-96CC-ADD906153A17}"/>
              </a:ext>
            </a:extLst>
          </p:cNvPr>
          <p:cNvSpPr>
            <a:spLocks xmlns:a="http://schemas.openxmlformats.org/drawingml/2006/main" noGrp="1"/>
          </p:cNvSpPr>
          <p:nvPr/>
        </p:nvSpPr>
        <p:spPr>
          <a:xfrm xmlns:a="http://schemas.openxmlformats.org/drawingml/2006/main">
            <a:off x="6324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三家报价的可比较表</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方案排除与选择依据</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一项询价流程改进建议</a:t>
            </a:r>
          </a:p>
        </p:txBody>
      </p:sp>
    </p:spTree>
    <p:extLst>
      <p:ext uri="{BB962C8B-B14F-4D97-AF65-F5344CB8AC3E}">
        <p14:creationId xmlns:p14="http://schemas.microsoft.com/office/powerpoint/2010/main" val="32003136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78FAEBB1-7D41-4E35-B8C9-61DB0DC7B572}"/>
              </a:ext>
            </a:extLst>
          </p:cNvPr>
          <p:cNvCxnSpPr>
            <a:stCxn xmlns:a="http://schemas.openxmlformats.org/drawingml/2006/main" id="10" idx="3"/>
            <a:endCxn xmlns:a="http://schemas.openxmlformats.org/drawingml/2006/main" id="13" idx="1"/>
          </p:cNvCxnSpPr>
          <p:nvPr/>
        </p:nvCxnSpPr>
        <p:spPr>
          <a:xfrm xmlns:a="http://schemas.openxmlformats.org/drawingml/2006/main">
            <a:off x="87439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11" name="">
            <a:extLst xmlns:a="http://schemas.openxmlformats.org/drawingml/2006/main">
              <a:ext uri="{FF2B5EF4-FFF2-40B4-BE49-F238E27FC236}">
                <a16:creationId xmlns:a16="http://schemas.microsoft.com/office/drawing/2014/main" id="{3F320812-136C-45A6-927B-D63221D4A4BB}"/>
              </a:ext>
            </a:extLst>
          </p:cNvPr>
          <p:cNvCxnSpPr>
            <a:stCxn xmlns:a="http://schemas.openxmlformats.org/drawingml/2006/main" id="7" idx="3"/>
            <a:endCxn xmlns:a="http://schemas.openxmlformats.org/drawingml/2006/main" id="10" idx="1"/>
          </p:cNvCxnSpPr>
          <p:nvPr/>
        </p:nvCxnSpPr>
        <p:spPr>
          <a:xfrm xmlns:a="http://schemas.openxmlformats.org/drawingml/2006/main">
            <a:off x="59055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2645320E-839F-4F56-9AA5-D12E8FA015D4}"/>
              </a:ext>
            </a:extLst>
          </p:cNvPr>
          <p:cNvCxnSpPr>
            <a:stCxn xmlns:a="http://schemas.openxmlformats.org/drawingml/2006/main" id="5" idx="3"/>
            <a:endCxn xmlns:a="http://schemas.openxmlformats.org/drawingml/2006/main" id="7" idx="1"/>
          </p:cNvCxnSpPr>
          <p:nvPr/>
        </p:nvCxnSpPr>
        <p:spPr>
          <a:xfrm xmlns:a="http://schemas.openxmlformats.org/drawingml/2006/main">
            <a:off x="30670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7" name="">
            <a:extLst xmlns:a="http://schemas.openxmlformats.org/drawingml/2006/main">
              <a:ext uri="{FF2B5EF4-FFF2-40B4-BE49-F238E27FC236}">
                <a16:creationId xmlns:a16="http://schemas.microsoft.com/office/drawing/2014/main" id="{8AB5CCDF-FF3D-4F84-97F9-73F4C5022FBE}"/>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报价信息怎样变成可比方案？</a:t>
            </a:r>
          </a:p>
        </p:txBody>
      </p:sp>
      <p:sp>
        <p:nvSpPr>
          <p:cNvPr id="2" name="">
            <a:extLst xmlns:a="http://schemas.openxmlformats.org/drawingml/2006/main">
              <a:ext uri="{FF2B5EF4-FFF2-40B4-BE49-F238E27FC236}">
                <a16:creationId xmlns:a16="http://schemas.microsoft.com/office/drawing/2014/main" id="{A0597BC7-28B7-4942-B8C9-CEACF70D5027}"/>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邮件与文件先关联证据，再做结构化比较</a:t>
            </a:r>
          </a:p>
        </p:txBody>
      </p:sp>
      <p:sp>
        <p:nvSpPr>
          <p:cNvPr id="3" name="">
            <a:extLst xmlns:a="http://schemas.openxmlformats.org/drawingml/2006/main">
              <a:ext uri="{FF2B5EF4-FFF2-40B4-BE49-F238E27FC236}">
                <a16:creationId xmlns:a16="http://schemas.microsoft.com/office/drawing/2014/main" id="{2B7B4C67-9646-478C-AEC5-D9195CF550A5}"/>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6分钟</a:t>
            </a:r>
          </a:p>
        </p:txBody>
      </p:sp>
      <p:sp>
        <p:nvSpPr>
          <p:cNvPr id="4" name="">
            <a:extLst xmlns:a="http://schemas.openxmlformats.org/drawingml/2006/main">
              <a:ext uri="{FF2B5EF4-FFF2-40B4-BE49-F238E27FC236}">
                <a16:creationId xmlns:a16="http://schemas.microsoft.com/office/drawing/2014/main" id="{1E44F4E5-BB04-4A50-B90F-1410D5FB73C0}"/>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25 / 94</a:t>
            </a:r>
          </a:p>
        </p:txBody>
      </p:sp>
      <p:sp>
        <p:nvSpPr>
          <p:cNvPr id="5" name="">
            <a:extLst xmlns:a="http://schemas.openxmlformats.org/drawingml/2006/main">
              <a:ext uri="{FF2B5EF4-FFF2-40B4-BE49-F238E27FC236}">
                <a16:creationId xmlns:a16="http://schemas.microsoft.com/office/drawing/2014/main" id="{0203270B-5C9F-4316-9E13-B4418F979DFC}"/>
              </a:ext>
            </a:extLst>
          </p:cNvPr>
          <p:cNvSpPr>
            <a:spLocks xmlns:a="http://schemas.openxmlformats.org/drawingml/2006/main" noGrp="1"/>
          </p:cNvSpPr>
          <p:nvPr/>
        </p:nvSpPr>
        <p:spPr>
          <a:xfrm xmlns:a="http://schemas.openxmlformats.org/drawingml/2006/main">
            <a:off x="6096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原始报价</a:t>
            </a:r>
          </a:p>
        </p:txBody>
      </p:sp>
      <p:sp>
        <p:nvSpPr>
          <p:cNvPr id="6" name="">
            <a:extLst xmlns:a="http://schemas.openxmlformats.org/drawingml/2006/main">
              <a:ext uri="{FF2B5EF4-FFF2-40B4-BE49-F238E27FC236}">
                <a16:creationId xmlns:a16="http://schemas.microsoft.com/office/drawing/2014/main" id="{AAD9CA89-B730-41B2-8D73-9CCEBCA16C0A}"/>
              </a:ext>
            </a:extLst>
          </p:cNvPr>
          <p:cNvSpPr>
            <a:spLocks xmlns:a="http://schemas.openxmlformats.org/drawingml/2006/main" noGrp="1"/>
          </p:cNvSpPr>
          <p:nvPr/>
        </p:nvSpPr>
        <p:spPr>
          <a:xfrm xmlns:a="http://schemas.openxmlformats.org/drawingml/2006/main">
            <a:off x="5715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保留邮件与附件</a:t>
            </a:r>
          </a:p>
        </p:txBody>
      </p:sp>
      <p:sp>
        <p:nvSpPr>
          <p:cNvPr id="7" name="">
            <a:extLst xmlns:a="http://schemas.openxmlformats.org/drawingml/2006/main">
              <a:ext uri="{FF2B5EF4-FFF2-40B4-BE49-F238E27FC236}">
                <a16:creationId xmlns:a16="http://schemas.microsoft.com/office/drawing/2014/main" id="{78BD0F56-A6CC-4427-8BDA-2C2AC6FAFD7B}"/>
              </a:ext>
            </a:extLst>
          </p:cNvPr>
          <p:cNvSpPr>
            <a:spLocks xmlns:a="http://schemas.openxmlformats.org/drawingml/2006/main" noGrp="1"/>
          </p:cNvSpPr>
          <p:nvPr/>
        </p:nvSpPr>
        <p:spPr>
          <a:xfrm xmlns:a="http://schemas.openxmlformats.org/drawingml/2006/main">
            <a:off x="34480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字段提取</a:t>
            </a:r>
          </a:p>
        </p:txBody>
      </p:sp>
      <p:sp>
        <p:nvSpPr>
          <p:cNvPr id="9" name="">
            <a:extLst xmlns:a="http://schemas.openxmlformats.org/drawingml/2006/main">
              <a:ext uri="{FF2B5EF4-FFF2-40B4-BE49-F238E27FC236}">
                <a16:creationId xmlns:a16="http://schemas.microsoft.com/office/drawing/2014/main" id="{B9295DCE-C60C-44D3-826B-3B7E223FE95B}"/>
              </a:ext>
            </a:extLst>
          </p:cNvPr>
          <p:cNvSpPr>
            <a:spLocks xmlns:a="http://schemas.openxmlformats.org/drawingml/2006/main" noGrp="1"/>
          </p:cNvSpPr>
          <p:nvPr/>
        </p:nvSpPr>
        <p:spPr>
          <a:xfrm xmlns:a="http://schemas.openxmlformats.org/drawingml/2006/main">
            <a:off x="34099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件号、币种</a:t>
            </a:r>
          </a:p>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价格与交期</a:t>
            </a:r>
          </a:p>
        </p:txBody>
      </p:sp>
      <p:sp>
        <p:nvSpPr>
          <p:cNvPr id="10" name="">
            <a:extLst xmlns:a="http://schemas.openxmlformats.org/drawingml/2006/main">
              <a:ext uri="{FF2B5EF4-FFF2-40B4-BE49-F238E27FC236}">
                <a16:creationId xmlns:a16="http://schemas.microsoft.com/office/drawing/2014/main" id="{8F61D03C-6B01-4C48-8F5C-33D99526A3E6}"/>
              </a:ext>
            </a:extLst>
          </p:cNvPr>
          <p:cNvSpPr>
            <a:spLocks xmlns:a="http://schemas.openxmlformats.org/drawingml/2006/main" noGrp="1"/>
          </p:cNvSpPr>
          <p:nvPr/>
        </p:nvSpPr>
        <p:spPr>
          <a:xfrm xmlns:a="http://schemas.openxmlformats.org/drawingml/2006/main">
            <a:off x="62865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人工核对</a:t>
            </a:r>
          </a:p>
        </p:txBody>
      </p:sp>
      <p:sp>
        <p:nvSpPr>
          <p:cNvPr id="12" name="">
            <a:extLst xmlns:a="http://schemas.openxmlformats.org/drawingml/2006/main">
              <a:ext uri="{FF2B5EF4-FFF2-40B4-BE49-F238E27FC236}">
                <a16:creationId xmlns:a16="http://schemas.microsoft.com/office/drawing/2014/main" id="{9D2CCABF-8A8A-48AE-A994-3A667E08D5BD}"/>
              </a:ext>
            </a:extLst>
          </p:cNvPr>
          <p:cNvSpPr>
            <a:spLocks xmlns:a="http://schemas.openxmlformats.org/drawingml/2006/main" noGrp="1"/>
          </p:cNvSpPr>
          <p:nvPr/>
        </p:nvSpPr>
        <p:spPr>
          <a:xfrm xmlns:a="http://schemas.openxmlformats.org/drawingml/2006/main">
            <a:off x="62484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件况、证书</a:t>
            </a:r>
          </a:p>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单位与缺失</a:t>
            </a:r>
          </a:p>
        </p:txBody>
      </p:sp>
      <p:sp>
        <p:nvSpPr>
          <p:cNvPr id="13" name="">
            <a:extLst xmlns:a="http://schemas.openxmlformats.org/drawingml/2006/main">
              <a:ext uri="{FF2B5EF4-FFF2-40B4-BE49-F238E27FC236}">
                <a16:creationId xmlns:a16="http://schemas.microsoft.com/office/drawing/2014/main" id="{D868E1A6-EBA1-4652-929C-FFD302C73AB9}"/>
              </a:ext>
            </a:extLst>
          </p:cNvPr>
          <p:cNvSpPr>
            <a:spLocks xmlns:a="http://schemas.openxmlformats.org/drawingml/2006/main" noGrp="1"/>
          </p:cNvSpPr>
          <p:nvPr/>
        </p:nvSpPr>
        <p:spPr>
          <a:xfrm xmlns:a="http://schemas.openxmlformats.org/drawingml/2006/main">
            <a:off x="91249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约束与排序</a:t>
            </a:r>
          </a:p>
        </p:txBody>
      </p:sp>
      <p:sp>
        <p:nvSpPr>
          <p:cNvPr id="15" name="">
            <a:extLst xmlns:a="http://schemas.openxmlformats.org/drawingml/2006/main">
              <a:ext uri="{FF2B5EF4-FFF2-40B4-BE49-F238E27FC236}">
                <a16:creationId xmlns:a16="http://schemas.microsoft.com/office/drawing/2014/main" id="{A726D2B1-2EA9-47D5-9CEE-4451D7363DF4}"/>
              </a:ext>
            </a:extLst>
          </p:cNvPr>
          <p:cNvSpPr>
            <a:spLocks xmlns:a="http://schemas.openxmlformats.org/drawingml/2006/main" noGrp="1"/>
          </p:cNvSpPr>
          <p:nvPr/>
        </p:nvSpPr>
        <p:spPr>
          <a:xfrm xmlns:a="http://schemas.openxmlformats.org/drawingml/2006/main">
            <a:off x="90868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可行性通过后比成本</a:t>
            </a:r>
          </a:p>
        </p:txBody>
      </p:sp>
      <p:sp>
        <p:nvSpPr>
          <p:cNvPr id="16" name="">
            <a:extLst xmlns:a="http://schemas.openxmlformats.org/drawingml/2006/main">
              <a:ext uri="{FF2B5EF4-FFF2-40B4-BE49-F238E27FC236}">
                <a16:creationId xmlns:a16="http://schemas.microsoft.com/office/drawing/2014/main" id="{74CBDDEE-CB21-4B2B-8151-3BF4D5EEA975}"/>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每个字段保留原文出处，缺失值进入待确认清单</a:t>
            </a:r>
          </a:p>
        </p:txBody>
      </p:sp>
    </p:spTree>
    <p:extLst>
      <p:ext uri="{BB962C8B-B14F-4D97-AF65-F5344CB8AC3E}">
        <p14:creationId xmlns:p14="http://schemas.microsoft.com/office/powerpoint/2010/main" val="69324238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DA7557-AC47-41D5-90F2-2FBEF16368DE}"/>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报价标准化的关键字段</a:t>
            </a:r>
          </a:p>
        </p:txBody>
      </p:sp>
      <p:sp>
        <p:nvSpPr>
          <p:cNvPr id="2" name="">
            <a:extLst xmlns:a="http://schemas.openxmlformats.org/drawingml/2006/main">
              <a:ext uri="{FF2B5EF4-FFF2-40B4-BE49-F238E27FC236}">
                <a16:creationId xmlns:a16="http://schemas.microsoft.com/office/drawing/2014/main" id="{7AF74934-A2BD-4E59-B784-3A39D547EAFC}"/>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同一件号、同一件况、相同数量，才具有可比性</a:t>
            </a:r>
          </a:p>
        </p:txBody>
      </p:sp>
      <p:sp>
        <p:nvSpPr>
          <p:cNvPr id="3" name="">
            <a:extLst xmlns:a="http://schemas.openxmlformats.org/drawingml/2006/main">
              <a:ext uri="{FF2B5EF4-FFF2-40B4-BE49-F238E27FC236}">
                <a16:creationId xmlns:a16="http://schemas.microsoft.com/office/drawing/2014/main" id="{152A2A94-C2F6-4CBA-AEF1-FE1A6B9F4D45}"/>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7分钟</a:t>
            </a:r>
          </a:p>
        </p:txBody>
      </p:sp>
      <p:sp>
        <p:nvSpPr>
          <p:cNvPr id="4" name="">
            <a:extLst xmlns:a="http://schemas.openxmlformats.org/drawingml/2006/main">
              <a:ext uri="{FF2B5EF4-FFF2-40B4-BE49-F238E27FC236}">
                <a16:creationId xmlns:a16="http://schemas.microsoft.com/office/drawing/2014/main" id="{8D812027-E34A-4D86-B1CA-3822934F5B96}"/>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26 / 94</a:t>
            </a:r>
          </a:p>
        </p:txBody>
      </p:sp>
      <p:graphicFrame>
        <p:nvGraphicFramePr>
          <p:cNvPr id="5" name="">
            <a:extLst xmlns:a="http://schemas.openxmlformats.org/drawingml/2006/main">
              <a:ext uri="{FF2B5EF4-FFF2-40B4-BE49-F238E27FC236}">
                <a16:creationId xmlns:a16="http://schemas.microsoft.com/office/drawing/2014/main" id="{641CFEFB-B475-499C-BB14-377698D7E981}"/>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238375"/>
                <a:gridCol w="4476750"/>
                <a:gridCol w="4257675"/>
              </a:tblGrid>
              <a:tr h="666750">
                <a:tc>
                  <a:txBody>
                    <a:bodyPr lIns="114300" tIns="114300" rIns="114300" bIns="114300"/>
                    <a:lstStyle/>
                    <a:p>
                      <a:r>
                        <a:rPr sz="1725" b="1">
                          <a:solidFill>
                            <a:srgbClr val="477FA8"/>
                          </a:solidFill>
                          <a:latin typeface="PingFang SC"/>
                          <a:ea typeface="PingFang SC"/>
                          <a:cs typeface="PingFang SC"/>
                        </a:rPr>
                        <a:t>字段组</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应记录的内容</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要防止的误解</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666750">
                <a:tc>
                  <a:txBody>
                    <a:bodyPr lIns="114300" tIns="114300" rIns="114300" bIns="114300"/>
                    <a:lstStyle/>
                    <a:p>
                      <a:r>
                        <a:rPr sz="1875" b="1">
                          <a:solidFill>
                            <a:srgbClr val="477FA8"/>
                          </a:solidFill>
                          <a:latin typeface="PingFang SC"/>
                          <a:ea typeface="PingFang SC"/>
                          <a:cs typeface="PingFang SC"/>
                        </a:rPr>
                        <a:t>业务对象</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件号、件况、数量、单位</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同名件不一定能互换</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价格口径</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单价、币种、汇率基准日</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原币单价不能直接相减</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交付口径</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承诺、运输、到达时点</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供应商发货不等于到货</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质量与证据</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文件清单、核对状态、来源</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有文件不等于已通过复核</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商业条件</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运费、税费、担保与付款</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缺失成本不能默认为零</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177739946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4D2C0C-202C-4D28-8E0F-C97294D9CD3C}"/>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三家报价：先发现不可比之处</a:t>
            </a:r>
          </a:p>
        </p:txBody>
      </p:sp>
      <p:sp>
        <p:nvSpPr>
          <p:cNvPr id="2" name="">
            <a:extLst xmlns:a="http://schemas.openxmlformats.org/drawingml/2006/main">
              <a:ext uri="{FF2B5EF4-FFF2-40B4-BE49-F238E27FC236}">
                <a16:creationId xmlns:a16="http://schemas.microsoft.com/office/drawing/2014/main" id="{D64A2E46-1FB7-4672-89D2-DDEAA0FD0D69}"/>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教学前提：同件号、同件况、2件，最迟10天交付</a:t>
            </a:r>
          </a:p>
        </p:txBody>
      </p:sp>
      <p:sp>
        <p:nvSpPr>
          <p:cNvPr id="3" name="">
            <a:extLst xmlns:a="http://schemas.openxmlformats.org/drawingml/2006/main">
              <a:ext uri="{FF2B5EF4-FFF2-40B4-BE49-F238E27FC236}">
                <a16:creationId xmlns:a16="http://schemas.microsoft.com/office/drawing/2014/main" id="{68D827B4-DF5F-4C52-9B9E-0D1BF1A6FD9E}"/>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7分钟</a:t>
            </a:r>
          </a:p>
        </p:txBody>
      </p:sp>
      <p:sp>
        <p:nvSpPr>
          <p:cNvPr id="4" name="">
            <a:extLst xmlns:a="http://schemas.openxmlformats.org/drawingml/2006/main">
              <a:ext uri="{FF2B5EF4-FFF2-40B4-BE49-F238E27FC236}">
                <a16:creationId xmlns:a16="http://schemas.microsoft.com/office/drawing/2014/main" id="{C3E218EE-D0EF-47C0-8B23-DDEF94822E9D}"/>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27 / 94</a:t>
            </a:r>
          </a:p>
        </p:txBody>
      </p:sp>
      <p:graphicFrame>
        <p:nvGraphicFramePr>
          <p:cNvPr id="5" name="">
            <a:extLst xmlns:a="http://schemas.openxmlformats.org/drawingml/2006/main">
              <a:ext uri="{FF2B5EF4-FFF2-40B4-BE49-F238E27FC236}">
                <a16:creationId xmlns:a16="http://schemas.microsoft.com/office/drawing/2014/main" id="{4E9C6D2E-1F70-4F0A-9987-383EB9AFCF49}"/>
              </a:ext>
            </a:extLst>
          </p:cNvPr>
          <p:cNvGraphicFramePr/>
          <p:nvPr/>
        </p:nvGraphicFramePr>
        <p:xfrm>
          <a:off xmlns:a="http://schemas.openxmlformats.org/drawingml/2006/main" x="609600" y="1695450"/>
          <a:ext xmlns:a="http://schemas.openxmlformats.org/drawingml/2006/main" cx="10972800" cy="3333750"/>
        </p:xfrm>
        <a:graphic xmlns:a="http://schemas.openxmlformats.org/drawingml/2006/main">
          <a:graphicData uri="http://schemas.openxmlformats.org/drawingml/2006/table">
            <a:tbl>
              <a:tblPr/>
              <a:tblGrid>
                <a:gridCol w="1905000"/>
                <a:gridCol w="2857500"/>
                <a:gridCol w="2857500"/>
                <a:gridCol w="3352800"/>
              </a:tblGrid>
              <a:tr h="833438">
                <a:tc>
                  <a:txBody>
                    <a:bodyPr lIns="114300" tIns="114300" rIns="114300" bIns="114300"/>
                    <a:lstStyle/>
                    <a:p>
                      <a:r>
                        <a:rPr sz="1725" b="1">
                          <a:solidFill>
                            <a:srgbClr val="477FA8"/>
                          </a:solidFill>
                          <a:latin typeface="PingFang SC"/>
                          <a:ea typeface="PingFang SC"/>
                          <a:cs typeface="PingFang SC"/>
                        </a:rPr>
                        <a:t>方案</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原币单价／件</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汇率／运费</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交期／证书核对</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33438">
                <a:tc>
                  <a:txBody>
                    <a:bodyPr lIns="114300" tIns="114300" rIns="114300" bIns="114300"/>
                    <a:lstStyle/>
                    <a:p>
                      <a:r>
                        <a:rPr sz="1875" b="1">
                          <a:solidFill>
                            <a:srgbClr val="477FA8"/>
                          </a:solidFill>
                          <a:latin typeface="PingFang SC"/>
                          <a:ea typeface="PingFang SC"/>
                          <a:cs typeface="PingFang SC"/>
                        </a:rPr>
                        <a:t>SUP-A</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900</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7.2／500元</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5天／未通过</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33438">
                <a:tc>
                  <a:txBody>
                    <a:bodyPr lIns="114300" tIns="114300" rIns="114300" bIns="114300"/>
                    <a:lstStyle/>
                    <a:p>
                      <a:r>
                        <a:rPr sz="1875" b="1">
                          <a:solidFill>
                            <a:srgbClr val="477FA8"/>
                          </a:solidFill>
                          <a:latin typeface="PingFang SC"/>
                          <a:ea typeface="PingFang SC"/>
                          <a:cs typeface="PingFang SC"/>
                        </a:rPr>
                        <a:t>SUP-B</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1,100</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7.2／300元</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8天／通过</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33438">
                <a:tc>
                  <a:txBody>
                    <a:bodyPr lIns="114300" tIns="114300" rIns="114300" bIns="114300"/>
                    <a:lstStyle/>
                    <a:p>
                      <a:r>
                        <a:rPr sz="1875" b="1">
                          <a:solidFill>
                            <a:srgbClr val="477FA8"/>
                          </a:solidFill>
                          <a:latin typeface="PingFang SC"/>
                          <a:ea typeface="PingFang SC"/>
                          <a:cs typeface="PingFang SC"/>
                        </a:rPr>
                        <a:t>SUP-C</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1,250</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7.2／200元</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3天／通过</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0B70A20-0E32-4573-B4A3-44C517F87D1E}"/>
              </a:ext>
            </a:extLst>
          </p:cNvPr>
          <p:cNvSpPr>
            <a:spLocks xmlns:a="http://schemas.openxmlformats.org/drawingml/2006/main" noGrp="1"/>
          </p:cNvSpPr>
          <p:nvPr/>
        </p:nvSpPr>
        <p:spPr>
          <a:xfrm xmlns:a="http://schemas.openxmlformats.org/drawingml/2006/main">
            <a:off x="628650" y="5391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先处理证书与交期约束，再讨论价格</a:t>
            </a:r>
          </a:p>
        </p:txBody>
      </p:sp>
    </p:spTree>
    <p:extLst>
      <p:ext uri="{BB962C8B-B14F-4D97-AF65-F5344CB8AC3E}">
        <p14:creationId xmlns:p14="http://schemas.microsoft.com/office/powerpoint/2010/main" val="94074008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9515A7-6C5B-4B72-A908-0B1F1D87B759}"/>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报价总成本的教学口径</a:t>
            </a:r>
          </a:p>
        </p:txBody>
      </p:sp>
      <p:sp>
        <p:nvSpPr>
          <p:cNvPr id="2" name="">
            <a:extLst xmlns:a="http://schemas.openxmlformats.org/drawingml/2006/main">
              <a:ext uri="{FF2B5EF4-FFF2-40B4-BE49-F238E27FC236}">
                <a16:creationId xmlns:a16="http://schemas.microsoft.com/office/drawing/2014/main" id="{65A9D2DE-8E80-41EA-90FA-07186424FFEF}"/>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仅使用本案例明确提供的成本项</a:t>
            </a:r>
          </a:p>
        </p:txBody>
      </p:sp>
      <p:sp>
        <p:nvSpPr>
          <p:cNvPr id="3" name="">
            <a:extLst xmlns:a="http://schemas.openxmlformats.org/drawingml/2006/main">
              <a:ext uri="{FF2B5EF4-FFF2-40B4-BE49-F238E27FC236}">
                <a16:creationId xmlns:a16="http://schemas.microsoft.com/office/drawing/2014/main" id="{B9AA2BD2-9C56-40D1-9F55-B063A006AC5C}"/>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7分钟</a:t>
            </a:r>
          </a:p>
        </p:txBody>
      </p:sp>
      <p:sp>
        <p:nvSpPr>
          <p:cNvPr id="4" name="">
            <a:extLst xmlns:a="http://schemas.openxmlformats.org/drawingml/2006/main">
              <a:ext uri="{FF2B5EF4-FFF2-40B4-BE49-F238E27FC236}">
                <a16:creationId xmlns:a16="http://schemas.microsoft.com/office/drawing/2014/main" id="{F5356C0A-A7F5-499C-B7AB-9228552AAA29}"/>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28 / 94</a:t>
            </a:r>
          </a:p>
        </p:txBody>
      </p:sp>
      <p:sp>
        <p:nvSpPr>
          <p:cNvPr id="5" name="">
            <a:extLst xmlns:a="http://schemas.openxmlformats.org/drawingml/2006/main">
              <a:ext uri="{FF2B5EF4-FFF2-40B4-BE49-F238E27FC236}">
                <a16:creationId xmlns:a16="http://schemas.microsoft.com/office/drawing/2014/main" id="{27672047-827A-4A61-B111-95B7C116E916}"/>
              </a:ext>
            </a:extLst>
          </p:cNvPr>
          <p:cNvSpPr>
            <a:spLocks xmlns:a="http://schemas.openxmlformats.org/drawingml/2006/main" noGrp="1"/>
          </p:cNvSpPr>
          <p:nvPr/>
        </p:nvSpPr>
        <p:spPr>
          <a:xfrm xmlns:a="http://schemas.openxmlformats.org/drawingml/2006/main">
            <a:off x="609600" y="1866900"/>
            <a:ext cx="109728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77FA8"/>
                </a:solidFill>
                <a:latin typeface="PingFang SC"/>
                <a:ea typeface="PingFang SC"/>
                <a:cs typeface="PingFang SC"/>
              </a:defRPr>
            </a:defPPr>
            <a:lvl1pPr algn="l">
              <a:defRPr sz="2550" b="1">
                <a:solidFill>
                  <a:srgbClr val="477FA8"/>
                </a:solidFill>
                <a:latin typeface="PingFang SC"/>
                <a:ea typeface="PingFang SC"/>
                <a:cs typeface="PingFang SC"/>
              </a:defRPr>
            </a:lvl1pPr>
            <a:lvl2pPr algn="l">
              <a:defRPr sz="2550" b="1">
                <a:solidFill>
                  <a:srgbClr val="477FA8"/>
                </a:solidFill>
                <a:latin typeface="PingFang SC"/>
                <a:ea typeface="PingFang SC"/>
                <a:cs typeface="PingFang SC"/>
              </a:defRPr>
            </a:lvl2pPr>
            <a:lvl3pPr algn="l">
              <a:defRPr sz="2550" b="1">
                <a:solidFill>
                  <a:srgbClr val="477FA8"/>
                </a:solidFill>
                <a:latin typeface="PingFang SC"/>
                <a:ea typeface="PingFang SC"/>
                <a:cs typeface="PingFang SC"/>
              </a:defRPr>
            </a:lvl3pPr>
            <a:lvl4pPr algn="l">
              <a:defRPr sz="2550" b="1">
                <a:solidFill>
                  <a:srgbClr val="477FA8"/>
                </a:solidFill>
                <a:latin typeface="PingFang SC"/>
                <a:ea typeface="PingFang SC"/>
                <a:cs typeface="PingFang SC"/>
              </a:defRPr>
            </a:lvl4pPr>
            <a:lvl5pPr algn="l">
              <a:defRPr sz="2550" b="1">
                <a:solidFill>
                  <a:srgbClr val="477FA8"/>
                </a:solidFill>
                <a:latin typeface="PingFang SC"/>
                <a:ea typeface="PingFang SC"/>
                <a:cs typeface="PingFang SC"/>
              </a:defRPr>
            </a:lvl5pPr>
            <a:lvl6pPr algn="l">
              <a:defRPr sz="2550" b="1">
                <a:solidFill>
                  <a:srgbClr val="477FA8"/>
                </a:solidFill>
                <a:latin typeface="PingFang SC"/>
                <a:ea typeface="PingFang SC"/>
                <a:cs typeface="PingFang SC"/>
              </a:defRPr>
            </a:lvl6pPr>
            <a:lvl7pPr algn="l">
              <a:defRPr sz="2550" b="1">
                <a:solidFill>
                  <a:srgbClr val="477FA8"/>
                </a:solidFill>
                <a:latin typeface="PingFang SC"/>
                <a:ea typeface="PingFang SC"/>
                <a:cs typeface="PingFang SC"/>
              </a:defRPr>
            </a:lvl7pPr>
            <a:lvl8pPr algn="l">
              <a:defRPr sz="2550" b="1">
                <a:solidFill>
                  <a:srgbClr val="477FA8"/>
                </a:solidFill>
                <a:latin typeface="PingFang SC"/>
                <a:ea typeface="PingFang SC"/>
                <a:cs typeface="PingFang SC"/>
              </a:defRPr>
            </a:lvl8pPr>
            <a:lvl9pPr algn="l">
              <a:defRPr sz="2550" b="1">
                <a:solidFill>
                  <a:srgbClr val="477FA8"/>
                </a:solidFill>
                <a:latin typeface="PingFang SC"/>
                <a:ea typeface="PingFang SC"/>
                <a:cs typeface="PingFang SC"/>
              </a:defRPr>
            </a:lvl9pPr>
          </a:lstStyle>
          <a:p xmlns:a="http://schemas.openxmlformats.org/drawingml/2006/main">
            <a:pPr algn="l">
              <a:defRPr sz="2550" b="1">
                <a:solidFill>
                  <a:srgbClr val="477FA8"/>
                </a:solidFill>
                <a:latin typeface="PingFang SC"/>
                <a:ea typeface="PingFang SC"/>
                <a:cs typeface="PingFang SC"/>
              </a:defRPr>
            </a:pPr>
            <a:r>
              <a:rPr sz="2550" b="1">
                <a:solidFill>
                  <a:srgbClr val="477FA8"/>
                </a:solidFill>
                <a:latin typeface="PingFang SC"/>
                <a:ea typeface="PingFang SC"/>
                <a:cs typeface="PingFang SC"/>
              </a:rPr>
              <a:t>总成本 = 原币单价 × 数量 × 折人民币汇率 + 总运费</a:t>
            </a:r>
          </a:p>
        </p:txBody>
      </p:sp>
      <p:sp>
        <p:nvSpPr>
          <p:cNvPr id="6" name="">
            <a:extLst xmlns:a="http://schemas.openxmlformats.org/drawingml/2006/main">
              <a:ext uri="{FF2B5EF4-FFF2-40B4-BE49-F238E27FC236}">
                <a16:creationId xmlns:a16="http://schemas.microsoft.com/office/drawing/2014/main" id="{055B06FB-F757-43C7-A737-DEDF32F98407}"/>
              </a:ext>
            </a:extLst>
          </p:cNvPr>
          <p:cNvSpPr>
            <a:spLocks xmlns:a="http://schemas.openxmlformats.org/drawingml/2006/main" noGrp="1"/>
          </p:cNvSpPr>
          <p:nvPr/>
        </p:nvSpPr>
        <p:spPr>
          <a:xfrm xmlns:a="http://schemas.openxmlformats.org/drawingml/2006/main">
            <a:off x="628650" y="3571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0">
                <a:solidFill>
                  <a:srgbClr val="667D91"/>
                </a:solidFill>
                <a:latin typeface="PingFang SC"/>
                <a:ea typeface="PingFang SC"/>
                <a:cs typeface="PingFang SC"/>
              </a:defRPr>
            </a:defPPr>
            <a:lvl1pPr algn="l">
              <a:defRPr sz="1875" b="0">
                <a:solidFill>
                  <a:srgbClr val="667D91"/>
                </a:solidFill>
                <a:latin typeface="PingFang SC"/>
                <a:ea typeface="PingFang SC"/>
                <a:cs typeface="PingFang SC"/>
              </a:defRPr>
            </a:lvl1pPr>
            <a:lvl2pPr algn="l">
              <a:defRPr sz="1875" b="0">
                <a:solidFill>
                  <a:srgbClr val="667D91"/>
                </a:solidFill>
                <a:latin typeface="PingFang SC"/>
                <a:ea typeface="PingFang SC"/>
                <a:cs typeface="PingFang SC"/>
              </a:defRPr>
            </a:lvl2pPr>
            <a:lvl3pPr algn="l">
              <a:defRPr sz="1875" b="0">
                <a:solidFill>
                  <a:srgbClr val="667D91"/>
                </a:solidFill>
                <a:latin typeface="PingFang SC"/>
                <a:ea typeface="PingFang SC"/>
                <a:cs typeface="PingFang SC"/>
              </a:defRPr>
            </a:lvl3pPr>
            <a:lvl4pPr algn="l">
              <a:defRPr sz="1875" b="0">
                <a:solidFill>
                  <a:srgbClr val="667D91"/>
                </a:solidFill>
                <a:latin typeface="PingFang SC"/>
                <a:ea typeface="PingFang SC"/>
                <a:cs typeface="PingFang SC"/>
              </a:defRPr>
            </a:lvl4pPr>
            <a:lvl5pPr algn="l">
              <a:defRPr sz="1875" b="0">
                <a:solidFill>
                  <a:srgbClr val="667D91"/>
                </a:solidFill>
                <a:latin typeface="PingFang SC"/>
                <a:ea typeface="PingFang SC"/>
                <a:cs typeface="PingFang SC"/>
              </a:defRPr>
            </a:lvl5pPr>
            <a:lvl6pPr algn="l">
              <a:defRPr sz="1875" b="0">
                <a:solidFill>
                  <a:srgbClr val="667D91"/>
                </a:solidFill>
                <a:latin typeface="PingFang SC"/>
                <a:ea typeface="PingFang SC"/>
                <a:cs typeface="PingFang SC"/>
              </a:defRPr>
            </a:lvl6pPr>
            <a:lvl7pPr algn="l">
              <a:defRPr sz="1875" b="0">
                <a:solidFill>
                  <a:srgbClr val="667D91"/>
                </a:solidFill>
                <a:latin typeface="PingFang SC"/>
                <a:ea typeface="PingFang SC"/>
                <a:cs typeface="PingFang SC"/>
              </a:defRPr>
            </a:lvl7pPr>
            <a:lvl8pPr algn="l">
              <a:defRPr sz="1875" b="0">
                <a:solidFill>
                  <a:srgbClr val="667D91"/>
                </a:solidFill>
                <a:latin typeface="PingFang SC"/>
                <a:ea typeface="PingFang SC"/>
                <a:cs typeface="PingFang SC"/>
              </a:defRPr>
            </a:lvl8pPr>
            <a:lvl9pPr algn="l">
              <a:defRPr sz="1875" b="0">
                <a:solidFill>
                  <a:srgbClr val="667D91"/>
                </a:solidFill>
                <a:latin typeface="PingFang SC"/>
                <a:ea typeface="PingFang SC"/>
                <a:cs typeface="PingFang SC"/>
              </a:defRPr>
            </a:lvl9pPr>
          </a:lstStyle>
          <a:p xmlns:a="http://schemas.openxmlformats.org/drawingml/2006/main">
            <a:pPr algn="l">
              <a:defRPr sz="1875" b="0">
                <a:solidFill>
                  <a:srgbClr val="667D91"/>
                </a:solidFill>
                <a:latin typeface="PingFang SC"/>
                <a:ea typeface="PingFang SC"/>
                <a:cs typeface="PingFang SC"/>
              </a:defRPr>
            </a:pPr>
            <a:r>
              <a:rPr sz="1875" b="0">
                <a:solidFill>
                  <a:srgbClr val="667D91"/>
                </a:solidFill>
                <a:latin typeface="PingFang SC"/>
                <a:ea typeface="PingFang SC"/>
                <a:cs typeface="PingFang SC"/>
              </a:rPr>
              <a:t>相同数量和件况，汇率采用同一基准</a:t>
            </a:r>
          </a:p>
        </p:txBody>
      </p:sp>
      <p:sp>
        <p:nvSpPr>
          <p:cNvPr id="7" name="">
            <a:extLst xmlns:a="http://schemas.openxmlformats.org/drawingml/2006/main">
              <a:ext uri="{FF2B5EF4-FFF2-40B4-BE49-F238E27FC236}">
                <a16:creationId xmlns:a16="http://schemas.microsoft.com/office/drawing/2014/main" id="{0C2C4D04-F970-4543-8212-76D1DDF5BBB0}"/>
              </a:ext>
            </a:extLst>
          </p:cNvPr>
          <p:cNvSpPr>
            <a:spLocks xmlns:a="http://schemas.openxmlformats.org/drawingml/2006/main" noGrp="1"/>
          </p:cNvSpPr>
          <p:nvPr/>
        </p:nvSpPr>
        <p:spPr>
          <a:xfrm xmlns:a="http://schemas.openxmlformats.org/drawingml/2006/main">
            <a:off x="628650" y="42195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0">
                <a:solidFill>
                  <a:srgbClr val="667D91"/>
                </a:solidFill>
                <a:latin typeface="PingFang SC"/>
                <a:ea typeface="PingFang SC"/>
                <a:cs typeface="PingFang SC"/>
              </a:defRPr>
            </a:defPPr>
            <a:lvl1pPr algn="l">
              <a:defRPr sz="1875" b="0">
                <a:solidFill>
                  <a:srgbClr val="667D91"/>
                </a:solidFill>
                <a:latin typeface="PingFang SC"/>
                <a:ea typeface="PingFang SC"/>
                <a:cs typeface="PingFang SC"/>
              </a:defRPr>
            </a:lvl1pPr>
            <a:lvl2pPr algn="l">
              <a:defRPr sz="1875" b="0">
                <a:solidFill>
                  <a:srgbClr val="667D91"/>
                </a:solidFill>
                <a:latin typeface="PingFang SC"/>
                <a:ea typeface="PingFang SC"/>
                <a:cs typeface="PingFang SC"/>
              </a:defRPr>
            </a:lvl2pPr>
            <a:lvl3pPr algn="l">
              <a:defRPr sz="1875" b="0">
                <a:solidFill>
                  <a:srgbClr val="667D91"/>
                </a:solidFill>
                <a:latin typeface="PingFang SC"/>
                <a:ea typeface="PingFang SC"/>
                <a:cs typeface="PingFang SC"/>
              </a:defRPr>
            </a:lvl3pPr>
            <a:lvl4pPr algn="l">
              <a:defRPr sz="1875" b="0">
                <a:solidFill>
                  <a:srgbClr val="667D91"/>
                </a:solidFill>
                <a:latin typeface="PingFang SC"/>
                <a:ea typeface="PingFang SC"/>
                <a:cs typeface="PingFang SC"/>
              </a:defRPr>
            </a:lvl4pPr>
            <a:lvl5pPr algn="l">
              <a:defRPr sz="1875" b="0">
                <a:solidFill>
                  <a:srgbClr val="667D91"/>
                </a:solidFill>
                <a:latin typeface="PingFang SC"/>
                <a:ea typeface="PingFang SC"/>
                <a:cs typeface="PingFang SC"/>
              </a:defRPr>
            </a:lvl5pPr>
            <a:lvl6pPr algn="l">
              <a:defRPr sz="1875" b="0">
                <a:solidFill>
                  <a:srgbClr val="667D91"/>
                </a:solidFill>
                <a:latin typeface="PingFang SC"/>
                <a:ea typeface="PingFang SC"/>
                <a:cs typeface="PingFang SC"/>
              </a:defRPr>
            </a:lvl6pPr>
            <a:lvl7pPr algn="l">
              <a:defRPr sz="1875" b="0">
                <a:solidFill>
                  <a:srgbClr val="667D91"/>
                </a:solidFill>
                <a:latin typeface="PingFang SC"/>
                <a:ea typeface="PingFang SC"/>
                <a:cs typeface="PingFang SC"/>
              </a:defRPr>
            </a:lvl7pPr>
            <a:lvl8pPr algn="l">
              <a:defRPr sz="1875" b="0">
                <a:solidFill>
                  <a:srgbClr val="667D91"/>
                </a:solidFill>
                <a:latin typeface="PingFang SC"/>
                <a:ea typeface="PingFang SC"/>
                <a:cs typeface="PingFang SC"/>
              </a:defRPr>
            </a:lvl8pPr>
            <a:lvl9pPr algn="l">
              <a:defRPr sz="1875" b="0">
                <a:solidFill>
                  <a:srgbClr val="667D91"/>
                </a:solidFill>
                <a:latin typeface="PingFang SC"/>
                <a:ea typeface="PingFang SC"/>
                <a:cs typeface="PingFang SC"/>
              </a:defRPr>
            </a:lvl9pPr>
          </a:lstStyle>
          <a:p xmlns:a="http://schemas.openxmlformats.org/drawingml/2006/main">
            <a:pPr algn="l">
              <a:defRPr sz="1875" b="0">
                <a:solidFill>
                  <a:srgbClr val="667D91"/>
                </a:solidFill>
                <a:latin typeface="PingFang SC"/>
                <a:ea typeface="PingFang SC"/>
                <a:cs typeface="PingFang SC"/>
              </a:defRPr>
            </a:pPr>
            <a:r>
              <a:rPr sz="1875" b="0">
                <a:solidFill>
                  <a:srgbClr val="667D91"/>
                </a:solidFill>
                <a:latin typeface="PingFang SC"/>
                <a:ea typeface="PingFang SC"/>
                <a:cs typeface="PingFang SC"/>
              </a:rPr>
              <a:t>真实业务的税费、担保、付款和风险成本需另行确认</a:t>
            </a:r>
          </a:p>
        </p:txBody>
      </p:sp>
      <p:sp>
        <p:nvSpPr>
          <p:cNvPr id="8" name="">
            <a:extLst xmlns:a="http://schemas.openxmlformats.org/drawingml/2006/main">
              <a:ext uri="{FF2B5EF4-FFF2-40B4-BE49-F238E27FC236}">
                <a16:creationId xmlns:a16="http://schemas.microsoft.com/office/drawing/2014/main" id="{34941492-0CDD-4F85-A5C9-761E07E3F44B}"/>
              </a:ext>
            </a:extLst>
          </p:cNvPr>
          <p:cNvSpPr>
            <a:spLocks xmlns:a="http://schemas.openxmlformats.org/drawingml/2006/main" noGrp="1"/>
          </p:cNvSpPr>
          <p:nvPr/>
        </p:nvSpPr>
        <p:spPr>
          <a:xfrm xmlns:a="http://schemas.openxmlformats.org/drawingml/2006/main">
            <a:off x="628650" y="5257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325" b="1">
                <a:solidFill>
                  <a:srgbClr val="17334D"/>
                </a:solidFill>
                <a:latin typeface="PingFang SC"/>
                <a:ea typeface="PingFang SC"/>
                <a:cs typeface="PingFang SC"/>
              </a:defRPr>
            </a:defPPr>
            <a:lvl1pPr algn="l">
              <a:defRPr sz="2325" b="1">
                <a:solidFill>
                  <a:srgbClr val="17334D"/>
                </a:solidFill>
                <a:latin typeface="PingFang SC"/>
                <a:ea typeface="PingFang SC"/>
                <a:cs typeface="PingFang SC"/>
              </a:defRPr>
            </a:lvl1pPr>
            <a:lvl2pPr algn="l">
              <a:defRPr sz="2325" b="1">
                <a:solidFill>
                  <a:srgbClr val="17334D"/>
                </a:solidFill>
                <a:latin typeface="PingFang SC"/>
                <a:ea typeface="PingFang SC"/>
                <a:cs typeface="PingFang SC"/>
              </a:defRPr>
            </a:lvl2pPr>
            <a:lvl3pPr algn="l">
              <a:defRPr sz="2325" b="1">
                <a:solidFill>
                  <a:srgbClr val="17334D"/>
                </a:solidFill>
                <a:latin typeface="PingFang SC"/>
                <a:ea typeface="PingFang SC"/>
                <a:cs typeface="PingFang SC"/>
              </a:defRPr>
            </a:lvl3pPr>
            <a:lvl4pPr algn="l">
              <a:defRPr sz="2325" b="1">
                <a:solidFill>
                  <a:srgbClr val="17334D"/>
                </a:solidFill>
                <a:latin typeface="PingFang SC"/>
                <a:ea typeface="PingFang SC"/>
                <a:cs typeface="PingFang SC"/>
              </a:defRPr>
            </a:lvl4pPr>
            <a:lvl5pPr algn="l">
              <a:defRPr sz="2325" b="1">
                <a:solidFill>
                  <a:srgbClr val="17334D"/>
                </a:solidFill>
                <a:latin typeface="PingFang SC"/>
                <a:ea typeface="PingFang SC"/>
                <a:cs typeface="PingFang SC"/>
              </a:defRPr>
            </a:lvl5pPr>
            <a:lvl6pPr algn="l">
              <a:defRPr sz="2325" b="1">
                <a:solidFill>
                  <a:srgbClr val="17334D"/>
                </a:solidFill>
                <a:latin typeface="PingFang SC"/>
                <a:ea typeface="PingFang SC"/>
                <a:cs typeface="PingFang SC"/>
              </a:defRPr>
            </a:lvl6pPr>
            <a:lvl7pPr algn="l">
              <a:defRPr sz="2325" b="1">
                <a:solidFill>
                  <a:srgbClr val="17334D"/>
                </a:solidFill>
                <a:latin typeface="PingFang SC"/>
                <a:ea typeface="PingFang SC"/>
                <a:cs typeface="PingFang SC"/>
              </a:defRPr>
            </a:lvl7pPr>
            <a:lvl8pPr algn="l">
              <a:defRPr sz="2325" b="1">
                <a:solidFill>
                  <a:srgbClr val="17334D"/>
                </a:solidFill>
                <a:latin typeface="PingFang SC"/>
                <a:ea typeface="PingFang SC"/>
                <a:cs typeface="PingFang SC"/>
              </a:defRPr>
            </a:lvl8pPr>
            <a:lvl9pPr algn="l">
              <a:defRPr sz="2325" b="1">
                <a:solidFill>
                  <a:srgbClr val="17334D"/>
                </a:solidFill>
                <a:latin typeface="PingFang SC"/>
                <a:ea typeface="PingFang SC"/>
                <a:cs typeface="PingFang SC"/>
              </a:defRPr>
            </a:lvl9pPr>
          </a:lstStyle>
          <a:p xmlns:a="http://schemas.openxmlformats.org/drawingml/2006/main">
            <a:pPr algn="l">
              <a:defRPr sz="2325" b="1">
                <a:solidFill>
                  <a:srgbClr val="17334D"/>
                </a:solidFill>
                <a:latin typeface="PingFang SC"/>
                <a:ea typeface="PingFang SC"/>
                <a:cs typeface="PingFang SC"/>
              </a:defRPr>
            </a:pPr>
            <a:r>
              <a:rPr sz="2325" b="1">
                <a:solidFill>
                  <a:srgbClr val="17334D"/>
                </a:solidFill>
                <a:latin typeface="PingFang SC"/>
                <a:ea typeface="PingFang SC"/>
                <a:cs typeface="PingFang SC"/>
              </a:rPr>
              <a:t>SUP-B：1,100×2×7.2 + 300 = 16,140元</a:t>
            </a:r>
          </a:p>
        </p:txBody>
      </p:sp>
    </p:spTree>
    <p:extLst>
      <p:ext uri="{BB962C8B-B14F-4D97-AF65-F5344CB8AC3E}">
        <p14:creationId xmlns:p14="http://schemas.microsoft.com/office/powerpoint/2010/main" val="195120801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254E6B-DC3E-42F5-82D9-CC66F9AB25AB}"/>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成本最低的SUP-A为什么不入选？</a:t>
            </a:r>
          </a:p>
        </p:txBody>
      </p:sp>
      <p:sp>
        <p:nvSpPr>
          <p:cNvPr id="2" name="">
            <a:extLst xmlns:a="http://schemas.openxmlformats.org/drawingml/2006/main">
              <a:ext uri="{FF2B5EF4-FFF2-40B4-BE49-F238E27FC236}">
                <a16:creationId xmlns:a16="http://schemas.microsoft.com/office/drawing/2014/main" id="{86A58D6F-75AF-4B7C-8D0F-248C787E0874}"/>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教学数据：成本排序必须服从已确认的可用性约束</a:t>
            </a:r>
          </a:p>
        </p:txBody>
      </p:sp>
      <p:sp>
        <p:nvSpPr>
          <p:cNvPr id="3" name="">
            <a:extLst xmlns:a="http://schemas.openxmlformats.org/drawingml/2006/main">
              <a:ext uri="{FF2B5EF4-FFF2-40B4-BE49-F238E27FC236}">
                <a16:creationId xmlns:a16="http://schemas.microsoft.com/office/drawing/2014/main" id="{AC1A262B-7430-4EEC-AD5E-0AFFE011AB90}"/>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5分钟</a:t>
            </a:r>
          </a:p>
        </p:txBody>
      </p:sp>
      <p:sp>
        <p:nvSpPr>
          <p:cNvPr id="4" name="">
            <a:extLst xmlns:a="http://schemas.openxmlformats.org/drawingml/2006/main">
              <a:ext uri="{FF2B5EF4-FFF2-40B4-BE49-F238E27FC236}">
                <a16:creationId xmlns:a16="http://schemas.microsoft.com/office/drawing/2014/main" id="{2CD0853A-2F31-4E62-A1B9-4693E029F145}"/>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29 / 94</a:t>
            </a:r>
          </a:p>
        </p:txBody>
      </p:sp>
      <p:graphicFrame>
        <p:nvGraphicFramePr>
          <p:cNvPr id="5" name="Chart">
            <a:extLst xmlns:a="http://schemas.openxmlformats.org/drawingml/2006/main">
              <a:ext uri="{FF2B5EF4-FFF2-40B4-BE49-F238E27FC236}">
                <a16:creationId xmlns:a16="http://schemas.microsoft.com/office/drawing/2014/main" id="{1E80C4B7-BDDE-40AE-B3B0-DCDFDE40507E}"/>
              </a:ext>
            </a:extLst>
          </p:cNvPr>
          <p:cNvGraphicFramePr/>
          <p:nvPr/>
        </p:nvGraphicFramePr>
        <p:xfrm>
          <a:off xmlns:a="http://schemas.openxmlformats.org/drawingml/2006/main" x="609600" y="191452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d2de5e0513c14f12"/>
          </a:graphicData>
        </a:graphic>
      </p:graphicFrame>
      <p:sp>
        <p:nvSpPr>
          <p:cNvPr id="6" name="">
            <a:extLst xmlns:a="http://schemas.openxmlformats.org/drawingml/2006/main">
              <a:ext uri="{FF2B5EF4-FFF2-40B4-BE49-F238E27FC236}">
                <a16:creationId xmlns:a16="http://schemas.microsoft.com/office/drawing/2014/main" id="{B676662D-A3B2-4438-9F12-CE4CC1E6F00F}"/>
              </a:ext>
            </a:extLst>
          </p:cNvPr>
          <p:cNvSpPr>
            <a:spLocks xmlns:a="http://schemas.openxmlformats.org/drawingml/2006/main" noGrp="1"/>
          </p:cNvSpPr>
          <p:nvPr/>
        </p:nvSpPr>
        <p:spPr>
          <a:xfrm xmlns:a="http://schemas.openxmlformats.org/drawingml/2006/main">
            <a:off x="619125" y="15621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模拟总成本（CNY）</a:t>
            </a:r>
          </a:p>
        </p:txBody>
      </p:sp>
      <p:sp>
        <p:nvSpPr>
          <p:cNvPr id="7" name="">
            <a:extLst xmlns:a="http://schemas.openxmlformats.org/drawingml/2006/main">
              <a:ext uri="{FF2B5EF4-FFF2-40B4-BE49-F238E27FC236}">
                <a16:creationId xmlns:a16="http://schemas.microsoft.com/office/drawing/2014/main" id="{55E3DE2D-C9CF-44F6-B537-51D05A6B7E70}"/>
              </a:ext>
            </a:extLst>
          </p:cNvPr>
          <p:cNvSpPr>
            <a:spLocks xmlns:a="http://schemas.openxmlformats.org/drawingml/2006/main" noGrp="1"/>
          </p:cNvSpPr>
          <p:nvPr/>
        </p:nvSpPr>
        <p:spPr>
          <a:xfrm xmlns:a="http://schemas.openxmlformats.org/drawingml/2006/main">
            <a:off x="628650" y="5391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SUP-A证书核对未通过；10天期限下，本例选择SUP-B</a:t>
            </a:r>
          </a:p>
        </p:txBody>
      </p:sp>
    </p:spTree>
    <p:extLst>
      <p:ext uri="{BB962C8B-B14F-4D97-AF65-F5344CB8AC3E}">
        <p14:creationId xmlns:p14="http://schemas.microsoft.com/office/powerpoint/2010/main" val="114598939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8237A8-4CE7-4049-870D-9B6CE4214629}"/>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交付期限从10天改为4天</a:t>
            </a:r>
          </a:p>
        </p:txBody>
      </p:sp>
      <p:sp>
        <p:nvSpPr>
          <p:cNvPr id="2" name="">
            <a:extLst xmlns:a="http://schemas.openxmlformats.org/drawingml/2006/main">
              <a:ext uri="{FF2B5EF4-FFF2-40B4-BE49-F238E27FC236}">
                <a16:creationId xmlns:a16="http://schemas.microsoft.com/office/drawing/2014/main" id="{901BA864-86A6-4887-B013-06A4740CBAF0}"/>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数据不变，只改变最迟交付期限</a:t>
            </a:r>
          </a:p>
        </p:txBody>
      </p:sp>
      <p:sp>
        <p:nvSpPr>
          <p:cNvPr id="3" name="">
            <a:extLst xmlns:a="http://schemas.openxmlformats.org/drawingml/2006/main">
              <a:ext uri="{FF2B5EF4-FFF2-40B4-BE49-F238E27FC236}">
                <a16:creationId xmlns:a16="http://schemas.microsoft.com/office/drawing/2014/main" id="{2AA506FD-D3E0-4123-8343-A835675758B1}"/>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7分钟</a:t>
            </a:r>
          </a:p>
        </p:txBody>
      </p:sp>
      <p:sp>
        <p:nvSpPr>
          <p:cNvPr id="4" name="">
            <a:extLst xmlns:a="http://schemas.openxmlformats.org/drawingml/2006/main">
              <a:ext uri="{FF2B5EF4-FFF2-40B4-BE49-F238E27FC236}">
                <a16:creationId xmlns:a16="http://schemas.microsoft.com/office/drawing/2014/main" id="{4AE98637-C9C6-4769-95D6-2DFB5DBFF6E9}"/>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30 / 94</a:t>
            </a:r>
          </a:p>
        </p:txBody>
      </p:sp>
      <p:graphicFrame>
        <p:nvGraphicFramePr>
          <p:cNvPr id="5" name="">
            <a:extLst xmlns:a="http://schemas.openxmlformats.org/drawingml/2006/main">
              <a:ext uri="{FF2B5EF4-FFF2-40B4-BE49-F238E27FC236}">
                <a16:creationId xmlns:a16="http://schemas.microsoft.com/office/drawing/2014/main" id="{28AC8021-DED8-424A-AFB4-BB4FADB28FE4}"/>
              </a:ext>
            </a:extLst>
          </p:cNvPr>
          <p:cNvGraphicFramePr/>
          <p:nvPr/>
        </p:nvGraphicFramePr>
        <p:xfrm>
          <a:off xmlns:a="http://schemas.openxmlformats.org/drawingml/2006/main" x="609600" y="1695450"/>
          <a:ext xmlns:a="http://schemas.openxmlformats.org/drawingml/2006/main" cx="10972800" cy="3333750"/>
        </p:xfrm>
        <a:graphic xmlns:a="http://schemas.openxmlformats.org/drawingml/2006/main">
          <a:graphicData uri="http://schemas.openxmlformats.org/drawingml/2006/table">
            <a:tbl>
              <a:tblPr/>
              <a:tblGrid>
                <a:gridCol w="2190750"/>
                <a:gridCol w="2190750"/>
                <a:gridCol w="2857500"/>
                <a:gridCol w="3733800"/>
              </a:tblGrid>
              <a:tr h="833438">
                <a:tc>
                  <a:txBody>
                    <a:bodyPr lIns="114300" tIns="114300" rIns="114300" bIns="114300"/>
                    <a:lstStyle/>
                    <a:p>
                      <a:r>
                        <a:rPr sz="1725" b="1">
                          <a:solidFill>
                            <a:srgbClr val="477FA8"/>
                          </a:solidFill>
                          <a:latin typeface="PingFang SC"/>
                          <a:ea typeface="PingFang SC"/>
                          <a:cs typeface="PingFang SC"/>
                        </a:rPr>
                        <a:t>方案</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交期</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证书核对</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4天期限下</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33438">
                <a:tc>
                  <a:txBody>
                    <a:bodyPr lIns="114300" tIns="114300" rIns="114300" bIns="114300"/>
                    <a:lstStyle/>
                    <a:p>
                      <a:r>
                        <a:rPr sz="1875" b="1">
                          <a:solidFill>
                            <a:srgbClr val="477FA8"/>
                          </a:solidFill>
                          <a:latin typeface="PingFang SC"/>
                          <a:ea typeface="PingFang SC"/>
                          <a:cs typeface="PingFang SC"/>
                        </a:rPr>
                        <a:t>SUP-A</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5天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未通过</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不可行</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33438">
                <a:tc>
                  <a:txBody>
                    <a:bodyPr lIns="114300" tIns="114300" rIns="114300" bIns="114300"/>
                    <a:lstStyle/>
                    <a:p>
                      <a:r>
                        <a:rPr sz="1875" b="1">
                          <a:solidFill>
                            <a:srgbClr val="477FA8"/>
                          </a:solidFill>
                          <a:latin typeface="PingFang SC"/>
                          <a:ea typeface="PingFang SC"/>
                          <a:cs typeface="PingFang SC"/>
                        </a:rPr>
                        <a:t>SUP-B</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8天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通过</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不可行</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33438">
                <a:tc>
                  <a:txBody>
                    <a:bodyPr lIns="114300" tIns="114300" rIns="114300" bIns="114300"/>
                    <a:lstStyle/>
                    <a:p>
                      <a:r>
                        <a:rPr sz="1875" b="1">
                          <a:solidFill>
                            <a:srgbClr val="477FA8"/>
                          </a:solidFill>
                          <a:latin typeface="PingFang SC"/>
                          <a:ea typeface="PingFang SC"/>
                          <a:cs typeface="PingFang SC"/>
                        </a:rPr>
                        <a:t>SUP-C</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3天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通过</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可行</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6348729-7F4A-4867-B281-630272EF45FE}"/>
              </a:ext>
            </a:extLst>
          </p:cNvPr>
          <p:cNvSpPr>
            <a:spLocks xmlns:a="http://schemas.openxmlformats.org/drawingml/2006/main" noGrp="1"/>
          </p:cNvSpPr>
          <p:nvPr/>
        </p:nvSpPr>
        <p:spPr>
          <a:xfrm xmlns:a="http://schemas.openxmlformats.org/drawingml/2006/main">
            <a:off x="628650" y="5391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先确认业务期限，再解释额外成本是否值得</a:t>
            </a:r>
          </a:p>
        </p:txBody>
      </p:sp>
    </p:spTree>
    <p:extLst>
      <p:ext uri="{BB962C8B-B14F-4D97-AF65-F5344CB8AC3E}">
        <p14:creationId xmlns:p14="http://schemas.microsoft.com/office/powerpoint/2010/main" val="111335370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ACF2A06-B781-490A-BB8D-F4AABDB46BA1}"/>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询价工具能帮什么，仍缺什么？</a:t>
            </a:r>
          </a:p>
        </p:txBody>
      </p:sp>
      <p:sp>
        <p:nvSpPr>
          <p:cNvPr id="2" name="">
            <a:extLst xmlns:a="http://schemas.openxmlformats.org/drawingml/2006/main">
              <a:ext uri="{FF2B5EF4-FFF2-40B4-BE49-F238E27FC236}">
                <a16:creationId xmlns:a16="http://schemas.microsoft.com/office/drawing/2014/main" id="{0517104F-628E-427C-93D7-177635F9C8FE}"/>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工具适配由数据和规则决定，不能只看演示效果</a:t>
            </a:r>
          </a:p>
        </p:txBody>
      </p:sp>
      <p:sp>
        <p:nvSpPr>
          <p:cNvPr id="3" name="">
            <a:extLst xmlns:a="http://schemas.openxmlformats.org/drawingml/2006/main">
              <a:ext uri="{FF2B5EF4-FFF2-40B4-BE49-F238E27FC236}">
                <a16:creationId xmlns:a16="http://schemas.microsoft.com/office/drawing/2014/main" id="{556AACAA-9798-42BB-BCB6-72BDED96046E}"/>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5分钟</a:t>
            </a:r>
          </a:p>
        </p:txBody>
      </p:sp>
      <p:sp>
        <p:nvSpPr>
          <p:cNvPr id="4" name="">
            <a:extLst xmlns:a="http://schemas.openxmlformats.org/drawingml/2006/main">
              <a:ext uri="{FF2B5EF4-FFF2-40B4-BE49-F238E27FC236}">
                <a16:creationId xmlns:a16="http://schemas.microsoft.com/office/drawing/2014/main" id="{354A5366-06D7-47DE-BB01-6101A5336EAA}"/>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31 / 94</a:t>
            </a:r>
          </a:p>
        </p:txBody>
      </p:sp>
      <p:sp>
        <p:nvSpPr>
          <p:cNvPr id="5" name="">
            <a:extLst xmlns:a="http://schemas.openxmlformats.org/drawingml/2006/main">
              <a:ext uri="{FF2B5EF4-FFF2-40B4-BE49-F238E27FC236}">
                <a16:creationId xmlns:a16="http://schemas.microsoft.com/office/drawing/2014/main" id="{EED5C31A-C120-464D-8C85-307CA97FE820}"/>
              </a:ext>
            </a:extLst>
          </p:cNvPr>
          <p:cNvSpPr>
            <a:spLocks xmlns:a="http://schemas.openxmlformats.org/drawingml/2006/main" noGrp="1"/>
          </p:cNvSpPr>
          <p:nvPr/>
        </p:nvSpPr>
        <p:spPr>
          <a:xfrm xmlns:a="http://schemas.openxmlformats.org/drawingml/2006/main">
            <a:off x="609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可能提供帮助</a:t>
            </a:r>
          </a:p>
        </p:txBody>
      </p:sp>
      <p:sp>
        <p:nvSpPr>
          <p:cNvPr id="6" name="">
            <a:extLst xmlns:a="http://schemas.openxmlformats.org/drawingml/2006/main">
              <a:ext uri="{FF2B5EF4-FFF2-40B4-BE49-F238E27FC236}">
                <a16:creationId xmlns:a16="http://schemas.microsoft.com/office/drawing/2014/main" id="{39A2E96C-9AAE-4059-AF08-584319FEF3CB}"/>
              </a:ext>
            </a:extLst>
          </p:cNvPr>
          <p:cNvSpPr>
            <a:spLocks xmlns:a="http://schemas.openxmlformats.org/drawingml/2006/main" noGrp="1"/>
          </p:cNvSpPr>
          <p:nvPr/>
        </p:nvSpPr>
        <p:spPr>
          <a:xfrm xmlns:a="http://schemas.openxmlformats.org/drawingml/2006/main">
            <a:off x="609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组织RFQ与供应商响应</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统一比价与多轮询价记录</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辅助提取邮件和附件字段</a:t>
            </a:r>
          </a:p>
        </p:txBody>
      </p:sp>
      <p:sp>
        <p:nvSpPr>
          <p:cNvPr id="7" name="">
            <a:extLst xmlns:a="http://schemas.openxmlformats.org/drawingml/2006/main">
              <a:ext uri="{FF2B5EF4-FFF2-40B4-BE49-F238E27FC236}">
                <a16:creationId xmlns:a16="http://schemas.microsoft.com/office/drawing/2014/main" id="{733041F4-D49F-4CD7-817D-4240F30EF329}"/>
              </a:ext>
            </a:extLst>
          </p:cNvPr>
          <p:cNvSpPr>
            <a:spLocks xmlns:a="http://schemas.openxmlformats.org/drawingml/2006/main" noGrp="1"/>
          </p:cNvSpPr>
          <p:nvPr/>
        </p:nvSpPr>
        <p:spPr>
          <a:xfrm xmlns:a="http://schemas.openxmlformats.org/drawingml/2006/main">
            <a:off x="6324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仍需验证的条件</a:t>
            </a:r>
          </a:p>
        </p:txBody>
      </p:sp>
      <p:sp>
        <p:nvSpPr>
          <p:cNvPr id="8" name="">
            <a:extLst xmlns:a="http://schemas.openxmlformats.org/drawingml/2006/main">
              <a:ext uri="{FF2B5EF4-FFF2-40B4-BE49-F238E27FC236}">
                <a16:creationId xmlns:a16="http://schemas.microsoft.com/office/drawing/2014/main" id="{03737ECB-BC05-4FB8-9B49-EFD98E2EC245}"/>
              </a:ext>
            </a:extLst>
          </p:cNvPr>
          <p:cNvSpPr>
            <a:spLocks xmlns:a="http://schemas.openxmlformats.org/drawingml/2006/main" noGrp="1"/>
          </p:cNvSpPr>
          <p:nvPr/>
        </p:nvSpPr>
        <p:spPr>
          <a:xfrm xmlns:a="http://schemas.openxmlformats.org/drawingml/2006/main">
            <a:off x="6324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航空件况与证书字段</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实际数据覆盖及授权</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接口、版本与人工复核责任</a:t>
            </a:r>
          </a:p>
        </p:txBody>
      </p:sp>
    </p:spTree>
    <p:extLst>
      <p:ext uri="{BB962C8B-B14F-4D97-AF65-F5344CB8AC3E}">
        <p14:creationId xmlns:p14="http://schemas.microsoft.com/office/powerpoint/2010/main" val="33862019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4EF969-84EE-45C4-9F2E-AD243FB3D48D}"/>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市场参考价与可成交报价的区别</a:t>
            </a:r>
          </a:p>
        </p:txBody>
      </p:sp>
      <p:sp>
        <p:nvSpPr>
          <p:cNvPr id="2" name="">
            <a:extLst xmlns:a="http://schemas.openxmlformats.org/drawingml/2006/main">
              <a:ext uri="{FF2B5EF4-FFF2-40B4-BE49-F238E27FC236}">
                <a16:creationId xmlns:a16="http://schemas.microsoft.com/office/drawing/2014/main" id="{301383C6-F70D-444A-99B5-45223200E55D}"/>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参考信息支持判断，不能替代具体件号与交易条件核对</a:t>
            </a:r>
          </a:p>
        </p:txBody>
      </p:sp>
      <p:sp>
        <p:nvSpPr>
          <p:cNvPr id="3" name="">
            <a:extLst xmlns:a="http://schemas.openxmlformats.org/drawingml/2006/main">
              <a:ext uri="{FF2B5EF4-FFF2-40B4-BE49-F238E27FC236}">
                <a16:creationId xmlns:a16="http://schemas.microsoft.com/office/drawing/2014/main" id="{CDC828BF-C98C-4500-B4CE-08E86E0FA314}"/>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5分钟</a:t>
            </a:r>
          </a:p>
        </p:txBody>
      </p:sp>
      <p:sp>
        <p:nvSpPr>
          <p:cNvPr id="4" name="">
            <a:extLst xmlns:a="http://schemas.openxmlformats.org/drawingml/2006/main">
              <a:ext uri="{FF2B5EF4-FFF2-40B4-BE49-F238E27FC236}">
                <a16:creationId xmlns:a16="http://schemas.microsoft.com/office/drawing/2014/main" id="{786420C7-53C7-4AF4-B84E-22694890289A}"/>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32 / 94</a:t>
            </a:r>
          </a:p>
        </p:txBody>
      </p:sp>
      <p:sp>
        <p:nvSpPr>
          <p:cNvPr id="5" name="">
            <a:extLst xmlns:a="http://schemas.openxmlformats.org/drawingml/2006/main">
              <a:ext uri="{FF2B5EF4-FFF2-40B4-BE49-F238E27FC236}">
                <a16:creationId xmlns:a16="http://schemas.microsoft.com/office/drawing/2014/main" id="{D1224427-7E0D-42CA-A1EB-DB1F86DE2C8A}"/>
              </a:ext>
            </a:extLst>
          </p:cNvPr>
          <p:cNvSpPr>
            <a:spLocks xmlns:a="http://schemas.openxmlformats.org/drawingml/2006/main" noGrp="1"/>
          </p:cNvSpPr>
          <p:nvPr/>
        </p:nvSpPr>
        <p:spPr>
          <a:xfrm xmlns:a="http://schemas.openxmlformats.org/drawingml/2006/main">
            <a:off x="609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市场参考</a:t>
            </a:r>
          </a:p>
        </p:txBody>
      </p:sp>
      <p:sp>
        <p:nvSpPr>
          <p:cNvPr id="6" name="">
            <a:extLst xmlns:a="http://schemas.openxmlformats.org/drawingml/2006/main">
              <a:ext uri="{FF2B5EF4-FFF2-40B4-BE49-F238E27FC236}">
                <a16:creationId xmlns:a16="http://schemas.microsoft.com/office/drawing/2014/main" id="{897CD05D-FC7A-402D-92DC-4F1612EF6D44}"/>
              </a:ext>
            </a:extLst>
          </p:cNvPr>
          <p:cNvSpPr>
            <a:spLocks xmlns:a="http://schemas.openxmlformats.org/drawingml/2006/main" noGrp="1"/>
          </p:cNvSpPr>
          <p:nvPr/>
        </p:nvSpPr>
        <p:spPr>
          <a:xfrm xmlns:a="http://schemas.openxmlformats.org/drawingml/2006/main">
            <a:off x="609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同件号及件况的市场信息</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历史、估值或价格区间</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可辅助识别异常报价</a:t>
            </a:r>
          </a:p>
        </p:txBody>
      </p:sp>
      <p:sp>
        <p:nvSpPr>
          <p:cNvPr id="7" name="">
            <a:extLst xmlns:a="http://schemas.openxmlformats.org/drawingml/2006/main">
              <a:ext uri="{FF2B5EF4-FFF2-40B4-BE49-F238E27FC236}">
                <a16:creationId xmlns:a16="http://schemas.microsoft.com/office/drawing/2014/main" id="{D3F3707B-56EE-4C2A-98C4-51B76B9294CD}"/>
              </a:ext>
            </a:extLst>
          </p:cNvPr>
          <p:cNvSpPr>
            <a:spLocks xmlns:a="http://schemas.openxmlformats.org/drawingml/2006/main" noGrp="1"/>
          </p:cNvSpPr>
          <p:nvPr/>
        </p:nvSpPr>
        <p:spPr>
          <a:xfrm xmlns:a="http://schemas.openxmlformats.org/drawingml/2006/main">
            <a:off x="6324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具体采购方案</a:t>
            </a:r>
          </a:p>
        </p:txBody>
      </p:sp>
      <p:sp>
        <p:nvSpPr>
          <p:cNvPr id="8" name="">
            <a:extLst xmlns:a="http://schemas.openxmlformats.org/drawingml/2006/main">
              <a:ext uri="{FF2B5EF4-FFF2-40B4-BE49-F238E27FC236}">
                <a16:creationId xmlns:a16="http://schemas.microsoft.com/office/drawing/2014/main" id="{2DBF0B38-09AA-4A74-AB0D-FD4F11EB9FA5}"/>
              </a:ext>
            </a:extLst>
          </p:cNvPr>
          <p:cNvSpPr>
            <a:spLocks xmlns:a="http://schemas.openxmlformats.org/drawingml/2006/main" noGrp="1"/>
          </p:cNvSpPr>
          <p:nvPr/>
        </p:nvSpPr>
        <p:spPr>
          <a:xfrm xmlns:a="http://schemas.openxmlformats.org/drawingml/2006/main">
            <a:off x="6324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供应商明确报价与有效期</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数量、件况、证据和交付</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须确认当前可获得性</a:t>
            </a:r>
          </a:p>
        </p:txBody>
      </p:sp>
    </p:spTree>
    <p:extLst>
      <p:ext uri="{BB962C8B-B14F-4D97-AF65-F5344CB8AC3E}">
        <p14:creationId xmlns:p14="http://schemas.microsoft.com/office/powerpoint/2010/main" val="205314799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E3C89F-C03C-473C-B09A-4BD38601D5B2}"/>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大模型解析报价的校验清单</a:t>
            </a:r>
          </a:p>
        </p:txBody>
      </p:sp>
      <p:sp>
        <p:nvSpPr>
          <p:cNvPr id="2" name="">
            <a:extLst xmlns:a="http://schemas.openxmlformats.org/drawingml/2006/main">
              <a:ext uri="{FF2B5EF4-FFF2-40B4-BE49-F238E27FC236}">
                <a16:creationId xmlns:a16="http://schemas.microsoft.com/office/drawing/2014/main" id="{7DC5E85D-DEB7-4D1E-A130-62EF97326DCE}"/>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先校验重要字段，再决定能否进入计算</a:t>
            </a:r>
          </a:p>
        </p:txBody>
      </p:sp>
      <p:sp>
        <p:nvSpPr>
          <p:cNvPr id="3" name="">
            <a:extLst xmlns:a="http://schemas.openxmlformats.org/drawingml/2006/main">
              <a:ext uri="{FF2B5EF4-FFF2-40B4-BE49-F238E27FC236}">
                <a16:creationId xmlns:a16="http://schemas.microsoft.com/office/drawing/2014/main" id="{4F65A8F2-E791-4B22-B2F9-0F3900A9D05B}"/>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7分钟</a:t>
            </a:r>
          </a:p>
        </p:txBody>
      </p:sp>
      <p:sp>
        <p:nvSpPr>
          <p:cNvPr id="4" name="">
            <a:extLst xmlns:a="http://schemas.openxmlformats.org/drawingml/2006/main">
              <a:ext uri="{FF2B5EF4-FFF2-40B4-BE49-F238E27FC236}">
                <a16:creationId xmlns:a16="http://schemas.microsoft.com/office/drawing/2014/main" id="{3BD79663-B69C-4A7D-A67C-B8BB146E7EDA}"/>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33 / 94</a:t>
            </a:r>
          </a:p>
        </p:txBody>
      </p:sp>
      <p:graphicFrame>
        <p:nvGraphicFramePr>
          <p:cNvPr id="5" name="">
            <a:extLst xmlns:a="http://schemas.openxmlformats.org/drawingml/2006/main">
              <a:ext uri="{FF2B5EF4-FFF2-40B4-BE49-F238E27FC236}">
                <a16:creationId xmlns:a16="http://schemas.microsoft.com/office/drawing/2014/main" id="{17A5D963-9FD7-4264-8E9C-82CCA8A88767}"/>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571750"/>
                <a:gridCol w="4333875"/>
                <a:gridCol w="4067175"/>
              </a:tblGrid>
              <a:tr h="800100">
                <a:tc>
                  <a:txBody>
                    <a:bodyPr lIns="114300" tIns="114300" rIns="114300" bIns="114300"/>
                    <a:lstStyle/>
                    <a:p>
                      <a:r>
                        <a:rPr sz="1725" b="1">
                          <a:solidFill>
                            <a:srgbClr val="477FA8"/>
                          </a:solidFill>
                          <a:latin typeface="PingFang SC"/>
                          <a:ea typeface="PingFang SC"/>
                          <a:cs typeface="PingFang SC"/>
                        </a:rPr>
                        <a:t>易错点</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检查方法</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无法确认时</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币种与小数位</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回看原文与金额格式</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保留原文，询问报价方</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单件与整单费用</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区分单位和费用归属</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不得自行分摊或补零</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交期含义</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区分备货、发运和到达</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补充统一到达口径</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证书与适用性</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逐项记录核对结果</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标记待复核，暂停入选</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30609253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8EEEB86-AC82-41C5-85A3-79285501D33C}"/>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实训准备：三类来源如何关联？</a:t>
            </a:r>
          </a:p>
        </p:txBody>
      </p:sp>
      <p:sp>
        <p:nvSpPr>
          <p:cNvPr id="2" name="">
            <a:extLst xmlns:a="http://schemas.openxmlformats.org/drawingml/2006/main">
              <a:ext uri="{FF2B5EF4-FFF2-40B4-BE49-F238E27FC236}">
                <a16:creationId xmlns:a16="http://schemas.microsoft.com/office/drawing/2014/main" id="{7A9A3485-A161-429F-8A6F-725FA972A245}"/>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同一候选报价的业务键与统计粒度必须一致</a:t>
            </a:r>
          </a:p>
        </p:txBody>
      </p:sp>
      <p:sp>
        <p:nvSpPr>
          <p:cNvPr id="3" name="">
            <a:extLst xmlns:a="http://schemas.openxmlformats.org/drawingml/2006/main">
              <a:ext uri="{FF2B5EF4-FFF2-40B4-BE49-F238E27FC236}">
                <a16:creationId xmlns:a16="http://schemas.microsoft.com/office/drawing/2014/main" id="{4C751076-5A5A-462B-9DC1-073213079AF3}"/>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6分钟</a:t>
            </a:r>
          </a:p>
        </p:txBody>
      </p:sp>
      <p:sp>
        <p:nvSpPr>
          <p:cNvPr id="4" name="">
            <a:extLst xmlns:a="http://schemas.openxmlformats.org/drawingml/2006/main">
              <a:ext uri="{FF2B5EF4-FFF2-40B4-BE49-F238E27FC236}">
                <a16:creationId xmlns:a16="http://schemas.microsoft.com/office/drawing/2014/main" id="{BEE8EBD1-E7E2-4BA8-BFB6-A94D2FEFC61B}"/>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34 / 94</a:t>
            </a:r>
          </a:p>
        </p:txBody>
      </p:sp>
      <p:pic>
        <p:nvPicPr>
          <p:cNvPr id="5" name="">
            <a:extLst xmlns:a="http://schemas.openxmlformats.org/drawingml/2006/main">
              <a:ext uri="{FF2B5EF4-FFF2-40B4-BE49-F238E27FC236}">
                <a16:creationId xmlns:a16="http://schemas.microsoft.com/office/drawing/2014/main" id="{4A2E0B0F-1E71-42A0-97EE-6C2E65684A5E}"/>
              </a:ext>
            </a:extLst>
          </p:cNvPr>
          <p:cNvPicPr>
            <a:picLocks xmlns:a="http://schemas.openxmlformats.org/drawingml/2006/main" noChangeAspect="1"/>
          </p:cNvPicPr>
          <p:nvPr/>
        </p:nvPicPr>
        <p:blipFill>
          <a:blip xmlns:r="http://schemas.openxmlformats.org/officeDocument/2006/relationships" xmlns:a="http://schemas.openxmlformats.org/drawingml/2006/main" r:embed="R636c307955444dec"/>
          <a:stretch xmlns:a="http://schemas.openxmlformats.org/drawingml/2006/main"/>
        </p:blipFill>
        <p:spPr>
          <a:xfrm xmlns:a="http://schemas.openxmlformats.org/drawingml/2006/main">
            <a:off x="609600" y="2759869"/>
            <a:ext cx="7715250" cy="162401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CFBD710-2828-435E-93C0-1A02610878CA}"/>
              </a:ext>
            </a:extLst>
          </p:cNvPr>
          <p:cNvSpPr>
            <a:spLocks xmlns:a="http://schemas.openxmlformats.org/drawingml/2006/main" noGrp="1"/>
          </p:cNvSpPr>
          <p:nvPr/>
        </p:nvSpPr>
        <p:spPr>
          <a:xfrm xmlns:a="http://schemas.openxmlformats.org/drawingml/2006/main">
            <a:off x="8858250" y="1809750"/>
            <a:ext cx="2724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业务核对</a:t>
            </a:r>
          </a:p>
        </p:txBody>
      </p:sp>
      <p:sp>
        <p:nvSpPr>
          <p:cNvPr id="7" name="">
            <a:extLst xmlns:a="http://schemas.openxmlformats.org/drawingml/2006/main">
              <a:ext uri="{FF2B5EF4-FFF2-40B4-BE49-F238E27FC236}">
                <a16:creationId xmlns:a16="http://schemas.microsoft.com/office/drawing/2014/main" id="{76E31304-2FC3-4BE9-91CF-B8FB88FFB9C8}"/>
              </a:ext>
            </a:extLst>
          </p:cNvPr>
          <p:cNvSpPr>
            <a:spLocks xmlns:a="http://schemas.openxmlformats.org/drawingml/2006/main" noGrp="1"/>
          </p:cNvSpPr>
          <p:nvPr/>
        </p:nvSpPr>
        <p:spPr>
          <a:xfrm xmlns:a="http://schemas.openxmlformats.org/drawingml/2006/main">
            <a:off x="8858250" y="25622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01</a:t>
            </a:r>
          </a:p>
        </p:txBody>
      </p:sp>
      <p:sp>
        <p:nvSpPr>
          <p:cNvPr id="8" name="">
            <a:extLst xmlns:a="http://schemas.openxmlformats.org/drawingml/2006/main">
              <a:ext uri="{FF2B5EF4-FFF2-40B4-BE49-F238E27FC236}">
                <a16:creationId xmlns:a16="http://schemas.microsoft.com/office/drawing/2014/main" id="{61D643D2-8AE7-4756-9FA0-28D50F266289}"/>
              </a:ext>
            </a:extLst>
          </p:cNvPr>
          <p:cNvSpPr>
            <a:spLocks xmlns:a="http://schemas.openxmlformats.org/drawingml/2006/main" noGrp="1"/>
          </p:cNvSpPr>
          <p:nvPr/>
        </p:nvSpPr>
        <p:spPr>
          <a:xfrm xmlns:a="http://schemas.openxmlformats.org/drawingml/2006/main">
            <a:off x="8858250" y="29432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SRM：报价、数量、交期</a:t>
            </a:r>
          </a:p>
        </p:txBody>
      </p:sp>
      <p:sp>
        <p:nvSpPr>
          <p:cNvPr id="9" name="">
            <a:extLst xmlns:a="http://schemas.openxmlformats.org/drawingml/2006/main">
              <a:ext uri="{FF2B5EF4-FFF2-40B4-BE49-F238E27FC236}">
                <a16:creationId xmlns:a16="http://schemas.microsoft.com/office/drawing/2014/main" id="{28C4C92A-BF11-429B-8B83-0E5498384D70}"/>
              </a:ext>
            </a:extLst>
          </p:cNvPr>
          <p:cNvSpPr>
            <a:spLocks xmlns:a="http://schemas.openxmlformats.org/drawingml/2006/main" noGrp="1"/>
          </p:cNvSpPr>
          <p:nvPr/>
        </p:nvSpPr>
        <p:spPr>
          <a:xfrm xmlns:a="http://schemas.openxmlformats.org/drawingml/2006/main">
            <a:off x="8858250" y="36290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02</a:t>
            </a:r>
          </a:p>
        </p:txBody>
      </p:sp>
      <p:sp>
        <p:nvSpPr>
          <p:cNvPr id="10" name="">
            <a:extLst xmlns:a="http://schemas.openxmlformats.org/drawingml/2006/main">
              <a:ext uri="{FF2B5EF4-FFF2-40B4-BE49-F238E27FC236}">
                <a16:creationId xmlns:a16="http://schemas.microsoft.com/office/drawing/2014/main" id="{011E4DB7-C69E-4FA7-AB53-F7FA9EB7E2AD}"/>
              </a:ext>
            </a:extLst>
          </p:cNvPr>
          <p:cNvSpPr>
            <a:spLocks xmlns:a="http://schemas.openxmlformats.org/drawingml/2006/main" noGrp="1"/>
          </p:cNvSpPr>
          <p:nvPr/>
        </p:nvSpPr>
        <p:spPr>
          <a:xfrm xmlns:a="http://schemas.openxmlformats.org/drawingml/2006/main">
            <a:off x="8858250" y="40100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ERP：汇率与整单运费</a:t>
            </a:r>
          </a:p>
        </p:txBody>
      </p:sp>
      <p:sp>
        <p:nvSpPr>
          <p:cNvPr id="11" name="">
            <a:extLst xmlns:a="http://schemas.openxmlformats.org/drawingml/2006/main">
              <a:ext uri="{FF2B5EF4-FFF2-40B4-BE49-F238E27FC236}">
                <a16:creationId xmlns:a16="http://schemas.microsoft.com/office/drawing/2014/main" id="{D7EA8BCD-848F-4A35-9214-68038844AC61}"/>
              </a:ext>
            </a:extLst>
          </p:cNvPr>
          <p:cNvSpPr>
            <a:spLocks xmlns:a="http://schemas.openxmlformats.org/drawingml/2006/main" noGrp="1"/>
          </p:cNvSpPr>
          <p:nvPr/>
        </p:nvSpPr>
        <p:spPr>
          <a:xfrm xmlns:a="http://schemas.openxmlformats.org/drawingml/2006/main">
            <a:off x="8858250" y="46958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03</a:t>
            </a:r>
          </a:p>
        </p:txBody>
      </p:sp>
      <p:sp>
        <p:nvSpPr>
          <p:cNvPr id="12" name="">
            <a:extLst xmlns:a="http://schemas.openxmlformats.org/drawingml/2006/main">
              <a:ext uri="{FF2B5EF4-FFF2-40B4-BE49-F238E27FC236}">
                <a16:creationId xmlns:a16="http://schemas.microsoft.com/office/drawing/2014/main" id="{42B4D3ED-42E2-4E3C-A696-74703D35839E}"/>
              </a:ext>
            </a:extLst>
          </p:cNvPr>
          <p:cNvSpPr>
            <a:spLocks xmlns:a="http://schemas.openxmlformats.org/drawingml/2006/main" noGrp="1"/>
          </p:cNvSpPr>
          <p:nvPr/>
        </p:nvSpPr>
        <p:spPr>
          <a:xfrm xmlns:a="http://schemas.openxmlformats.org/drawingml/2006/main">
            <a:off x="8858250" y="50768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QMS：证书核对结果</a:t>
            </a:r>
          </a:p>
        </p:txBody>
      </p:sp>
      <p:sp>
        <p:nvSpPr>
          <p:cNvPr id="13" name="">
            <a:extLst xmlns:a="http://schemas.openxmlformats.org/drawingml/2006/main">
              <a:ext uri="{FF2B5EF4-FFF2-40B4-BE49-F238E27FC236}">
                <a16:creationId xmlns:a16="http://schemas.microsoft.com/office/drawing/2014/main" id="{1CF3AFF1-9A20-4275-BF99-E6D7AA3F7DAC}"/>
              </a:ext>
            </a:extLst>
          </p:cNvPr>
          <p:cNvSpPr>
            <a:spLocks xmlns:a="http://schemas.openxmlformats.org/drawingml/2006/main" noGrp="1"/>
          </p:cNvSpPr>
          <p:nvPr/>
        </p:nvSpPr>
        <p:spPr>
          <a:xfrm xmlns:a="http://schemas.openxmlformats.org/drawingml/2006/main">
            <a:off x="628650" y="5810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培训系统实际界面，数据为模拟。计算之后仍需业务复核</a:t>
            </a:r>
          </a:p>
        </p:txBody>
      </p:sp>
    </p:spTree>
    <p:extLst>
      <p:ext uri="{BB962C8B-B14F-4D97-AF65-F5344CB8AC3E}">
        <p14:creationId xmlns:p14="http://schemas.microsoft.com/office/powerpoint/2010/main" val="144090559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2CB60E3-556C-4302-8C17-8D1153227B72}"/>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实训核对：结果是否解释了选择？</a:t>
            </a:r>
          </a:p>
        </p:txBody>
      </p:sp>
      <p:sp>
        <p:nvSpPr>
          <p:cNvPr id="2" name="">
            <a:extLst xmlns:a="http://schemas.openxmlformats.org/drawingml/2006/main">
              <a:ext uri="{FF2B5EF4-FFF2-40B4-BE49-F238E27FC236}">
                <a16:creationId xmlns:a16="http://schemas.microsoft.com/office/drawing/2014/main" id="{9945E436-A47D-4F2B-AE8C-3C22D6540ABF}"/>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结合证书与期限，写出入选和排除依据</a:t>
            </a:r>
          </a:p>
        </p:txBody>
      </p:sp>
      <p:sp>
        <p:nvSpPr>
          <p:cNvPr id="3" name="">
            <a:extLst xmlns:a="http://schemas.openxmlformats.org/drawingml/2006/main">
              <a:ext uri="{FF2B5EF4-FFF2-40B4-BE49-F238E27FC236}">
                <a16:creationId xmlns:a16="http://schemas.microsoft.com/office/drawing/2014/main" id="{C59F6528-018E-40B6-8553-72C109545B48}"/>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5分钟</a:t>
            </a:r>
          </a:p>
        </p:txBody>
      </p:sp>
      <p:sp>
        <p:nvSpPr>
          <p:cNvPr id="4" name="">
            <a:extLst xmlns:a="http://schemas.openxmlformats.org/drawingml/2006/main">
              <a:ext uri="{FF2B5EF4-FFF2-40B4-BE49-F238E27FC236}">
                <a16:creationId xmlns:a16="http://schemas.microsoft.com/office/drawing/2014/main" id="{0F0F580B-C405-44FD-8ABD-ACA38344E730}"/>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35 / 94</a:t>
            </a:r>
          </a:p>
        </p:txBody>
      </p:sp>
      <p:pic>
        <p:nvPicPr>
          <p:cNvPr id="5" name="">
            <a:extLst xmlns:a="http://schemas.openxmlformats.org/drawingml/2006/main">
              <a:ext uri="{FF2B5EF4-FFF2-40B4-BE49-F238E27FC236}">
                <a16:creationId xmlns:a16="http://schemas.microsoft.com/office/drawing/2014/main" id="{8A776BFD-EFF3-4E48-8F15-375178FC73CD}"/>
              </a:ext>
            </a:extLst>
          </p:cNvPr>
          <p:cNvPicPr>
            <a:picLocks xmlns:a="http://schemas.openxmlformats.org/drawingml/2006/main" noChangeAspect="1"/>
          </p:cNvPicPr>
          <p:nvPr/>
        </p:nvPicPr>
        <p:blipFill>
          <a:blip xmlns:r="http://schemas.openxmlformats.org/officeDocument/2006/relationships" xmlns:a="http://schemas.openxmlformats.org/drawingml/2006/main" r:embed="R7e68bc91f3c148e8"/>
          <a:stretch xmlns:a="http://schemas.openxmlformats.org/drawingml/2006/main"/>
        </p:blipFill>
        <p:spPr>
          <a:xfrm xmlns:a="http://schemas.openxmlformats.org/drawingml/2006/main">
            <a:off x="609600" y="2917031"/>
            <a:ext cx="7715250" cy="13096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DAD2D35-ACD8-4874-88DF-936B2E3C0874}"/>
              </a:ext>
            </a:extLst>
          </p:cNvPr>
          <p:cNvSpPr>
            <a:spLocks xmlns:a="http://schemas.openxmlformats.org/drawingml/2006/main" noGrp="1"/>
          </p:cNvSpPr>
          <p:nvPr/>
        </p:nvSpPr>
        <p:spPr>
          <a:xfrm xmlns:a="http://schemas.openxmlformats.org/drawingml/2006/main">
            <a:off x="8858250" y="1809750"/>
            <a:ext cx="2724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业务核对</a:t>
            </a:r>
          </a:p>
        </p:txBody>
      </p:sp>
      <p:sp>
        <p:nvSpPr>
          <p:cNvPr id="7" name="">
            <a:extLst xmlns:a="http://schemas.openxmlformats.org/drawingml/2006/main">
              <a:ext uri="{FF2B5EF4-FFF2-40B4-BE49-F238E27FC236}">
                <a16:creationId xmlns:a16="http://schemas.microsoft.com/office/drawing/2014/main" id="{4AFF0030-D1A4-45A6-83AD-0CCCE168A16A}"/>
              </a:ext>
            </a:extLst>
          </p:cNvPr>
          <p:cNvSpPr>
            <a:spLocks xmlns:a="http://schemas.openxmlformats.org/drawingml/2006/main" noGrp="1"/>
          </p:cNvSpPr>
          <p:nvPr/>
        </p:nvSpPr>
        <p:spPr>
          <a:xfrm xmlns:a="http://schemas.openxmlformats.org/drawingml/2006/main">
            <a:off x="8858250" y="25622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01</a:t>
            </a:r>
          </a:p>
        </p:txBody>
      </p:sp>
      <p:sp>
        <p:nvSpPr>
          <p:cNvPr id="8" name="">
            <a:extLst xmlns:a="http://schemas.openxmlformats.org/drawingml/2006/main">
              <a:ext uri="{FF2B5EF4-FFF2-40B4-BE49-F238E27FC236}">
                <a16:creationId xmlns:a16="http://schemas.microsoft.com/office/drawing/2014/main" id="{F3A33457-9299-4855-838F-8C903098A250}"/>
              </a:ext>
            </a:extLst>
          </p:cNvPr>
          <p:cNvSpPr>
            <a:spLocks xmlns:a="http://schemas.openxmlformats.org/drawingml/2006/main" noGrp="1"/>
          </p:cNvSpPr>
          <p:nvPr/>
        </p:nvSpPr>
        <p:spPr>
          <a:xfrm xmlns:a="http://schemas.openxmlformats.org/drawingml/2006/main">
            <a:off x="8858250" y="29432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A成本低但证书未通过</a:t>
            </a:r>
          </a:p>
        </p:txBody>
      </p:sp>
      <p:sp>
        <p:nvSpPr>
          <p:cNvPr id="9" name="">
            <a:extLst xmlns:a="http://schemas.openxmlformats.org/drawingml/2006/main">
              <a:ext uri="{FF2B5EF4-FFF2-40B4-BE49-F238E27FC236}">
                <a16:creationId xmlns:a16="http://schemas.microsoft.com/office/drawing/2014/main" id="{94CF2A9D-589F-4052-9DAE-FD16DA0DB6A9}"/>
              </a:ext>
            </a:extLst>
          </p:cNvPr>
          <p:cNvSpPr>
            <a:spLocks xmlns:a="http://schemas.openxmlformats.org/drawingml/2006/main" noGrp="1"/>
          </p:cNvSpPr>
          <p:nvPr/>
        </p:nvSpPr>
        <p:spPr>
          <a:xfrm xmlns:a="http://schemas.openxmlformats.org/drawingml/2006/main">
            <a:off x="8858250" y="36290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02</a:t>
            </a:r>
          </a:p>
        </p:txBody>
      </p:sp>
      <p:sp>
        <p:nvSpPr>
          <p:cNvPr id="10" name="">
            <a:extLst xmlns:a="http://schemas.openxmlformats.org/drawingml/2006/main">
              <a:ext uri="{FF2B5EF4-FFF2-40B4-BE49-F238E27FC236}">
                <a16:creationId xmlns:a16="http://schemas.microsoft.com/office/drawing/2014/main" id="{A3DB123D-B838-421D-AF0F-11ADB498B4E4}"/>
              </a:ext>
            </a:extLst>
          </p:cNvPr>
          <p:cNvSpPr>
            <a:spLocks xmlns:a="http://schemas.openxmlformats.org/drawingml/2006/main" noGrp="1"/>
          </p:cNvSpPr>
          <p:nvPr/>
        </p:nvSpPr>
        <p:spPr>
          <a:xfrm xmlns:a="http://schemas.openxmlformats.org/drawingml/2006/main">
            <a:off x="8858250" y="40100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B为10天情景下</a:t>
            </a:r>
          </a:p>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最低可行成本</a:t>
            </a:r>
          </a:p>
        </p:txBody>
      </p:sp>
      <p:sp>
        <p:nvSpPr>
          <p:cNvPr id="11" name="">
            <a:extLst xmlns:a="http://schemas.openxmlformats.org/drawingml/2006/main">
              <a:ext uri="{FF2B5EF4-FFF2-40B4-BE49-F238E27FC236}">
                <a16:creationId xmlns:a16="http://schemas.microsoft.com/office/drawing/2014/main" id="{E739EBCC-E7EE-4BFF-BB2E-F30066A95B72}"/>
              </a:ext>
            </a:extLst>
          </p:cNvPr>
          <p:cNvSpPr>
            <a:spLocks xmlns:a="http://schemas.openxmlformats.org/drawingml/2006/main" noGrp="1"/>
          </p:cNvSpPr>
          <p:nvPr/>
        </p:nvSpPr>
        <p:spPr>
          <a:xfrm xmlns:a="http://schemas.openxmlformats.org/drawingml/2006/main">
            <a:off x="8858250" y="46958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03</a:t>
            </a:r>
          </a:p>
        </p:txBody>
      </p:sp>
      <p:sp>
        <p:nvSpPr>
          <p:cNvPr id="12" name="">
            <a:extLst xmlns:a="http://schemas.openxmlformats.org/drawingml/2006/main">
              <a:ext uri="{FF2B5EF4-FFF2-40B4-BE49-F238E27FC236}">
                <a16:creationId xmlns:a16="http://schemas.microsoft.com/office/drawing/2014/main" id="{FA94D9FC-E63C-4E33-88F5-5E24D780EE11}"/>
              </a:ext>
            </a:extLst>
          </p:cNvPr>
          <p:cNvSpPr>
            <a:spLocks xmlns:a="http://schemas.openxmlformats.org/drawingml/2006/main" noGrp="1"/>
          </p:cNvSpPr>
          <p:nvPr/>
        </p:nvSpPr>
        <p:spPr>
          <a:xfrm xmlns:a="http://schemas.openxmlformats.org/drawingml/2006/main">
            <a:off x="8858250" y="50768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4天情景重新计算复核</a:t>
            </a:r>
          </a:p>
        </p:txBody>
      </p:sp>
      <p:sp>
        <p:nvSpPr>
          <p:cNvPr id="13" name="">
            <a:extLst xmlns:a="http://schemas.openxmlformats.org/drawingml/2006/main">
              <a:ext uri="{FF2B5EF4-FFF2-40B4-BE49-F238E27FC236}">
                <a16:creationId xmlns:a16="http://schemas.microsoft.com/office/drawing/2014/main" id="{FCB50058-8DC9-41A8-B0FB-6620BB158CEB}"/>
              </a:ext>
            </a:extLst>
          </p:cNvPr>
          <p:cNvSpPr>
            <a:spLocks xmlns:a="http://schemas.openxmlformats.org/drawingml/2006/main" noGrp="1"/>
          </p:cNvSpPr>
          <p:nvPr/>
        </p:nvSpPr>
        <p:spPr>
          <a:xfrm xmlns:a="http://schemas.openxmlformats.org/drawingml/2006/main">
            <a:off x="628650" y="5810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培训系统实际界面，数据为模拟。计算之后仍需业务复核</a:t>
            </a:r>
          </a:p>
        </p:txBody>
      </p:sp>
    </p:spTree>
    <p:extLst>
      <p:ext uri="{BB962C8B-B14F-4D97-AF65-F5344CB8AC3E}">
        <p14:creationId xmlns:p14="http://schemas.microsoft.com/office/powerpoint/2010/main" val="152228844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EAD8E44-323E-4233-843B-3D4EDED17E51}"/>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M02实训：形成三家报价比较表</a:t>
            </a:r>
          </a:p>
        </p:txBody>
      </p:sp>
      <p:sp>
        <p:nvSpPr>
          <p:cNvPr id="2" name="">
            <a:extLst xmlns:a="http://schemas.openxmlformats.org/drawingml/2006/main">
              <a:ext uri="{FF2B5EF4-FFF2-40B4-BE49-F238E27FC236}">
                <a16:creationId xmlns:a16="http://schemas.microsoft.com/office/drawing/2014/main" id="{B3D91E3B-C140-462F-8CDF-6D605C70B61F}"/>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25分钟，在可行方案中说明成本与交付取舍</a:t>
            </a:r>
          </a:p>
        </p:txBody>
      </p:sp>
      <p:sp>
        <p:nvSpPr>
          <p:cNvPr id="3" name="">
            <a:extLst xmlns:a="http://schemas.openxmlformats.org/drawingml/2006/main">
              <a:ext uri="{FF2B5EF4-FFF2-40B4-BE49-F238E27FC236}">
                <a16:creationId xmlns:a16="http://schemas.microsoft.com/office/drawing/2014/main" id="{2FC883CD-6EC2-438B-A090-52476F6D1F77}"/>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25分钟</a:t>
            </a:r>
          </a:p>
        </p:txBody>
      </p:sp>
      <p:sp>
        <p:nvSpPr>
          <p:cNvPr id="4" name="">
            <a:extLst xmlns:a="http://schemas.openxmlformats.org/drawingml/2006/main">
              <a:ext uri="{FF2B5EF4-FFF2-40B4-BE49-F238E27FC236}">
                <a16:creationId xmlns:a16="http://schemas.microsoft.com/office/drawing/2014/main" id="{2EA13230-1593-41B6-9FDA-17EA08F3586A}"/>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36 / 94</a:t>
            </a:r>
          </a:p>
        </p:txBody>
      </p:sp>
      <p:sp>
        <p:nvSpPr>
          <p:cNvPr id="5" name="">
            <a:extLst xmlns:a="http://schemas.openxmlformats.org/drawingml/2006/main">
              <a:ext uri="{FF2B5EF4-FFF2-40B4-BE49-F238E27FC236}">
                <a16:creationId xmlns:a16="http://schemas.microsoft.com/office/drawing/2014/main" id="{5539B13B-9CB4-4680-8DE3-CED7C08ACC7D}"/>
              </a:ext>
            </a:extLst>
          </p:cNvPr>
          <p:cNvSpPr>
            <a:spLocks xmlns:a="http://schemas.openxmlformats.org/drawingml/2006/main" noGrp="1"/>
          </p:cNvSpPr>
          <p:nvPr/>
        </p:nvSpPr>
        <p:spPr>
          <a:xfrm xmlns:a="http://schemas.openxmlformats.org/drawingml/2006/main">
            <a:off x="609600" y="17526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讨论与操作</a:t>
            </a:r>
          </a:p>
        </p:txBody>
      </p:sp>
      <p:sp>
        <p:nvSpPr>
          <p:cNvPr id="6" name="">
            <a:extLst xmlns:a="http://schemas.openxmlformats.org/drawingml/2006/main">
              <a:ext uri="{FF2B5EF4-FFF2-40B4-BE49-F238E27FC236}">
                <a16:creationId xmlns:a16="http://schemas.microsoft.com/office/drawing/2014/main" id="{C208074F-B57F-4D18-9B3D-B036D88EC83F}"/>
              </a:ext>
            </a:extLst>
          </p:cNvPr>
          <p:cNvSpPr>
            <a:spLocks xmlns:a="http://schemas.openxmlformats.org/drawingml/2006/main" noGrp="1"/>
          </p:cNvSpPr>
          <p:nvPr/>
        </p:nvSpPr>
        <p:spPr>
          <a:xfrm xmlns:a="http://schemas.openxmlformats.org/drawingml/2006/main">
            <a:off x="609600" y="2476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01</a:t>
            </a:r>
          </a:p>
        </p:txBody>
      </p:sp>
      <p:sp>
        <p:nvSpPr>
          <p:cNvPr id="7" name="">
            <a:extLst xmlns:a="http://schemas.openxmlformats.org/drawingml/2006/main">
              <a:ext uri="{FF2B5EF4-FFF2-40B4-BE49-F238E27FC236}">
                <a16:creationId xmlns:a16="http://schemas.microsoft.com/office/drawing/2014/main" id="{90984865-6DEF-4C9A-BF9E-2987EEFFCFE8}"/>
              </a:ext>
            </a:extLst>
          </p:cNvPr>
          <p:cNvSpPr>
            <a:spLocks xmlns:a="http://schemas.openxmlformats.org/drawingml/2006/main" noGrp="1"/>
          </p:cNvSpPr>
          <p:nvPr/>
        </p:nvSpPr>
        <p:spPr>
          <a:xfrm xmlns:a="http://schemas.openxmlformats.org/drawingml/2006/main">
            <a:off x="1476375" y="23526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复核三个报价的单位和证据</a:t>
            </a:r>
          </a:p>
        </p:txBody>
      </p:sp>
      <p:sp>
        <p:nvSpPr>
          <p:cNvPr id="8" name="">
            <a:extLst xmlns:a="http://schemas.openxmlformats.org/drawingml/2006/main">
              <a:ext uri="{FF2B5EF4-FFF2-40B4-BE49-F238E27FC236}">
                <a16:creationId xmlns:a16="http://schemas.microsoft.com/office/drawing/2014/main" id="{D77E6573-8326-4A91-A037-81ED40D49D43}"/>
              </a:ext>
            </a:extLst>
          </p:cNvPr>
          <p:cNvSpPr>
            <a:spLocks xmlns:a="http://schemas.openxmlformats.org/drawingml/2006/main" noGrp="1"/>
          </p:cNvSpPr>
          <p:nvPr/>
        </p:nvSpPr>
        <p:spPr>
          <a:xfrm xmlns:a="http://schemas.openxmlformats.org/drawingml/2006/main">
            <a:off x="609600" y="35814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02</a:t>
            </a:r>
          </a:p>
        </p:txBody>
      </p:sp>
      <p:sp>
        <p:nvSpPr>
          <p:cNvPr id="9" name="">
            <a:extLst xmlns:a="http://schemas.openxmlformats.org/drawingml/2006/main">
              <a:ext uri="{FF2B5EF4-FFF2-40B4-BE49-F238E27FC236}">
                <a16:creationId xmlns:a16="http://schemas.microsoft.com/office/drawing/2014/main" id="{2C81D329-7449-4855-8409-40E91A25D2B0}"/>
              </a:ext>
            </a:extLst>
          </p:cNvPr>
          <p:cNvSpPr>
            <a:spLocks xmlns:a="http://schemas.openxmlformats.org/drawingml/2006/main" noGrp="1"/>
          </p:cNvSpPr>
          <p:nvPr/>
        </p:nvSpPr>
        <p:spPr>
          <a:xfrm xmlns:a="http://schemas.openxmlformats.org/drawingml/2006/main">
            <a:off x="1476375" y="34575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比较10天与4天两个交付情景</a:t>
            </a:r>
          </a:p>
        </p:txBody>
      </p:sp>
      <p:sp>
        <p:nvSpPr>
          <p:cNvPr id="10" name="">
            <a:extLst xmlns:a="http://schemas.openxmlformats.org/drawingml/2006/main">
              <a:ext uri="{FF2B5EF4-FFF2-40B4-BE49-F238E27FC236}">
                <a16:creationId xmlns:a16="http://schemas.microsoft.com/office/drawing/2014/main" id="{5E7AFFEB-24AF-41AE-87E2-3EFBA24C43A8}"/>
              </a:ext>
            </a:extLst>
          </p:cNvPr>
          <p:cNvSpPr>
            <a:spLocks xmlns:a="http://schemas.openxmlformats.org/drawingml/2006/main" noGrp="1"/>
          </p:cNvSpPr>
          <p:nvPr/>
        </p:nvSpPr>
        <p:spPr>
          <a:xfrm xmlns:a="http://schemas.openxmlformats.org/drawingml/2006/main">
            <a:off x="609600" y="4686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03</a:t>
            </a:r>
          </a:p>
        </p:txBody>
      </p:sp>
      <p:sp>
        <p:nvSpPr>
          <p:cNvPr id="11" name="">
            <a:extLst xmlns:a="http://schemas.openxmlformats.org/drawingml/2006/main">
              <a:ext uri="{FF2B5EF4-FFF2-40B4-BE49-F238E27FC236}">
                <a16:creationId xmlns:a16="http://schemas.microsoft.com/office/drawing/2014/main" id="{89090BA7-BCB4-4983-AE3F-563E353BB7F7}"/>
              </a:ext>
            </a:extLst>
          </p:cNvPr>
          <p:cNvSpPr>
            <a:spLocks xmlns:a="http://schemas.openxmlformats.org/drawingml/2006/main" noGrp="1"/>
          </p:cNvSpPr>
          <p:nvPr/>
        </p:nvSpPr>
        <p:spPr>
          <a:xfrm xmlns:a="http://schemas.openxmlformats.org/drawingml/2006/main">
            <a:off x="1476375" y="45624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写出候选排除原因及需追问事项</a:t>
            </a:r>
          </a:p>
        </p:txBody>
      </p:sp>
      <p:sp>
        <p:nvSpPr>
          <p:cNvPr id="12" name="">
            <a:extLst xmlns:a="http://schemas.openxmlformats.org/drawingml/2006/main">
              <a:ext uri="{FF2B5EF4-FFF2-40B4-BE49-F238E27FC236}">
                <a16:creationId xmlns:a16="http://schemas.microsoft.com/office/drawing/2014/main" id="{6D49F04D-335B-47CB-A12F-77B7B6039711}"/>
              </a:ext>
            </a:extLst>
          </p:cNvPr>
          <p:cNvSpPr>
            <a:spLocks xmlns:a="http://schemas.openxmlformats.org/drawingml/2006/main" noGrp="1"/>
          </p:cNvSpPr>
          <p:nvPr/>
        </p:nvSpPr>
        <p:spPr>
          <a:xfrm xmlns:a="http://schemas.openxmlformats.org/drawingml/2006/main">
            <a:off x="7943850" y="17526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本次输出</a:t>
            </a:r>
          </a:p>
        </p:txBody>
      </p:sp>
      <p:sp>
        <p:nvSpPr>
          <p:cNvPr id="13" name="">
            <a:extLst xmlns:a="http://schemas.openxmlformats.org/drawingml/2006/main">
              <a:ext uri="{FF2B5EF4-FFF2-40B4-BE49-F238E27FC236}">
                <a16:creationId xmlns:a16="http://schemas.microsoft.com/office/drawing/2014/main" id="{80A9CB8F-FE76-4943-89DB-E5C1EE6841FD}"/>
              </a:ext>
            </a:extLst>
          </p:cNvPr>
          <p:cNvSpPr>
            <a:spLocks xmlns:a="http://schemas.openxmlformats.org/drawingml/2006/main" noGrp="1"/>
          </p:cNvSpPr>
          <p:nvPr/>
        </p:nvSpPr>
        <p:spPr>
          <a:xfrm xmlns:a="http://schemas.openxmlformats.org/drawingml/2006/main">
            <a:off x="7943850" y="24574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两种情景的可行方案</a:t>
            </a:r>
          </a:p>
        </p:txBody>
      </p:sp>
      <p:sp>
        <p:nvSpPr>
          <p:cNvPr id="14" name="">
            <a:extLst xmlns:a="http://schemas.openxmlformats.org/drawingml/2006/main">
              <a:ext uri="{FF2B5EF4-FFF2-40B4-BE49-F238E27FC236}">
                <a16:creationId xmlns:a16="http://schemas.microsoft.com/office/drawing/2014/main" id="{983B53A5-012F-4736-9CEE-164E7AAE6E03}"/>
              </a:ext>
            </a:extLst>
          </p:cNvPr>
          <p:cNvSpPr>
            <a:spLocks xmlns:a="http://schemas.openxmlformats.org/drawingml/2006/main" noGrp="1"/>
          </p:cNvSpPr>
          <p:nvPr/>
        </p:nvSpPr>
        <p:spPr>
          <a:xfrm xmlns:a="http://schemas.openxmlformats.org/drawingml/2006/main">
            <a:off x="7943850" y="35623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成本差异与业务依据</a:t>
            </a:r>
          </a:p>
        </p:txBody>
      </p:sp>
      <p:sp>
        <p:nvSpPr>
          <p:cNvPr id="15" name="">
            <a:extLst xmlns:a="http://schemas.openxmlformats.org/drawingml/2006/main">
              <a:ext uri="{FF2B5EF4-FFF2-40B4-BE49-F238E27FC236}">
                <a16:creationId xmlns:a16="http://schemas.microsoft.com/office/drawing/2014/main" id="{2764829A-E6F6-4845-BCF6-01C933F9BC36}"/>
              </a:ext>
            </a:extLst>
          </p:cNvPr>
          <p:cNvSpPr>
            <a:spLocks xmlns:a="http://schemas.openxmlformats.org/drawingml/2006/main" noGrp="1"/>
          </p:cNvSpPr>
          <p:nvPr/>
        </p:nvSpPr>
        <p:spPr>
          <a:xfrm xmlns:a="http://schemas.openxmlformats.org/drawingml/2006/main">
            <a:off x="7943850" y="46672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询价字段或流程的一项改进</a:t>
            </a:r>
          </a:p>
        </p:txBody>
      </p:sp>
    </p:spTree>
    <p:extLst>
      <p:ext uri="{BB962C8B-B14F-4D97-AF65-F5344CB8AC3E}">
        <p14:creationId xmlns:p14="http://schemas.microsoft.com/office/powerpoint/2010/main" val="148557483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8557F7-9B7B-47B0-8C76-436E5BB89E45}"/>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M02复盘：比价结论的证据完整吗？</a:t>
            </a:r>
          </a:p>
        </p:txBody>
      </p:sp>
      <p:sp>
        <p:nvSpPr>
          <p:cNvPr id="2" name="">
            <a:extLst xmlns:a="http://schemas.openxmlformats.org/drawingml/2006/main">
              <a:ext uri="{FF2B5EF4-FFF2-40B4-BE49-F238E27FC236}">
                <a16:creationId xmlns:a16="http://schemas.microsoft.com/office/drawing/2014/main" id="{ED03DDF8-75E5-463B-B277-0388DF009134}"/>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成本、交期和证据相互关联，不能只给供应商编号</a:t>
            </a:r>
          </a:p>
        </p:txBody>
      </p:sp>
      <p:sp>
        <p:nvSpPr>
          <p:cNvPr id="3" name="">
            <a:extLst xmlns:a="http://schemas.openxmlformats.org/drawingml/2006/main">
              <a:ext uri="{FF2B5EF4-FFF2-40B4-BE49-F238E27FC236}">
                <a16:creationId xmlns:a16="http://schemas.microsoft.com/office/drawing/2014/main" id="{2D602385-C0B1-42EB-8B4B-C9EB99CF91F1}"/>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智能寻源、询价与价格管理  15分钟</a:t>
            </a:r>
          </a:p>
        </p:txBody>
      </p:sp>
      <p:sp>
        <p:nvSpPr>
          <p:cNvPr id="4" name="">
            <a:extLst xmlns:a="http://schemas.openxmlformats.org/drawingml/2006/main">
              <a:ext uri="{FF2B5EF4-FFF2-40B4-BE49-F238E27FC236}">
                <a16:creationId xmlns:a16="http://schemas.microsoft.com/office/drawing/2014/main" id="{18E5468F-35D0-4571-B79D-BBF1A3F3DF1F}"/>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37 / 94</a:t>
            </a:r>
          </a:p>
        </p:txBody>
      </p:sp>
      <p:graphicFrame>
        <p:nvGraphicFramePr>
          <p:cNvPr id="5" name="">
            <a:extLst xmlns:a="http://schemas.openxmlformats.org/drawingml/2006/main">
              <a:ext uri="{FF2B5EF4-FFF2-40B4-BE49-F238E27FC236}">
                <a16:creationId xmlns:a16="http://schemas.microsoft.com/office/drawing/2014/main" id="{5265049A-6255-448D-B5D6-03F39A740157}"/>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857500"/>
                <a:gridCol w="4000500"/>
                <a:gridCol w="4114800"/>
              </a:tblGrid>
              <a:tr h="800100">
                <a:tc>
                  <a:txBody>
                    <a:bodyPr lIns="114300" tIns="114300" rIns="114300" bIns="114300"/>
                    <a:lstStyle/>
                    <a:p>
                      <a:r>
                        <a:rPr sz="1725" b="1">
                          <a:solidFill>
                            <a:srgbClr val="477FA8"/>
                          </a:solidFill>
                          <a:latin typeface="PingFang SC"/>
                          <a:ea typeface="PingFang SC"/>
                          <a:cs typeface="PingFang SC"/>
                        </a:rPr>
                        <a:t>复盘问题</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应展示的证据</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改进方向</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价格为何可比</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单位、数量、件况一致</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标准化询价模板</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方案为何可行</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期限及证书核对记录</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约束先于排序</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费用差异来自哪里</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汇率、整单运费、计算式</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保留计算口径</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真实采购还缺什么</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待确认商业条件与审批</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列明责任人和确认时点</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3417676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DBBA11-B67E-4D15-ABA1-D9702EF05FF0}"/>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供应商风险：分数高就一定安全吗？</a:t>
            </a:r>
          </a:p>
        </p:txBody>
      </p:sp>
      <p:sp>
        <p:nvSpPr>
          <p:cNvPr id="2" name="">
            <a:extLst xmlns:a="http://schemas.openxmlformats.org/drawingml/2006/main">
              <a:ext uri="{FF2B5EF4-FFF2-40B4-BE49-F238E27FC236}">
                <a16:creationId xmlns:a16="http://schemas.microsoft.com/office/drawing/2014/main" id="{3D327CBC-0417-40B3-B460-281051856465}"/>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专题目标：将绩效评分、准入门槛与供应依赖分开</a:t>
            </a:r>
          </a:p>
        </p:txBody>
      </p:sp>
      <p:sp>
        <p:nvSpPr>
          <p:cNvPr id="3" name="">
            <a:extLst xmlns:a="http://schemas.openxmlformats.org/drawingml/2006/main">
              <a:ext uri="{FF2B5EF4-FFF2-40B4-BE49-F238E27FC236}">
                <a16:creationId xmlns:a16="http://schemas.microsoft.com/office/drawing/2014/main" id="{9BDAF2F3-C6C7-4E1F-A303-BB8DC24FF86A}"/>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供应商管理与风险控制  3分钟</a:t>
            </a:r>
          </a:p>
        </p:txBody>
      </p:sp>
      <p:sp>
        <p:nvSpPr>
          <p:cNvPr id="4" name="">
            <a:extLst xmlns:a="http://schemas.openxmlformats.org/drawingml/2006/main">
              <a:ext uri="{FF2B5EF4-FFF2-40B4-BE49-F238E27FC236}">
                <a16:creationId xmlns:a16="http://schemas.microsoft.com/office/drawing/2014/main" id="{3FA94B61-1FE1-410F-9EB8-67C2EC28D2AE}"/>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38 / 94</a:t>
            </a:r>
          </a:p>
        </p:txBody>
      </p:sp>
      <p:sp>
        <p:nvSpPr>
          <p:cNvPr id="5" name="">
            <a:extLst xmlns:a="http://schemas.openxmlformats.org/drawingml/2006/main">
              <a:ext uri="{FF2B5EF4-FFF2-40B4-BE49-F238E27FC236}">
                <a16:creationId xmlns:a16="http://schemas.microsoft.com/office/drawing/2014/main" id="{0923567E-AD2A-4CFF-8D37-85D63CEDC12E}"/>
              </a:ext>
            </a:extLst>
          </p:cNvPr>
          <p:cNvSpPr>
            <a:spLocks xmlns:a="http://schemas.openxmlformats.org/drawingml/2006/main" noGrp="1"/>
          </p:cNvSpPr>
          <p:nvPr/>
        </p:nvSpPr>
        <p:spPr>
          <a:xfrm xmlns:a="http://schemas.openxmlformats.org/drawingml/2006/main">
            <a:off x="609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待分析的问题</a:t>
            </a:r>
          </a:p>
        </p:txBody>
      </p:sp>
      <p:sp>
        <p:nvSpPr>
          <p:cNvPr id="6" name="">
            <a:extLst xmlns:a="http://schemas.openxmlformats.org/drawingml/2006/main">
              <a:ext uri="{FF2B5EF4-FFF2-40B4-BE49-F238E27FC236}">
                <a16:creationId xmlns:a16="http://schemas.microsoft.com/office/drawing/2014/main" id="{729E16AD-B3AF-4D88-A405-B824BD54BBDE}"/>
              </a:ext>
            </a:extLst>
          </p:cNvPr>
          <p:cNvSpPr>
            <a:spLocks xmlns:a="http://schemas.openxmlformats.org/drawingml/2006/main" noGrp="1"/>
          </p:cNvSpPr>
          <p:nvPr/>
        </p:nvSpPr>
        <p:spPr>
          <a:xfrm xmlns:a="http://schemas.openxmlformats.org/drawingml/2006/main">
            <a:off x="609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准时率高但依赖单一来源</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资质到期与业务评价脱节</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评分结果没有形成保障动作</a:t>
            </a:r>
          </a:p>
        </p:txBody>
      </p:sp>
      <p:sp>
        <p:nvSpPr>
          <p:cNvPr id="7" name="">
            <a:extLst xmlns:a="http://schemas.openxmlformats.org/drawingml/2006/main">
              <a:ext uri="{FF2B5EF4-FFF2-40B4-BE49-F238E27FC236}">
                <a16:creationId xmlns:a16="http://schemas.microsoft.com/office/drawing/2014/main" id="{D8518571-A68D-41C5-BBD8-5AB8189826B5}"/>
              </a:ext>
            </a:extLst>
          </p:cNvPr>
          <p:cNvSpPr>
            <a:spLocks xmlns:a="http://schemas.openxmlformats.org/drawingml/2006/main" noGrp="1"/>
          </p:cNvSpPr>
          <p:nvPr/>
        </p:nvSpPr>
        <p:spPr>
          <a:xfrm xmlns:a="http://schemas.openxmlformats.org/drawingml/2006/main">
            <a:off x="6324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本专题输出</a:t>
            </a:r>
          </a:p>
        </p:txBody>
      </p:sp>
      <p:sp>
        <p:nvSpPr>
          <p:cNvPr id="8" name="">
            <a:extLst xmlns:a="http://schemas.openxmlformats.org/drawingml/2006/main">
              <a:ext uri="{FF2B5EF4-FFF2-40B4-BE49-F238E27FC236}">
                <a16:creationId xmlns:a16="http://schemas.microsoft.com/office/drawing/2014/main" id="{7D6C92C4-FCFB-4B4E-84DA-F0D6223E404F}"/>
              </a:ext>
            </a:extLst>
          </p:cNvPr>
          <p:cNvSpPr>
            <a:spLocks xmlns:a="http://schemas.openxmlformats.org/drawingml/2006/main" noGrp="1"/>
          </p:cNvSpPr>
          <p:nvPr/>
        </p:nvSpPr>
        <p:spPr>
          <a:xfrm xmlns:a="http://schemas.openxmlformats.org/drawingml/2006/main">
            <a:off x="6324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绩效与风险分开呈现</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关键供应商保障策略</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证书到期与异常的责任安排</a:t>
            </a:r>
          </a:p>
        </p:txBody>
      </p:sp>
    </p:spTree>
    <p:extLst>
      <p:ext uri="{BB962C8B-B14F-4D97-AF65-F5344CB8AC3E}">
        <p14:creationId xmlns:p14="http://schemas.microsoft.com/office/powerpoint/2010/main" val="7794399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C67FA1-FF67-44C4-99B7-76E5131E6862}"/>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绩效、准入与依赖是三个问题</a:t>
            </a:r>
          </a:p>
        </p:txBody>
      </p:sp>
      <p:sp>
        <p:nvSpPr>
          <p:cNvPr id="2" name="">
            <a:extLst xmlns:a="http://schemas.openxmlformats.org/drawingml/2006/main">
              <a:ext uri="{FF2B5EF4-FFF2-40B4-BE49-F238E27FC236}">
                <a16:creationId xmlns:a16="http://schemas.microsoft.com/office/drawing/2014/main" id="{FD5A1243-850A-41A2-8BF3-7A46367D6F90}"/>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分别决定“表现如何”“是否可用”“中断影响多大”</a:t>
            </a:r>
          </a:p>
        </p:txBody>
      </p:sp>
      <p:sp>
        <p:nvSpPr>
          <p:cNvPr id="3" name="">
            <a:extLst xmlns:a="http://schemas.openxmlformats.org/drawingml/2006/main">
              <a:ext uri="{FF2B5EF4-FFF2-40B4-BE49-F238E27FC236}">
                <a16:creationId xmlns:a16="http://schemas.microsoft.com/office/drawing/2014/main" id="{D1D967C9-C8DE-4DB0-8262-FB6B1DD8F962}"/>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供应商管理与风险控制  7分钟</a:t>
            </a:r>
          </a:p>
        </p:txBody>
      </p:sp>
      <p:sp>
        <p:nvSpPr>
          <p:cNvPr id="4" name="">
            <a:extLst xmlns:a="http://schemas.openxmlformats.org/drawingml/2006/main">
              <a:ext uri="{FF2B5EF4-FFF2-40B4-BE49-F238E27FC236}">
                <a16:creationId xmlns:a16="http://schemas.microsoft.com/office/drawing/2014/main" id="{EEE91F92-D204-496D-BF6F-1E69AA5B148C}"/>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39 / 94</a:t>
            </a:r>
          </a:p>
        </p:txBody>
      </p:sp>
      <p:graphicFrame>
        <p:nvGraphicFramePr>
          <p:cNvPr id="5" name="">
            <a:extLst xmlns:a="http://schemas.openxmlformats.org/drawingml/2006/main">
              <a:ext uri="{FF2B5EF4-FFF2-40B4-BE49-F238E27FC236}">
                <a16:creationId xmlns:a16="http://schemas.microsoft.com/office/drawing/2014/main" id="{7E165FD6-B9AC-41A3-B21B-2C678A779CE1}"/>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428875"/>
                <a:gridCol w="4476750"/>
                <a:gridCol w="4067175"/>
              </a:tblGrid>
              <a:tr h="800100">
                <a:tc>
                  <a:txBody>
                    <a:bodyPr lIns="114300" tIns="114300" rIns="114300" bIns="114300"/>
                    <a:lstStyle/>
                    <a:p>
                      <a:r>
                        <a:rPr sz="1725" b="1">
                          <a:solidFill>
                            <a:srgbClr val="477FA8"/>
                          </a:solidFill>
                          <a:latin typeface="PingFang SC"/>
                          <a:ea typeface="PingFang SC"/>
                          <a:cs typeface="PingFang SC"/>
                        </a:rPr>
                        <a:t>分析层次</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评价对象</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管理动作</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履约绩效</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交付与质量的同口径记录</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改善计划与复评</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准入与资格</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资格、证据和有效性状态</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复核、限制或暂停</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供应依赖</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采购份额、关键件与替代难度</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备选来源及保障策略</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预警与跟踪</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异常事件、证据与责任人</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核实、处置和关闭</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101195966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11CBBF-8A83-47E5-81DB-4FFD48C69961}"/>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三家供应商的绩效与依赖</a:t>
            </a:r>
          </a:p>
        </p:txBody>
      </p:sp>
      <p:sp>
        <p:nvSpPr>
          <p:cNvPr id="2" name="">
            <a:extLst xmlns:a="http://schemas.openxmlformats.org/drawingml/2006/main">
              <a:ext uri="{FF2B5EF4-FFF2-40B4-BE49-F238E27FC236}">
                <a16:creationId xmlns:a16="http://schemas.microsoft.com/office/drawing/2014/main" id="{4EE66088-D061-4B67-8595-DAD7F5A3A7B0}"/>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M03教学数据，30天资格下限和60%份额线仅为案例规则</a:t>
            </a:r>
          </a:p>
        </p:txBody>
      </p:sp>
      <p:sp>
        <p:nvSpPr>
          <p:cNvPr id="3" name="">
            <a:extLst xmlns:a="http://schemas.openxmlformats.org/drawingml/2006/main">
              <a:ext uri="{FF2B5EF4-FFF2-40B4-BE49-F238E27FC236}">
                <a16:creationId xmlns:a16="http://schemas.microsoft.com/office/drawing/2014/main" id="{05C4C104-501E-4372-AC76-8ECEB55109F0}"/>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供应商管理与风险控制  8分钟</a:t>
            </a:r>
          </a:p>
        </p:txBody>
      </p:sp>
      <p:sp>
        <p:nvSpPr>
          <p:cNvPr id="4" name="">
            <a:extLst xmlns:a="http://schemas.openxmlformats.org/drawingml/2006/main">
              <a:ext uri="{FF2B5EF4-FFF2-40B4-BE49-F238E27FC236}">
                <a16:creationId xmlns:a16="http://schemas.microsoft.com/office/drawing/2014/main" id="{3890DD67-9D7F-42EE-A0B2-AAC09D1CF68D}"/>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40 / 94</a:t>
            </a:r>
          </a:p>
        </p:txBody>
      </p:sp>
      <p:graphicFrame>
        <p:nvGraphicFramePr>
          <p:cNvPr id="5" name="">
            <a:extLst xmlns:a="http://schemas.openxmlformats.org/drawingml/2006/main">
              <a:ext uri="{FF2B5EF4-FFF2-40B4-BE49-F238E27FC236}">
                <a16:creationId xmlns:a16="http://schemas.microsoft.com/office/drawing/2014/main" id="{8F8D84DB-D318-48A9-9C31-FDC39F98A629}"/>
              </a:ext>
            </a:extLst>
          </p:cNvPr>
          <p:cNvGraphicFramePr/>
          <p:nvPr/>
        </p:nvGraphicFramePr>
        <p:xfrm>
          <a:off xmlns:a="http://schemas.openxmlformats.org/drawingml/2006/main" x="609600" y="1695450"/>
          <a:ext xmlns:a="http://schemas.openxmlformats.org/drawingml/2006/main" cx="10972800" cy="3333750"/>
        </p:xfrm>
        <a:graphic xmlns:a="http://schemas.openxmlformats.org/drawingml/2006/main">
          <a:graphicData uri="http://schemas.openxmlformats.org/drawingml/2006/table">
            <a:tbl>
              <a:tblPr/>
              <a:tblGrid>
                <a:gridCol w="2286000"/>
                <a:gridCol w="2000250"/>
                <a:gridCol w="2000250"/>
                <a:gridCol w="2286000"/>
                <a:gridCol w="2400300"/>
              </a:tblGrid>
              <a:tr h="833438">
                <a:tc>
                  <a:txBody>
                    <a:bodyPr lIns="114300" tIns="114300" rIns="114300" bIns="114300"/>
                    <a:lstStyle/>
                    <a:p>
                      <a:r>
                        <a:rPr sz="1725" b="1">
                          <a:solidFill>
                            <a:srgbClr val="477FA8"/>
                          </a:solidFill>
                          <a:latin typeface="PingFang SC"/>
                          <a:ea typeface="PingFang SC"/>
                          <a:cs typeface="PingFang SC"/>
                        </a:rPr>
                        <a:t>供应商</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准时率</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缺陷率</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采购份额</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资质剩余</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33438">
                <a:tc>
                  <a:txBody>
                    <a:bodyPr lIns="114300" tIns="114300" rIns="114300" bIns="114300"/>
                    <a:lstStyle/>
                    <a:p>
                      <a:r>
                        <a:rPr sz="1875" b="1">
                          <a:solidFill>
                            <a:srgbClr val="477FA8"/>
                          </a:solidFill>
                          <a:latin typeface="PingFang SC"/>
                          <a:ea typeface="PingFang SC"/>
                          <a:cs typeface="PingFang SC"/>
                        </a:rPr>
                        <a:t>SUP-A</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98%</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1%</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75%</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90天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33438">
                <a:tc>
                  <a:txBody>
                    <a:bodyPr lIns="114300" tIns="114300" rIns="114300" bIns="114300"/>
                    <a:lstStyle/>
                    <a:p>
                      <a:r>
                        <a:rPr sz="1875" b="1">
                          <a:solidFill>
                            <a:srgbClr val="477FA8"/>
                          </a:solidFill>
                          <a:latin typeface="PingFang SC"/>
                          <a:ea typeface="PingFang SC"/>
                          <a:cs typeface="PingFang SC"/>
                        </a:rPr>
                        <a:t>SUP-B</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92%</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2%</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20%</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180天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33438">
                <a:tc>
                  <a:txBody>
                    <a:bodyPr lIns="114300" tIns="114300" rIns="114300" bIns="114300"/>
                    <a:lstStyle/>
                    <a:p>
                      <a:r>
                        <a:rPr sz="1875" b="1">
                          <a:solidFill>
                            <a:srgbClr val="477FA8"/>
                          </a:solidFill>
                          <a:latin typeface="PingFang SC"/>
                          <a:ea typeface="PingFang SC"/>
                          <a:cs typeface="PingFang SC"/>
                        </a:rPr>
                        <a:t>SUP-C</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85%</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5%</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5%</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15天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5983C2A-D067-4766-960F-11A63D0B51CA}"/>
              </a:ext>
            </a:extLst>
          </p:cNvPr>
          <p:cNvSpPr>
            <a:spLocks xmlns:a="http://schemas.openxmlformats.org/drawingml/2006/main" noGrp="1"/>
          </p:cNvSpPr>
          <p:nvPr/>
        </p:nvSpPr>
        <p:spPr>
          <a:xfrm xmlns:a="http://schemas.openxmlformats.org/drawingml/2006/main">
            <a:off x="628650" y="5391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讨论：A的交付最好，为什么仍需要保障预案？</a:t>
            </a:r>
          </a:p>
        </p:txBody>
      </p:sp>
    </p:spTree>
    <p:extLst>
      <p:ext uri="{BB962C8B-B14F-4D97-AF65-F5344CB8AC3E}">
        <p14:creationId xmlns:p14="http://schemas.microsoft.com/office/powerpoint/2010/main" val="166833861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266688-7810-4EEA-8688-C473ECB1866D}"/>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评分规则与风险门槛分开</a:t>
            </a:r>
          </a:p>
        </p:txBody>
      </p:sp>
      <p:sp>
        <p:nvSpPr>
          <p:cNvPr id="2" name="">
            <a:extLst xmlns:a="http://schemas.openxmlformats.org/drawingml/2006/main">
              <a:ext uri="{FF2B5EF4-FFF2-40B4-BE49-F238E27FC236}">
                <a16:creationId xmlns:a16="http://schemas.microsoft.com/office/drawing/2014/main" id="{52F468B1-E76C-41B9-A00D-E1B36A109394}"/>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教学权重用于解释排序，不代表企业正式评分政策</a:t>
            </a:r>
          </a:p>
        </p:txBody>
      </p:sp>
      <p:sp>
        <p:nvSpPr>
          <p:cNvPr id="3" name="">
            <a:extLst xmlns:a="http://schemas.openxmlformats.org/drawingml/2006/main">
              <a:ext uri="{FF2B5EF4-FFF2-40B4-BE49-F238E27FC236}">
                <a16:creationId xmlns:a16="http://schemas.microsoft.com/office/drawing/2014/main" id="{2F699A99-A084-434C-8583-605EF08D29ED}"/>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供应商管理与风险控制  7分钟</a:t>
            </a:r>
          </a:p>
        </p:txBody>
      </p:sp>
      <p:sp>
        <p:nvSpPr>
          <p:cNvPr id="4" name="">
            <a:extLst xmlns:a="http://schemas.openxmlformats.org/drawingml/2006/main">
              <a:ext uri="{FF2B5EF4-FFF2-40B4-BE49-F238E27FC236}">
                <a16:creationId xmlns:a16="http://schemas.microsoft.com/office/drawing/2014/main" id="{09B5B8C8-A70C-427F-B44F-50361B5C7970}"/>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41 / 94</a:t>
            </a:r>
          </a:p>
        </p:txBody>
      </p:sp>
      <p:sp>
        <p:nvSpPr>
          <p:cNvPr id="5" name="">
            <a:extLst xmlns:a="http://schemas.openxmlformats.org/drawingml/2006/main">
              <a:ext uri="{FF2B5EF4-FFF2-40B4-BE49-F238E27FC236}">
                <a16:creationId xmlns:a16="http://schemas.microsoft.com/office/drawing/2014/main" id="{EA392B79-1CB0-4A12-A68C-1E9778390BA8}"/>
              </a:ext>
            </a:extLst>
          </p:cNvPr>
          <p:cNvSpPr>
            <a:spLocks xmlns:a="http://schemas.openxmlformats.org/drawingml/2006/main" noGrp="1"/>
          </p:cNvSpPr>
          <p:nvPr/>
        </p:nvSpPr>
        <p:spPr>
          <a:xfrm xmlns:a="http://schemas.openxmlformats.org/drawingml/2006/main">
            <a:off x="609600" y="1866900"/>
            <a:ext cx="109728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77FA8"/>
                </a:solidFill>
                <a:latin typeface="PingFang SC"/>
                <a:ea typeface="PingFang SC"/>
                <a:cs typeface="PingFang SC"/>
              </a:defRPr>
            </a:defPPr>
            <a:lvl1pPr algn="l">
              <a:defRPr sz="2550" b="1">
                <a:solidFill>
                  <a:srgbClr val="477FA8"/>
                </a:solidFill>
                <a:latin typeface="PingFang SC"/>
                <a:ea typeface="PingFang SC"/>
                <a:cs typeface="PingFang SC"/>
              </a:defRPr>
            </a:lvl1pPr>
            <a:lvl2pPr algn="l">
              <a:defRPr sz="2550" b="1">
                <a:solidFill>
                  <a:srgbClr val="477FA8"/>
                </a:solidFill>
                <a:latin typeface="PingFang SC"/>
                <a:ea typeface="PingFang SC"/>
                <a:cs typeface="PingFang SC"/>
              </a:defRPr>
            </a:lvl2pPr>
            <a:lvl3pPr algn="l">
              <a:defRPr sz="2550" b="1">
                <a:solidFill>
                  <a:srgbClr val="477FA8"/>
                </a:solidFill>
                <a:latin typeface="PingFang SC"/>
                <a:ea typeface="PingFang SC"/>
                <a:cs typeface="PingFang SC"/>
              </a:defRPr>
            </a:lvl3pPr>
            <a:lvl4pPr algn="l">
              <a:defRPr sz="2550" b="1">
                <a:solidFill>
                  <a:srgbClr val="477FA8"/>
                </a:solidFill>
                <a:latin typeface="PingFang SC"/>
                <a:ea typeface="PingFang SC"/>
                <a:cs typeface="PingFang SC"/>
              </a:defRPr>
            </a:lvl4pPr>
            <a:lvl5pPr algn="l">
              <a:defRPr sz="2550" b="1">
                <a:solidFill>
                  <a:srgbClr val="477FA8"/>
                </a:solidFill>
                <a:latin typeface="PingFang SC"/>
                <a:ea typeface="PingFang SC"/>
                <a:cs typeface="PingFang SC"/>
              </a:defRPr>
            </a:lvl5pPr>
            <a:lvl6pPr algn="l">
              <a:defRPr sz="2550" b="1">
                <a:solidFill>
                  <a:srgbClr val="477FA8"/>
                </a:solidFill>
                <a:latin typeface="PingFang SC"/>
                <a:ea typeface="PingFang SC"/>
                <a:cs typeface="PingFang SC"/>
              </a:defRPr>
            </a:lvl6pPr>
            <a:lvl7pPr algn="l">
              <a:defRPr sz="2550" b="1">
                <a:solidFill>
                  <a:srgbClr val="477FA8"/>
                </a:solidFill>
                <a:latin typeface="PingFang SC"/>
                <a:ea typeface="PingFang SC"/>
                <a:cs typeface="PingFang SC"/>
              </a:defRPr>
            </a:lvl7pPr>
            <a:lvl8pPr algn="l">
              <a:defRPr sz="2550" b="1">
                <a:solidFill>
                  <a:srgbClr val="477FA8"/>
                </a:solidFill>
                <a:latin typeface="PingFang SC"/>
                <a:ea typeface="PingFang SC"/>
                <a:cs typeface="PingFang SC"/>
              </a:defRPr>
            </a:lvl8pPr>
            <a:lvl9pPr algn="l">
              <a:defRPr sz="2550" b="1">
                <a:solidFill>
                  <a:srgbClr val="477FA8"/>
                </a:solidFill>
                <a:latin typeface="PingFang SC"/>
                <a:ea typeface="PingFang SC"/>
                <a:cs typeface="PingFang SC"/>
              </a:defRPr>
            </a:lvl9pPr>
          </a:lstStyle>
          <a:p xmlns:a="http://schemas.openxmlformats.org/drawingml/2006/main">
            <a:pPr algn="l">
              <a:defRPr sz="2550" b="1">
                <a:solidFill>
                  <a:srgbClr val="477FA8"/>
                </a:solidFill>
                <a:latin typeface="PingFang SC"/>
                <a:ea typeface="PingFang SC"/>
                <a:cs typeface="PingFang SC"/>
              </a:defRPr>
            </a:pPr>
            <a:r>
              <a:rPr sz="2550" b="1">
                <a:solidFill>
                  <a:srgbClr val="477FA8"/>
                </a:solidFill>
                <a:latin typeface="PingFang SC"/>
                <a:ea typeface="PingFang SC"/>
                <a:cs typeface="PingFang SC"/>
              </a:rPr>
              <a:t>评分 = 0.40×准时率 + 0.35×（100−缺陷率）+ 0.25×（100−份额）</a:t>
            </a:r>
          </a:p>
        </p:txBody>
      </p:sp>
      <p:sp>
        <p:nvSpPr>
          <p:cNvPr id="6" name="">
            <a:extLst xmlns:a="http://schemas.openxmlformats.org/drawingml/2006/main">
              <a:ext uri="{FF2B5EF4-FFF2-40B4-BE49-F238E27FC236}">
                <a16:creationId xmlns:a16="http://schemas.microsoft.com/office/drawing/2014/main" id="{6D2BB5EC-2F9B-4C62-B9FF-06CCC9878778}"/>
              </a:ext>
            </a:extLst>
          </p:cNvPr>
          <p:cNvSpPr>
            <a:spLocks xmlns:a="http://schemas.openxmlformats.org/drawingml/2006/main" noGrp="1"/>
          </p:cNvSpPr>
          <p:nvPr/>
        </p:nvSpPr>
        <p:spPr>
          <a:xfrm xmlns:a="http://schemas.openxmlformats.org/drawingml/2006/main">
            <a:off x="628650" y="3571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0">
                <a:solidFill>
                  <a:srgbClr val="667D91"/>
                </a:solidFill>
                <a:latin typeface="PingFang SC"/>
                <a:ea typeface="PingFang SC"/>
                <a:cs typeface="PingFang SC"/>
              </a:defRPr>
            </a:defPPr>
            <a:lvl1pPr algn="l">
              <a:defRPr sz="1875" b="0">
                <a:solidFill>
                  <a:srgbClr val="667D91"/>
                </a:solidFill>
                <a:latin typeface="PingFang SC"/>
                <a:ea typeface="PingFang SC"/>
                <a:cs typeface="PingFang SC"/>
              </a:defRPr>
            </a:lvl1pPr>
            <a:lvl2pPr algn="l">
              <a:defRPr sz="1875" b="0">
                <a:solidFill>
                  <a:srgbClr val="667D91"/>
                </a:solidFill>
                <a:latin typeface="PingFang SC"/>
                <a:ea typeface="PingFang SC"/>
                <a:cs typeface="PingFang SC"/>
              </a:defRPr>
            </a:lvl2pPr>
            <a:lvl3pPr algn="l">
              <a:defRPr sz="1875" b="0">
                <a:solidFill>
                  <a:srgbClr val="667D91"/>
                </a:solidFill>
                <a:latin typeface="PingFang SC"/>
                <a:ea typeface="PingFang SC"/>
                <a:cs typeface="PingFang SC"/>
              </a:defRPr>
            </a:lvl3pPr>
            <a:lvl4pPr algn="l">
              <a:defRPr sz="1875" b="0">
                <a:solidFill>
                  <a:srgbClr val="667D91"/>
                </a:solidFill>
                <a:latin typeface="PingFang SC"/>
                <a:ea typeface="PingFang SC"/>
                <a:cs typeface="PingFang SC"/>
              </a:defRPr>
            </a:lvl4pPr>
            <a:lvl5pPr algn="l">
              <a:defRPr sz="1875" b="0">
                <a:solidFill>
                  <a:srgbClr val="667D91"/>
                </a:solidFill>
                <a:latin typeface="PingFang SC"/>
                <a:ea typeface="PingFang SC"/>
                <a:cs typeface="PingFang SC"/>
              </a:defRPr>
            </a:lvl5pPr>
            <a:lvl6pPr algn="l">
              <a:defRPr sz="1875" b="0">
                <a:solidFill>
                  <a:srgbClr val="667D91"/>
                </a:solidFill>
                <a:latin typeface="PingFang SC"/>
                <a:ea typeface="PingFang SC"/>
                <a:cs typeface="PingFang SC"/>
              </a:defRPr>
            </a:lvl6pPr>
            <a:lvl7pPr algn="l">
              <a:defRPr sz="1875" b="0">
                <a:solidFill>
                  <a:srgbClr val="667D91"/>
                </a:solidFill>
                <a:latin typeface="PingFang SC"/>
                <a:ea typeface="PingFang SC"/>
                <a:cs typeface="PingFang SC"/>
              </a:defRPr>
            </a:lvl7pPr>
            <a:lvl8pPr algn="l">
              <a:defRPr sz="1875" b="0">
                <a:solidFill>
                  <a:srgbClr val="667D91"/>
                </a:solidFill>
                <a:latin typeface="PingFang SC"/>
                <a:ea typeface="PingFang SC"/>
                <a:cs typeface="PingFang SC"/>
              </a:defRPr>
            </a:lvl8pPr>
            <a:lvl9pPr algn="l">
              <a:defRPr sz="1875" b="0">
                <a:solidFill>
                  <a:srgbClr val="667D91"/>
                </a:solidFill>
                <a:latin typeface="PingFang SC"/>
                <a:ea typeface="PingFang SC"/>
                <a:cs typeface="PingFang SC"/>
              </a:defRPr>
            </a:lvl9pPr>
          </a:lstStyle>
          <a:p xmlns:a="http://schemas.openxmlformats.org/drawingml/2006/main">
            <a:pPr algn="l">
              <a:defRPr sz="1875" b="0">
                <a:solidFill>
                  <a:srgbClr val="667D91"/>
                </a:solidFill>
                <a:latin typeface="PingFang SC"/>
                <a:ea typeface="PingFang SC"/>
                <a:cs typeface="PingFang SC"/>
              </a:defRPr>
            </a:pPr>
            <a:r>
              <a:rPr sz="1875" b="0">
                <a:solidFill>
                  <a:srgbClr val="667D91"/>
                </a:solidFill>
                <a:latin typeface="PingFang SC"/>
                <a:ea typeface="PingFang SC"/>
                <a:cs typeface="PingFang SC"/>
              </a:rPr>
              <a:t>风险标记：资质剩余不足30天，或采购份额超过60%</a:t>
            </a:r>
          </a:p>
        </p:txBody>
      </p:sp>
      <p:sp>
        <p:nvSpPr>
          <p:cNvPr id="7" name="">
            <a:extLst xmlns:a="http://schemas.openxmlformats.org/drawingml/2006/main">
              <a:ext uri="{FF2B5EF4-FFF2-40B4-BE49-F238E27FC236}">
                <a16:creationId xmlns:a16="http://schemas.microsoft.com/office/drawing/2014/main" id="{DB53B25C-3E04-4ED3-A980-E683E8FB6CF0}"/>
              </a:ext>
            </a:extLst>
          </p:cNvPr>
          <p:cNvSpPr>
            <a:spLocks xmlns:a="http://schemas.openxmlformats.org/drawingml/2006/main" noGrp="1"/>
          </p:cNvSpPr>
          <p:nvPr/>
        </p:nvSpPr>
        <p:spPr>
          <a:xfrm xmlns:a="http://schemas.openxmlformats.org/drawingml/2006/main">
            <a:off x="628650" y="42195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0">
                <a:solidFill>
                  <a:srgbClr val="667D91"/>
                </a:solidFill>
                <a:latin typeface="PingFang SC"/>
                <a:ea typeface="PingFang SC"/>
                <a:cs typeface="PingFang SC"/>
              </a:defRPr>
            </a:defPPr>
            <a:lvl1pPr algn="l">
              <a:defRPr sz="1875" b="0">
                <a:solidFill>
                  <a:srgbClr val="667D91"/>
                </a:solidFill>
                <a:latin typeface="PingFang SC"/>
                <a:ea typeface="PingFang SC"/>
                <a:cs typeface="PingFang SC"/>
              </a:defRPr>
            </a:lvl1pPr>
            <a:lvl2pPr algn="l">
              <a:defRPr sz="1875" b="0">
                <a:solidFill>
                  <a:srgbClr val="667D91"/>
                </a:solidFill>
                <a:latin typeface="PingFang SC"/>
                <a:ea typeface="PingFang SC"/>
                <a:cs typeface="PingFang SC"/>
              </a:defRPr>
            </a:lvl2pPr>
            <a:lvl3pPr algn="l">
              <a:defRPr sz="1875" b="0">
                <a:solidFill>
                  <a:srgbClr val="667D91"/>
                </a:solidFill>
                <a:latin typeface="PingFang SC"/>
                <a:ea typeface="PingFang SC"/>
                <a:cs typeface="PingFang SC"/>
              </a:defRPr>
            </a:lvl3pPr>
            <a:lvl4pPr algn="l">
              <a:defRPr sz="1875" b="0">
                <a:solidFill>
                  <a:srgbClr val="667D91"/>
                </a:solidFill>
                <a:latin typeface="PingFang SC"/>
                <a:ea typeface="PingFang SC"/>
                <a:cs typeface="PingFang SC"/>
              </a:defRPr>
            </a:lvl4pPr>
            <a:lvl5pPr algn="l">
              <a:defRPr sz="1875" b="0">
                <a:solidFill>
                  <a:srgbClr val="667D91"/>
                </a:solidFill>
                <a:latin typeface="PingFang SC"/>
                <a:ea typeface="PingFang SC"/>
                <a:cs typeface="PingFang SC"/>
              </a:defRPr>
            </a:lvl5pPr>
            <a:lvl6pPr algn="l">
              <a:defRPr sz="1875" b="0">
                <a:solidFill>
                  <a:srgbClr val="667D91"/>
                </a:solidFill>
                <a:latin typeface="PingFang SC"/>
                <a:ea typeface="PingFang SC"/>
                <a:cs typeface="PingFang SC"/>
              </a:defRPr>
            </a:lvl6pPr>
            <a:lvl7pPr algn="l">
              <a:defRPr sz="1875" b="0">
                <a:solidFill>
                  <a:srgbClr val="667D91"/>
                </a:solidFill>
                <a:latin typeface="PingFang SC"/>
                <a:ea typeface="PingFang SC"/>
                <a:cs typeface="PingFang SC"/>
              </a:defRPr>
            </a:lvl7pPr>
            <a:lvl8pPr algn="l">
              <a:defRPr sz="1875" b="0">
                <a:solidFill>
                  <a:srgbClr val="667D91"/>
                </a:solidFill>
                <a:latin typeface="PingFang SC"/>
                <a:ea typeface="PingFang SC"/>
                <a:cs typeface="PingFang SC"/>
              </a:defRPr>
            </a:lvl8pPr>
            <a:lvl9pPr algn="l">
              <a:defRPr sz="1875" b="0">
                <a:solidFill>
                  <a:srgbClr val="667D91"/>
                </a:solidFill>
                <a:latin typeface="PingFang SC"/>
                <a:ea typeface="PingFang SC"/>
                <a:cs typeface="PingFang SC"/>
              </a:defRPr>
            </a:lvl9pPr>
          </a:lstStyle>
          <a:p xmlns:a="http://schemas.openxmlformats.org/drawingml/2006/main">
            <a:pPr algn="l">
              <a:defRPr sz="1875" b="0">
                <a:solidFill>
                  <a:srgbClr val="667D91"/>
                </a:solidFill>
                <a:latin typeface="PingFang SC"/>
                <a:ea typeface="PingFang SC"/>
                <a:cs typeface="PingFang SC"/>
              </a:defRPr>
            </a:pPr>
            <a:r>
              <a:rPr sz="1875" b="0">
                <a:solidFill>
                  <a:srgbClr val="667D91"/>
                </a:solidFill>
                <a:latin typeface="PingFang SC"/>
                <a:ea typeface="PingFang SC"/>
                <a:cs typeface="PingFang SC"/>
              </a:rPr>
              <a:t>准入下限独立核对，不能被较高总分抵消</a:t>
            </a:r>
          </a:p>
        </p:txBody>
      </p:sp>
      <p:sp>
        <p:nvSpPr>
          <p:cNvPr id="8" name="">
            <a:extLst xmlns:a="http://schemas.openxmlformats.org/drawingml/2006/main">
              <a:ext uri="{FF2B5EF4-FFF2-40B4-BE49-F238E27FC236}">
                <a16:creationId xmlns:a16="http://schemas.microsoft.com/office/drawing/2014/main" id="{1BCDFC76-6979-4309-87ED-F518D65C5F49}"/>
              </a:ext>
            </a:extLst>
          </p:cNvPr>
          <p:cNvSpPr>
            <a:spLocks xmlns:a="http://schemas.openxmlformats.org/drawingml/2006/main" noGrp="1"/>
          </p:cNvSpPr>
          <p:nvPr/>
        </p:nvSpPr>
        <p:spPr>
          <a:xfrm xmlns:a="http://schemas.openxmlformats.org/drawingml/2006/main">
            <a:off x="628650" y="5257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325" b="1">
                <a:solidFill>
                  <a:srgbClr val="17334D"/>
                </a:solidFill>
                <a:latin typeface="PingFang SC"/>
                <a:ea typeface="PingFang SC"/>
                <a:cs typeface="PingFang SC"/>
              </a:defRPr>
            </a:defPPr>
            <a:lvl1pPr algn="l">
              <a:defRPr sz="2325" b="1">
                <a:solidFill>
                  <a:srgbClr val="17334D"/>
                </a:solidFill>
                <a:latin typeface="PingFang SC"/>
                <a:ea typeface="PingFang SC"/>
                <a:cs typeface="PingFang SC"/>
              </a:defRPr>
            </a:lvl1pPr>
            <a:lvl2pPr algn="l">
              <a:defRPr sz="2325" b="1">
                <a:solidFill>
                  <a:srgbClr val="17334D"/>
                </a:solidFill>
                <a:latin typeface="PingFang SC"/>
                <a:ea typeface="PingFang SC"/>
                <a:cs typeface="PingFang SC"/>
              </a:defRPr>
            </a:lvl2pPr>
            <a:lvl3pPr algn="l">
              <a:defRPr sz="2325" b="1">
                <a:solidFill>
                  <a:srgbClr val="17334D"/>
                </a:solidFill>
                <a:latin typeface="PingFang SC"/>
                <a:ea typeface="PingFang SC"/>
                <a:cs typeface="PingFang SC"/>
              </a:defRPr>
            </a:lvl3pPr>
            <a:lvl4pPr algn="l">
              <a:defRPr sz="2325" b="1">
                <a:solidFill>
                  <a:srgbClr val="17334D"/>
                </a:solidFill>
                <a:latin typeface="PingFang SC"/>
                <a:ea typeface="PingFang SC"/>
                <a:cs typeface="PingFang SC"/>
              </a:defRPr>
            </a:lvl4pPr>
            <a:lvl5pPr algn="l">
              <a:defRPr sz="2325" b="1">
                <a:solidFill>
                  <a:srgbClr val="17334D"/>
                </a:solidFill>
                <a:latin typeface="PingFang SC"/>
                <a:ea typeface="PingFang SC"/>
                <a:cs typeface="PingFang SC"/>
              </a:defRPr>
            </a:lvl5pPr>
            <a:lvl6pPr algn="l">
              <a:defRPr sz="2325" b="1">
                <a:solidFill>
                  <a:srgbClr val="17334D"/>
                </a:solidFill>
                <a:latin typeface="PingFang SC"/>
                <a:ea typeface="PingFang SC"/>
                <a:cs typeface="PingFang SC"/>
              </a:defRPr>
            </a:lvl6pPr>
            <a:lvl7pPr algn="l">
              <a:defRPr sz="2325" b="1">
                <a:solidFill>
                  <a:srgbClr val="17334D"/>
                </a:solidFill>
                <a:latin typeface="PingFang SC"/>
                <a:ea typeface="PingFang SC"/>
                <a:cs typeface="PingFang SC"/>
              </a:defRPr>
            </a:lvl7pPr>
            <a:lvl8pPr algn="l">
              <a:defRPr sz="2325" b="1">
                <a:solidFill>
                  <a:srgbClr val="17334D"/>
                </a:solidFill>
                <a:latin typeface="PingFang SC"/>
                <a:ea typeface="PingFang SC"/>
                <a:cs typeface="PingFang SC"/>
              </a:defRPr>
            </a:lvl8pPr>
            <a:lvl9pPr algn="l">
              <a:defRPr sz="2325" b="1">
                <a:solidFill>
                  <a:srgbClr val="17334D"/>
                </a:solidFill>
                <a:latin typeface="PingFang SC"/>
                <a:ea typeface="PingFang SC"/>
                <a:cs typeface="PingFang SC"/>
              </a:defRPr>
            </a:lvl9pPr>
          </a:lstStyle>
          <a:p xmlns:a="http://schemas.openxmlformats.org/drawingml/2006/main">
            <a:pPr algn="l">
              <a:defRPr sz="2325" b="1">
                <a:solidFill>
                  <a:srgbClr val="17334D"/>
                </a:solidFill>
                <a:latin typeface="PingFang SC"/>
                <a:ea typeface="PingFang SC"/>
                <a:cs typeface="PingFang SC"/>
              </a:defRPr>
            </a:pPr>
            <a:r>
              <a:rPr sz="2325" b="1">
                <a:solidFill>
                  <a:srgbClr val="17334D"/>
                </a:solidFill>
                <a:latin typeface="PingFang SC"/>
                <a:ea typeface="PingFang SC"/>
                <a:cs typeface="PingFang SC"/>
              </a:rPr>
              <a:t>SUP-B：36.8 + 34.3 + 20 = 91.1分</a:t>
            </a:r>
          </a:p>
        </p:txBody>
      </p:sp>
    </p:spTree>
    <p:extLst>
      <p:ext uri="{BB962C8B-B14F-4D97-AF65-F5344CB8AC3E}">
        <p14:creationId xmlns:p14="http://schemas.microsoft.com/office/powerpoint/2010/main" val="144048949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179F03-4082-4BB4-9B18-42D3BFC20A86}"/>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谁得分高，谁需要风险处置？</a:t>
            </a:r>
          </a:p>
        </p:txBody>
      </p:sp>
      <p:sp>
        <p:nvSpPr>
          <p:cNvPr id="2" name="">
            <a:extLst xmlns:a="http://schemas.openxmlformats.org/drawingml/2006/main">
              <a:ext uri="{FF2B5EF4-FFF2-40B4-BE49-F238E27FC236}">
                <a16:creationId xmlns:a16="http://schemas.microsoft.com/office/drawing/2014/main" id="{FD4B7F2A-AD22-4D72-9148-4821216B7C91}"/>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教学规则下，评分与风险标记应同时展示</a:t>
            </a:r>
          </a:p>
        </p:txBody>
      </p:sp>
      <p:sp>
        <p:nvSpPr>
          <p:cNvPr id="3" name="">
            <a:extLst xmlns:a="http://schemas.openxmlformats.org/drawingml/2006/main">
              <a:ext uri="{FF2B5EF4-FFF2-40B4-BE49-F238E27FC236}">
                <a16:creationId xmlns:a16="http://schemas.microsoft.com/office/drawing/2014/main" id="{E94CB378-8D6B-46F3-8D9B-C14F50394FDA}"/>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供应商管理与风险控制  8分钟</a:t>
            </a:r>
          </a:p>
        </p:txBody>
      </p:sp>
      <p:sp>
        <p:nvSpPr>
          <p:cNvPr id="4" name="">
            <a:extLst xmlns:a="http://schemas.openxmlformats.org/drawingml/2006/main">
              <a:ext uri="{FF2B5EF4-FFF2-40B4-BE49-F238E27FC236}">
                <a16:creationId xmlns:a16="http://schemas.microsoft.com/office/drawing/2014/main" id="{D36060DC-8845-444F-B8A8-B8ABA5AD38C1}"/>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42 / 94</a:t>
            </a:r>
          </a:p>
        </p:txBody>
      </p:sp>
      <p:graphicFrame>
        <p:nvGraphicFramePr>
          <p:cNvPr id="5" name="Chart">
            <a:extLst xmlns:a="http://schemas.openxmlformats.org/drawingml/2006/main">
              <a:ext uri="{FF2B5EF4-FFF2-40B4-BE49-F238E27FC236}">
                <a16:creationId xmlns:a16="http://schemas.microsoft.com/office/drawing/2014/main" id="{CA0BD004-887F-4311-B1B4-A71C9792A43B}"/>
              </a:ext>
            </a:extLst>
          </p:cNvPr>
          <p:cNvGraphicFramePr/>
          <p:nvPr/>
        </p:nvGraphicFramePr>
        <p:xfrm>
          <a:off xmlns:a="http://schemas.openxmlformats.org/drawingml/2006/main" x="609600" y="191452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333178bbeb754829"/>
          </a:graphicData>
        </a:graphic>
      </p:graphicFrame>
      <p:sp>
        <p:nvSpPr>
          <p:cNvPr id="6" name="">
            <a:extLst xmlns:a="http://schemas.openxmlformats.org/drawingml/2006/main">
              <a:ext uri="{FF2B5EF4-FFF2-40B4-BE49-F238E27FC236}">
                <a16:creationId xmlns:a16="http://schemas.microsoft.com/office/drawing/2014/main" id="{6F0F6BBC-39D0-4876-8069-3E311663D7F2}"/>
              </a:ext>
            </a:extLst>
          </p:cNvPr>
          <p:cNvSpPr>
            <a:spLocks xmlns:a="http://schemas.openxmlformats.org/drawingml/2006/main" noGrp="1"/>
          </p:cNvSpPr>
          <p:nvPr/>
        </p:nvSpPr>
        <p:spPr>
          <a:xfrm xmlns:a="http://schemas.openxmlformats.org/drawingml/2006/main">
            <a:off x="619125" y="15621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教学评分（分）</a:t>
            </a:r>
          </a:p>
        </p:txBody>
      </p:sp>
      <p:sp>
        <p:nvSpPr>
          <p:cNvPr id="7" name="">
            <a:extLst xmlns:a="http://schemas.openxmlformats.org/drawingml/2006/main">
              <a:ext uri="{FF2B5EF4-FFF2-40B4-BE49-F238E27FC236}">
                <a16:creationId xmlns:a16="http://schemas.microsoft.com/office/drawing/2014/main" id="{46E526A8-9C9A-4B70-8877-427B8BDB7022}"/>
              </a:ext>
            </a:extLst>
          </p:cNvPr>
          <p:cNvSpPr>
            <a:spLocks xmlns:a="http://schemas.openxmlformats.org/drawingml/2006/main" noGrp="1"/>
          </p:cNvSpPr>
          <p:nvPr/>
        </p:nvSpPr>
        <p:spPr>
          <a:xfrm xmlns:a="http://schemas.openxmlformats.org/drawingml/2006/main">
            <a:off x="628650" y="5391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A有集中度标记，C有资格有效期标记；本例选择B</a:t>
            </a:r>
          </a:p>
        </p:txBody>
      </p:sp>
    </p:spTree>
    <p:extLst>
      <p:ext uri="{BB962C8B-B14F-4D97-AF65-F5344CB8AC3E}">
        <p14:creationId xmlns:p14="http://schemas.microsoft.com/office/powerpoint/2010/main" val="139892833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DD08DA-BF5C-4385-A01E-42C238C77685}"/>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单一来源依赖如何降低影响？</a:t>
            </a:r>
          </a:p>
        </p:txBody>
      </p:sp>
      <p:sp>
        <p:nvSpPr>
          <p:cNvPr id="2" name="">
            <a:extLst xmlns:a="http://schemas.openxmlformats.org/drawingml/2006/main">
              <a:ext uri="{FF2B5EF4-FFF2-40B4-BE49-F238E27FC236}">
                <a16:creationId xmlns:a16="http://schemas.microsoft.com/office/drawing/2014/main" id="{459839DD-6B80-460C-B09F-5EECF292527D}"/>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备选来源要有真实可用性，名单数量不等于保障能力</a:t>
            </a:r>
          </a:p>
        </p:txBody>
      </p:sp>
      <p:sp>
        <p:nvSpPr>
          <p:cNvPr id="3" name="">
            <a:extLst xmlns:a="http://schemas.openxmlformats.org/drawingml/2006/main">
              <a:ext uri="{FF2B5EF4-FFF2-40B4-BE49-F238E27FC236}">
                <a16:creationId xmlns:a16="http://schemas.microsoft.com/office/drawing/2014/main" id="{42F7324D-D6D5-4E77-A1A4-CDCBE443359D}"/>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供应商管理与风险控制  7分钟</a:t>
            </a:r>
          </a:p>
        </p:txBody>
      </p:sp>
      <p:sp>
        <p:nvSpPr>
          <p:cNvPr id="4" name="">
            <a:extLst xmlns:a="http://schemas.openxmlformats.org/drawingml/2006/main">
              <a:ext uri="{FF2B5EF4-FFF2-40B4-BE49-F238E27FC236}">
                <a16:creationId xmlns:a16="http://schemas.microsoft.com/office/drawing/2014/main" id="{177321B6-1A1A-44D7-8855-EA613DF14CA2}"/>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43 / 94</a:t>
            </a:r>
          </a:p>
        </p:txBody>
      </p:sp>
      <p:graphicFrame>
        <p:nvGraphicFramePr>
          <p:cNvPr id="5" name="">
            <a:extLst xmlns:a="http://schemas.openxmlformats.org/drawingml/2006/main">
              <a:ext uri="{FF2B5EF4-FFF2-40B4-BE49-F238E27FC236}">
                <a16:creationId xmlns:a16="http://schemas.microsoft.com/office/drawing/2014/main" id="{0CFD2B32-50BB-4EC2-835B-67D0D04BDCCA}"/>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3048000"/>
                <a:gridCol w="3619500"/>
                <a:gridCol w="4305300"/>
              </a:tblGrid>
              <a:tr h="800100">
                <a:tc>
                  <a:txBody>
                    <a:bodyPr lIns="114300" tIns="114300" rIns="114300" bIns="114300"/>
                    <a:lstStyle/>
                    <a:p>
                      <a:r>
                        <a:rPr sz="1725" b="1">
                          <a:solidFill>
                            <a:srgbClr val="477FA8"/>
                          </a:solidFill>
                          <a:latin typeface="PingFang SC"/>
                          <a:ea typeface="PingFang SC"/>
                          <a:cs typeface="PingFang SC"/>
                        </a:rPr>
                        <a:t>保障方向</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优势</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代价与前提</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备选来源或替代方案</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降低中断后的切换困难</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资格、适用性及能力需确认</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交付与库存协同</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提高近期保障可见性</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增加库存或协同工作量</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维修、交换或借件</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扩展应急候选方式</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条件、归还及质量要求需审查</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异常升级与预案</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缩短发现和组织响应时间</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明确触发条件与责任</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108600820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64CA039A-3F6B-4147-BF7B-FD6A8307574B}"/>
              </a:ext>
            </a:extLst>
          </p:cNvPr>
          <p:cNvCxnSpPr>
            <a:stCxn xmlns:a="http://schemas.openxmlformats.org/drawingml/2006/main" id="10" idx="3"/>
            <a:endCxn xmlns:a="http://schemas.openxmlformats.org/drawingml/2006/main" id="13" idx="1"/>
          </p:cNvCxnSpPr>
          <p:nvPr/>
        </p:nvCxnSpPr>
        <p:spPr>
          <a:xfrm xmlns:a="http://schemas.openxmlformats.org/drawingml/2006/main">
            <a:off x="87439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11" name="">
            <a:extLst xmlns:a="http://schemas.openxmlformats.org/drawingml/2006/main">
              <a:ext uri="{FF2B5EF4-FFF2-40B4-BE49-F238E27FC236}">
                <a16:creationId xmlns:a16="http://schemas.microsoft.com/office/drawing/2014/main" id="{51EB9D53-0EB0-4918-9531-738635B7641E}"/>
              </a:ext>
            </a:extLst>
          </p:cNvPr>
          <p:cNvCxnSpPr>
            <a:stCxn xmlns:a="http://schemas.openxmlformats.org/drawingml/2006/main" id="7" idx="3"/>
            <a:endCxn xmlns:a="http://schemas.openxmlformats.org/drawingml/2006/main" id="10" idx="1"/>
          </p:cNvCxnSpPr>
          <p:nvPr/>
        </p:nvCxnSpPr>
        <p:spPr>
          <a:xfrm xmlns:a="http://schemas.openxmlformats.org/drawingml/2006/main">
            <a:off x="59055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8D8D7116-08A2-411F-AAE8-BD50548A31A9}"/>
              </a:ext>
            </a:extLst>
          </p:cNvPr>
          <p:cNvCxnSpPr>
            <a:stCxn xmlns:a="http://schemas.openxmlformats.org/drawingml/2006/main" id="5" idx="3"/>
            <a:endCxn xmlns:a="http://schemas.openxmlformats.org/drawingml/2006/main" id="7" idx="1"/>
          </p:cNvCxnSpPr>
          <p:nvPr/>
        </p:nvCxnSpPr>
        <p:spPr>
          <a:xfrm xmlns:a="http://schemas.openxmlformats.org/drawingml/2006/main">
            <a:off x="30670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7" name="">
            <a:extLst xmlns:a="http://schemas.openxmlformats.org/drawingml/2006/main">
              <a:ext uri="{FF2B5EF4-FFF2-40B4-BE49-F238E27FC236}">
                <a16:creationId xmlns:a16="http://schemas.microsoft.com/office/drawing/2014/main" id="{81CE344D-678F-4060-9806-204455E7BAE2}"/>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风险监测怎样形成闭环？</a:t>
            </a:r>
          </a:p>
        </p:txBody>
      </p:sp>
      <p:sp>
        <p:nvSpPr>
          <p:cNvPr id="2" name="">
            <a:extLst xmlns:a="http://schemas.openxmlformats.org/drawingml/2006/main">
              <a:ext uri="{FF2B5EF4-FFF2-40B4-BE49-F238E27FC236}">
                <a16:creationId xmlns:a16="http://schemas.microsoft.com/office/drawing/2014/main" id="{D7E82968-3180-4722-A0E0-B7EE186CB672}"/>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预警只是线索，处置需要证据与责任</a:t>
            </a:r>
          </a:p>
        </p:txBody>
      </p:sp>
      <p:sp>
        <p:nvSpPr>
          <p:cNvPr id="3" name="">
            <a:extLst xmlns:a="http://schemas.openxmlformats.org/drawingml/2006/main">
              <a:ext uri="{FF2B5EF4-FFF2-40B4-BE49-F238E27FC236}">
                <a16:creationId xmlns:a16="http://schemas.microsoft.com/office/drawing/2014/main" id="{42595280-D509-47C7-9FBE-B2FE51E875C5}"/>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供应商管理与风险控制  8分钟</a:t>
            </a:r>
          </a:p>
        </p:txBody>
      </p:sp>
      <p:sp>
        <p:nvSpPr>
          <p:cNvPr id="4" name="">
            <a:extLst xmlns:a="http://schemas.openxmlformats.org/drawingml/2006/main">
              <a:ext uri="{FF2B5EF4-FFF2-40B4-BE49-F238E27FC236}">
                <a16:creationId xmlns:a16="http://schemas.microsoft.com/office/drawing/2014/main" id="{9B6DC117-2398-4C1C-B9B5-55AA88717617}"/>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44 / 94</a:t>
            </a:r>
          </a:p>
        </p:txBody>
      </p:sp>
      <p:sp>
        <p:nvSpPr>
          <p:cNvPr id="5" name="">
            <a:extLst xmlns:a="http://schemas.openxmlformats.org/drawingml/2006/main">
              <a:ext uri="{FF2B5EF4-FFF2-40B4-BE49-F238E27FC236}">
                <a16:creationId xmlns:a16="http://schemas.microsoft.com/office/drawing/2014/main" id="{04000F53-42F1-406F-A410-801C87A291FE}"/>
              </a:ext>
            </a:extLst>
          </p:cNvPr>
          <p:cNvSpPr>
            <a:spLocks xmlns:a="http://schemas.openxmlformats.org/drawingml/2006/main" noGrp="1"/>
          </p:cNvSpPr>
          <p:nvPr/>
        </p:nvSpPr>
        <p:spPr>
          <a:xfrm xmlns:a="http://schemas.openxmlformats.org/drawingml/2006/main">
            <a:off x="6096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识别信号</a:t>
            </a:r>
          </a:p>
        </p:txBody>
      </p:sp>
      <p:sp>
        <p:nvSpPr>
          <p:cNvPr id="6" name="">
            <a:extLst xmlns:a="http://schemas.openxmlformats.org/drawingml/2006/main">
              <a:ext uri="{FF2B5EF4-FFF2-40B4-BE49-F238E27FC236}">
                <a16:creationId xmlns:a16="http://schemas.microsoft.com/office/drawing/2014/main" id="{5229DE7D-055A-4603-B6EC-EE090CF7CA49}"/>
              </a:ext>
            </a:extLst>
          </p:cNvPr>
          <p:cNvSpPr>
            <a:spLocks xmlns:a="http://schemas.openxmlformats.org/drawingml/2006/main" noGrp="1"/>
          </p:cNvSpPr>
          <p:nvPr/>
        </p:nvSpPr>
        <p:spPr>
          <a:xfrm xmlns:a="http://schemas.openxmlformats.org/drawingml/2006/main">
            <a:off x="5715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到期、延期、质量异常</a:t>
            </a:r>
          </a:p>
        </p:txBody>
      </p:sp>
      <p:sp>
        <p:nvSpPr>
          <p:cNvPr id="7" name="">
            <a:extLst xmlns:a="http://schemas.openxmlformats.org/drawingml/2006/main">
              <a:ext uri="{FF2B5EF4-FFF2-40B4-BE49-F238E27FC236}">
                <a16:creationId xmlns:a16="http://schemas.microsoft.com/office/drawing/2014/main" id="{ED52BE9A-FE10-4595-AF48-A9E7E2C6D3F1}"/>
              </a:ext>
            </a:extLst>
          </p:cNvPr>
          <p:cNvSpPr>
            <a:spLocks xmlns:a="http://schemas.openxmlformats.org/drawingml/2006/main" noGrp="1"/>
          </p:cNvSpPr>
          <p:nvPr/>
        </p:nvSpPr>
        <p:spPr>
          <a:xfrm xmlns:a="http://schemas.openxmlformats.org/drawingml/2006/main">
            <a:off x="34480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核实影响</a:t>
            </a:r>
          </a:p>
        </p:txBody>
      </p:sp>
      <p:sp>
        <p:nvSpPr>
          <p:cNvPr id="9" name="">
            <a:extLst xmlns:a="http://schemas.openxmlformats.org/drawingml/2006/main">
              <a:ext uri="{FF2B5EF4-FFF2-40B4-BE49-F238E27FC236}">
                <a16:creationId xmlns:a16="http://schemas.microsoft.com/office/drawing/2014/main" id="{56AFA3DA-8D1F-4590-9508-0313F60B15B2}"/>
              </a:ext>
            </a:extLst>
          </p:cNvPr>
          <p:cNvSpPr>
            <a:spLocks xmlns:a="http://schemas.openxmlformats.org/drawingml/2006/main" noGrp="1"/>
          </p:cNvSpPr>
          <p:nvPr/>
        </p:nvSpPr>
        <p:spPr>
          <a:xfrm xmlns:a="http://schemas.openxmlformats.org/drawingml/2006/main">
            <a:off x="34099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件号、订单与维修需求</a:t>
            </a:r>
          </a:p>
        </p:txBody>
      </p:sp>
      <p:sp>
        <p:nvSpPr>
          <p:cNvPr id="10" name="">
            <a:extLst xmlns:a="http://schemas.openxmlformats.org/drawingml/2006/main">
              <a:ext uri="{FF2B5EF4-FFF2-40B4-BE49-F238E27FC236}">
                <a16:creationId xmlns:a16="http://schemas.microsoft.com/office/drawing/2014/main" id="{34327B4F-5ABC-420F-BF15-CA6B7F8433E6}"/>
              </a:ext>
            </a:extLst>
          </p:cNvPr>
          <p:cNvSpPr>
            <a:spLocks xmlns:a="http://schemas.openxmlformats.org/drawingml/2006/main" noGrp="1"/>
          </p:cNvSpPr>
          <p:nvPr/>
        </p:nvSpPr>
        <p:spPr>
          <a:xfrm xmlns:a="http://schemas.openxmlformats.org/drawingml/2006/main">
            <a:off x="62865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执行措施</a:t>
            </a:r>
          </a:p>
        </p:txBody>
      </p:sp>
      <p:sp>
        <p:nvSpPr>
          <p:cNvPr id="12" name="">
            <a:extLst xmlns:a="http://schemas.openxmlformats.org/drawingml/2006/main">
              <a:ext uri="{FF2B5EF4-FFF2-40B4-BE49-F238E27FC236}">
                <a16:creationId xmlns:a16="http://schemas.microsoft.com/office/drawing/2014/main" id="{240EB130-F14C-46DA-8C4F-4BC380F6259A}"/>
              </a:ext>
            </a:extLst>
          </p:cNvPr>
          <p:cNvSpPr>
            <a:spLocks xmlns:a="http://schemas.openxmlformats.org/drawingml/2006/main" noGrp="1"/>
          </p:cNvSpPr>
          <p:nvPr/>
        </p:nvSpPr>
        <p:spPr>
          <a:xfrm xmlns:a="http://schemas.openxmlformats.org/drawingml/2006/main">
            <a:off x="62484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责任、时限与保障方案</a:t>
            </a:r>
          </a:p>
        </p:txBody>
      </p:sp>
      <p:sp>
        <p:nvSpPr>
          <p:cNvPr id="13" name="">
            <a:extLst xmlns:a="http://schemas.openxmlformats.org/drawingml/2006/main">
              <a:ext uri="{FF2B5EF4-FFF2-40B4-BE49-F238E27FC236}">
                <a16:creationId xmlns:a16="http://schemas.microsoft.com/office/drawing/2014/main" id="{E75ABEC4-47ED-4014-B678-4A9662ADC95C}"/>
              </a:ext>
            </a:extLst>
          </p:cNvPr>
          <p:cNvSpPr>
            <a:spLocks xmlns:a="http://schemas.openxmlformats.org/drawingml/2006/main" noGrp="1"/>
          </p:cNvSpPr>
          <p:nvPr/>
        </p:nvSpPr>
        <p:spPr>
          <a:xfrm xmlns:a="http://schemas.openxmlformats.org/drawingml/2006/main">
            <a:off x="91249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复评关闭</a:t>
            </a:r>
          </a:p>
        </p:txBody>
      </p:sp>
      <p:sp>
        <p:nvSpPr>
          <p:cNvPr id="15" name="">
            <a:extLst xmlns:a="http://schemas.openxmlformats.org/drawingml/2006/main">
              <a:ext uri="{FF2B5EF4-FFF2-40B4-BE49-F238E27FC236}">
                <a16:creationId xmlns:a16="http://schemas.microsoft.com/office/drawing/2014/main" id="{DD412196-995C-4285-B8BF-0A10973D13BA}"/>
              </a:ext>
            </a:extLst>
          </p:cNvPr>
          <p:cNvSpPr>
            <a:spLocks xmlns:a="http://schemas.openxmlformats.org/drawingml/2006/main" noGrp="1"/>
          </p:cNvSpPr>
          <p:nvPr/>
        </p:nvSpPr>
        <p:spPr>
          <a:xfrm xmlns:a="http://schemas.openxmlformats.org/drawingml/2006/main">
            <a:off x="90868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证据更新与残余风险</a:t>
            </a:r>
          </a:p>
        </p:txBody>
      </p:sp>
      <p:sp>
        <p:nvSpPr>
          <p:cNvPr id="16" name="">
            <a:extLst xmlns:a="http://schemas.openxmlformats.org/drawingml/2006/main">
              <a:ext uri="{FF2B5EF4-FFF2-40B4-BE49-F238E27FC236}">
                <a16:creationId xmlns:a16="http://schemas.microsoft.com/office/drawing/2014/main" id="{D428608F-61D5-4054-8218-078485DD8289}"/>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不以预警条数代替风险降低效果</a:t>
            </a:r>
          </a:p>
        </p:txBody>
      </p:sp>
    </p:spTree>
    <p:extLst>
      <p:ext uri="{BB962C8B-B14F-4D97-AF65-F5344CB8AC3E}">
        <p14:creationId xmlns:p14="http://schemas.microsoft.com/office/powerpoint/2010/main" val="89467143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0A8D6D3-C7A4-4E62-9AF9-7156BAE84D64}"/>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实训核对：评分是否掩盖了门槛？</a:t>
            </a:r>
          </a:p>
        </p:txBody>
      </p:sp>
      <p:sp>
        <p:nvSpPr>
          <p:cNvPr id="2" name="">
            <a:extLst xmlns:a="http://schemas.openxmlformats.org/drawingml/2006/main">
              <a:ext uri="{FF2B5EF4-FFF2-40B4-BE49-F238E27FC236}">
                <a16:creationId xmlns:a16="http://schemas.microsoft.com/office/drawing/2014/main" id="{D5408501-3C3B-4351-B6B9-7716D6C9C525}"/>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在同一统计窗口下解释绩效、份额与资格</a:t>
            </a:r>
          </a:p>
        </p:txBody>
      </p:sp>
      <p:sp>
        <p:nvSpPr>
          <p:cNvPr id="3" name="">
            <a:extLst xmlns:a="http://schemas.openxmlformats.org/drawingml/2006/main">
              <a:ext uri="{FF2B5EF4-FFF2-40B4-BE49-F238E27FC236}">
                <a16:creationId xmlns:a16="http://schemas.microsoft.com/office/drawing/2014/main" id="{461EBC3D-D0C0-48C2-89B3-DBA5CEC316B8}"/>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供应商管理与风险控制  7分钟</a:t>
            </a:r>
          </a:p>
        </p:txBody>
      </p:sp>
      <p:sp>
        <p:nvSpPr>
          <p:cNvPr id="4" name="">
            <a:extLst xmlns:a="http://schemas.openxmlformats.org/drawingml/2006/main">
              <a:ext uri="{FF2B5EF4-FFF2-40B4-BE49-F238E27FC236}">
                <a16:creationId xmlns:a16="http://schemas.microsoft.com/office/drawing/2014/main" id="{20C42B77-F34A-4B74-9429-6C2D8FB8EBF6}"/>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45 / 94</a:t>
            </a:r>
          </a:p>
        </p:txBody>
      </p:sp>
      <p:pic>
        <p:nvPicPr>
          <p:cNvPr id="5" name="">
            <a:extLst xmlns:a="http://schemas.openxmlformats.org/drawingml/2006/main">
              <a:ext uri="{FF2B5EF4-FFF2-40B4-BE49-F238E27FC236}">
                <a16:creationId xmlns:a16="http://schemas.microsoft.com/office/drawing/2014/main" id="{EE09BE63-3B26-4387-9657-7B867E8316E5}"/>
              </a:ext>
            </a:extLst>
          </p:cNvPr>
          <p:cNvPicPr>
            <a:picLocks xmlns:a="http://schemas.openxmlformats.org/drawingml/2006/main" noChangeAspect="1"/>
          </p:cNvPicPr>
          <p:nvPr/>
        </p:nvPicPr>
        <p:blipFill>
          <a:blip xmlns:r="http://schemas.openxmlformats.org/officeDocument/2006/relationships" xmlns:a="http://schemas.openxmlformats.org/drawingml/2006/main" r:embed="R6982593b12eb4d56"/>
          <a:stretch xmlns:a="http://schemas.openxmlformats.org/drawingml/2006/main"/>
        </p:blipFill>
        <p:spPr>
          <a:xfrm xmlns:a="http://schemas.openxmlformats.org/drawingml/2006/main">
            <a:off x="609600" y="2917031"/>
            <a:ext cx="7715250" cy="13096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E1F7109-181D-43AF-94D4-FFAA79D623D6}"/>
              </a:ext>
            </a:extLst>
          </p:cNvPr>
          <p:cNvSpPr>
            <a:spLocks xmlns:a="http://schemas.openxmlformats.org/drawingml/2006/main" noGrp="1"/>
          </p:cNvSpPr>
          <p:nvPr/>
        </p:nvSpPr>
        <p:spPr>
          <a:xfrm xmlns:a="http://schemas.openxmlformats.org/drawingml/2006/main">
            <a:off x="8858250" y="1809750"/>
            <a:ext cx="2724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业务核对</a:t>
            </a:r>
          </a:p>
        </p:txBody>
      </p:sp>
      <p:sp>
        <p:nvSpPr>
          <p:cNvPr id="7" name="">
            <a:extLst xmlns:a="http://schemas.openxmlformats.org/drawingml/2006/main">
              <a:ext uri="{FF2B5EF4-FFF2-40B4-BE49-F238E27FC236}">
                <a16:creationId xmlns:a16="http://schemas.microsoft.com/office/drawing/2014/main" id="{081D41DC-FE71-4297-AC10-6766A03B46FC}"/>
              </a:ext>
            </a:extLst>
          </p:cNvPr>
          <p:cNvSpPr>
            <a:spLocks xmlns:a="http://schemas.openxmlformats.org/drawingml/2006/main" noGrp="1"/>
          </p:cNvSpPr>
          <p:nvPr/>
        </p:nvSpPr>
        <p:spPr>
          <a:xfrm xmlns:a="http://schemas.openxmlformats.org/drawingml/2006/main">
            <a:off x="8858250" y="25622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01</a:t>
            </a:r>
          </a:p>
        </p:txBody>
      </p:sp>
      <p:sp>
        <p:nvSpPr>
          <p:cNvPr id="8" name="">
            <a:extLst xmlns:a="http://schemas.openxmlformats.org/drawingml/2006/main">
              <a:ext uri="{FF2B5EF4-FFF2-40B4-BE49-F238E27FC236}">
                <a16:creationId xmlns:a16="http://schemas.microsoft.com/office/drawing/2014/main" id="{62FDABB0-EFF5-4A8C-9C2C-F9F09BFB952A}"/>
              </a:ext>
            </a:extLst>
          </p:cNvPr>
          <p:cNvSpPr>
            <a:spLocks xmlns:a="http://schemas.openxmlformats.org/drawingml/2006/main" noGrp="1"/>
          </p:cNvSpPr>
          <p:nvPr/>
        </p:nvSpPr>
        <p:spPr>
          <a:xfrm xmlns:a="http://schemas.openxmlformats.org/drawingml/2006/main">
            <a:off x="8858250" y="29432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复算91.1分的依据</a:t>
            </a:r>
          </a:p>
        </p:txBody>
      </p:sp>
      <p:sp>
        <p:nvSpPr>
          <p:cNvPr id="9" name="">
            <a:extLst xmlns:a="http://schemas.openxmlformats.org/drawingml/2006/main">
              <a:ext uri="{FF2B5EF4-FFF2-40B4-BE49-F238E27FC236}">
                <a16:creationId xmlns:a16="http://schemas.microsoft.com/office/drawing/2014/main" id="{41D92064-B7B7-43FD-A9FA-482AD2C616B6}"/>
              </a:ext>
            </a:extLst>
          </p:cNvPr>
          <p:cNvSpPr>
            <a:spLocks xmlns:a="http://schemas.openxmlformats.org/drawingml/2006/main" noGrp="1"/>
          </p:cNvSpPr>
          <p:nvPr/>
        </p:nvSpPr>
        <p:spPr>
          <a:xfrm xmlns:a="http://schemas.openxmlformats.org/drawingml/2006/main">
            <a:off x="8858250" y="36290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02</a:t>
            </a:r>
          </a:p>
        </p:txBody>
      </p:sp>
      <p:sp>
        <p:nvSpPr>
          <p:cNvPr id="10" name="">
            <a:extLst xmlns:a="http://schemas.openxmlformats.org/drawingml/2006/main">
              <a:ext uri="{FF2B5EF4-FFF2-40B4-BE49-F238E27FC236}">
                <a16:creationId xmlns:a16="http://schemas.microsoft.com/office/drawing/2014/main" id="{96F88C65-58D4-46B0-A539-7D17E9975EF6}"/>
              </a:ext>
            </a:extLst>
          </p:cNvPr>
          <p:cNvSpPr>
            <a:spLocks xmlns:a="http://schemas.openxmlformats.org/drawingml/2006/main" noGrp="1"/>
          </p:cNvSpPr>
          <p:nvPr/>
        </p:nvSpPr>
        <p:spPr>
          <a:xfrm xmlns:a="http://schemas.openxmlformats.org/drawingml/2006/main">
            <a:off x="8858250" y="40100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解释A与C两类风险</a:t>
            </a:r>
          </a:p>
        </p:txBody>
      </p:sp>
      <p:sp>
        <p:nvSpPr>
          <p:cNvPr id="11" name="">
            <a:extLst xmlns:a="http://schemas.openxmlformats.org/drawingml/2006/main">
              <a:ext uri="{FF2B5EF4-FFF2-40B4-BE49-F238E27FC236}">
                <a16:creationId xmlns:a16="http://schemas.microsoft.com/office/drawing/2014/main" id="{005B9BD4-A2EC-4B6D-ABDF-D196559E1BEB}"/>
              </a:ext>
            </a:extLst>
          </p:cNvPr>
          <p:cNvSpPr>
            <a:spLocks xmlns:a="http://schemas.openxmlformats.org/drawingml/2006/main" noGrp="1"/>
          </p:cNvSpPr>
          <p:nvPr/>
        </p:nvSpPr>
        <p:spPr>
          <a:xfrm xmlns:a="http://schemas.openxmlformats.org/drawingml/2006/main">
            <a:off x="8858250" y="46958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03</a:t>
            </a:r>
          </a:p>
        </p:txBody>
      </p:sp>
      <p:sp>
        <p:nvSpPr>
          <p:cNvPr id="12" name="">
            <a:extLst xmlns:a="http://schemas.openxmlformats.org/drawingml/2006/main">
              <a:ext uri="{FF2B5EF4-FFF2-40B4-BE49-F238E27FC236}">
                <a16:creationId xmlns:a16="http://schemas.microsoft.com/office/drawing/2014/main" id="{0596C6CA-CC4D-4D70-A7A4-C5CE06DDC626}"/>
              </a:ext>
            </a:extLst>
          </p:cNvPr>
          <p:cNvSpPr>
            <a:spLocks xmlns:a="http://schemas.openxmlformats.org/drawingml/2006/main" noGrp="1"/>
          </p:cNvSpPr>
          <p:nvPr/>
        </p:nvSpPr>
        <p:spPr>
          <a:xfrm xmlns:a="http://schemas.openxmlformats.org/drawingml/2006/main">
            <a:off x="8858250" y="50768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改权重前说明理由</a:t>
            </a:r>
          </a:p>
        </p:txBody>
      </p:sp>
      <p:sp>
        <p:nvSpPr>
          <p:cNvPr id="13" name="">
            <a:extLst xmlns:a="http://schemas.openxmlformats.org/drawingml/2006/main">
              <a:ext uri="{FF2B5EF4-FFF2-40B4-BE49-F238E27FC236}">
                <a16:creationId xmlns:a16="http://schemas.microsoft.com/office/drawing/2014/main" id="{63321B29-F9E1-4EC5-BB44-E5339CC08615}"/>
              </a:ext>
            </a:extLst>
          </p:cNvPr>
          <p:cNvSpPr>
            <a:spLocks xmlns:a="http://schemas.openxmlformats.org/drawingml/2006/main" noGrp="1"/>
          </p:cNvSpPr>
          <p:nvPr/>
        </p:nvSpPr>
        <p:spPr>
          <a:xfrm xmlns:a="http://schemas.openxmlformats.org/drawingml/2006/main">
            <a:off x="628650" y="5810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培训系统实际界面，数据为模拟。计算之后仍需业务复核</a:t>
            </a:r>
          </a:p>
        </p:txBody>
      </p:sp>
    </p:spTree>
    <p:extLst>
      <p:ext uri="{BB962C8B-B14F-4D97-AF65-F5344CB8AC3E}">
        <p14:creationId xmlns:p14="http://schemas.microsoft.com/office/powerpoint/2010/main" val="99313423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03D672A-B5C3-466E-AF80-32362CBC54D5}"/>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M03实训：形成关键供应商保障策略</a:t>
            </a:r>
          </a:p>
        </p:txBody>
      </p:sp>
      <p:sp>
        <p:nvSpPr>
          <p:cNvPr id="2" name="">
            <a:extLst xmlns:a="http://schemas.openxmlformats.org/drawingml/2006/main">
              <a:ext uri="{FF2B5EF4-FFF2-40B4-BE49-F238E27FC236}">
                <a16:creationId xmlns:a16="http://schemas.microsoft.com/office/drawing/2014/main" id="{747AFDB4-5AED-41AF-B233-EFB29E8DF4C2}"/>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25分钟，绩效结论必须对应具体管理动作</a:t>
            </a:r>
          </a:p>
        </p:txBody>
      </p:sp>
      <p:sp>
        <p:nvSpPr>
          <p:cNvPr id="3" name="">
            <a:extLst xmlns:a="http://schemas.openxmlformats.org/drawingml/2006/main">
              <a:ext uri="{FF2B5EF4-FFF2-40B4-BE49-F238E27FC236}">
                <a16:creationId xmlns:a16="http://schemas.microsoft.com/office/drawing/2014/main" id="{4B0D4419-3D57-44D6-B799-BE9BDD2048B1}"/>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供应商管理与风险控制  25分钟</a:t>
            </a:r>
          </a:p>
        </p:txBody>
      </p:sp>
      <p:sp>
        <p:nvSpPr>
          <p:cNvPr id="4" name="">
            <a:extLst xmlns:a="http://schemas.openxmlformats.org/drawingml/2006/main">
              <a:ext uri="{FF2B5EF4-FFF2-40B4-BE49-F238E27FC236}">
                <a16:creationId xmlns:a16="http://schemas.microsoft.com/office/drawing/2014/main" id="{B28D9B71-6E67-4077-814A-FE4573C70E1D}"/>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46 / 94</a:t>
            </a:r>
          </a:p>
        </p:txBody>
      </p:sp>
      <p:sp>
        <p:nvSpPr>
          <p:cNvPr id="5" name="">
            <a:extLst xmlns:a="http://schemas.openxmlformats.org/drawingml/2006/main">
              <a:ext uri="{FF2B5EF4-FFF2-40B4-BE49-F238E27FC236}">
                <a16:creationId xmlns:a16="http://schemas.microsoft.com/office/drawing/2014/main" id="{B71721C1-8130-4079-A4A7-0E9873BB7620}"/>
              </a:ext>
            </a:extLst>
          </p:cNvPr>
          <p:cNvSpPr>
            <a:spLocks xmlns:a="http://schemas.openxmlformats.org/drawingml/2006/main" noGrp="1"/>
          </p:cNvSpPr>
          <p:nvPr/>
        </p:nvSpPr>
        <p:spPr>
          <a:xfrm xmlns:a="http://schemas.openxmlformats.org/drawingml/2006/main">
            <a:off x="609600" y="17526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讨论与操作</a:t>
            </a:r>
          </a:p>
        </p:txBody>
      </p:sp>
      <p:sp>
        <p:nvSpPr>
          <p:cNvPr id="6" name="">
            <a:extLst xmlns:a="http://schemas.openxmlformats.org/drawingml/2006/main">
              <a:ext uri="{FF2B5EF4-FFF2-40B4-BE49-F238E27FC236}">
                <a16:creationId xmlns:a16="http://schemas.microsoft.com/office/drawing/2014/main" id="{D0FE9A69-EFEF-4777-BEF1-103656F92D4F}"/>
              </a:ext>
            </a:extLst>
          </p:cNvPr>
          <p:cNvSpPr>
            <a:spLocks xmlns:a="http://schemas.openxmlformats.org/drawingml/2006/main" noGrp="1"/>
          </p:cNvSpPr>
          <p:nvPr/>
        </p:nvSpPr>
        <p:spPr>
          <a:xfrm xmlns:a="http://schemas.openxmlformats.org/drawingml/2006/main">
            <a:off x="609600" y="2476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01</a:t>
            </a:r>
          </a:p>
        </p:txBody>
      </p:sp>
      <p:sp>
        <p:nvSpPr>
          <p:cNvPr id="7" name="">
            <a:extLst xmlns:a="http://schemas.openxmlformats.org/drawingml/2006/main">
              <a:ext uri="{FF2B5EF4-FFF2-40B4-BE49-F238E27FC236}">
                <a16:creationId xmlns:a16="http://schemas.microsoft.com/office/drawing/2014/main" id="{022C0D96-25FC-433A-BD7B-43DD2D4AFE42}"/>
              </a:ext>
            </a:extLst>
          </p:cNvPr>
          <p:cNvSpPr>
            <a:spLocks xmlns:a="http://schemas.openxmlformats.org/drawingml/2006/main" noGrp="1"/>
          </p:cNvSpPr>
          <p:nvPr/>
        </p:nvSpPr>
        <p:spPr>
          <a:xfrm xmlns:a="http://schemas.openxmlformats.org/drawingml/2006/main">
            <a:off x="1476375" y="23526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核对统计口径、权重与资格下限</a:t>
            </a:r>
          </a:p>
        </p:txBody>
      </p:sp>
      <p:sp>
        <p:nvSpPr>
          <p:cNvPr id="8" name="">
            <a:extLst xmlns:a="http://schemas.openxmlformats.org/drawingml/2006/main">
              <a:ext uri="{FF2B5EF4-FFF2-40B4-BE49-F238E27FC236}">
                <a16:creationId xmlns:a16="http://schemas.microsoft.com/office/drawing/2014/main" id="{D1D60BE6-108D-47A1-9D6A-82BD23EA3459}"/>
              </a:ext>
            </a:extLst>
          </p:cNvPr>
          <p:cNvSpPr>
            <a:spLocks xmlns:a="http://schemas.openxmlformats.org/drawingml/2006/main" noGrp="1"/>
          </p:cNvSpPr>
          <p:nvPr/>
        </p:nvSpPr>
        <p:spPr>
          <a:xfrm xmlns:a="http://schemas.openxmlformats.org/drawingml/2006/main">
            <a:off x="609600" y="35814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02</a:t>
            </a:r>
          </a:p>
        </p:txBody>
      </p:sp>
      <p:sp>
        <p:nvSpPr>
          <p:cNvPr id="9" name="">
            <a:extLst xmlns:a="http://schemas.openxmlformats.org/drawingml/2006/main">
              <a:ext uri="{FF2B5EF4-FFF2-40B4-BE49-F238E27FC236}">
                <a16:creationId xmlns:a16="http://schemas.microsoft.com/office/drawing/2014/main" id="{269F1AE5-6B44-4D69-8CA5-D0691DCFAFDF}"/>
              </a:ext>
            </a:extLst>
          </p:cNvPr>
          <p:cNvSpPr>
            <a:spLocks xmlns:a="http://schemas.openxmlformats.org/drawingml/2006/main" noGrp="1"/>
          </p:cNvSpPr>
          <p:nvPr/>
        </p:nvSpPr>
        <p:spPr>
          <a:xfrm xmlns:a="http://schemas.openxmlformats.org/drawingml/2006/main">
            <a:off x="1476375" y="34575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解释分数接近但不可等同的原因</a:t>
            </a:r>
          </a:p>
        </p:txBody>
      </p:sp>
      <p:sp>
        <p:nvSpPr>
          <p:cNvPr id="10" name="">
            <a:extLst xmlns:a="http://schemas.openxmlformats.org/drawingml/2006/main">
              <a:ext uri="{FF2B5EF4-FFF2-40B4-BE49-F238E27FC236}">
                <a16:creationId xmlns:a16="http://schemas.microsoft.com/office/drawing/2014/main" id="{F210D15B-E495-483E-8338-637C10FBD127}"/>
              </a:ext>
            </a:extLst>
          </p:cNvPr>
          <p:cNvSpPr>
            <a:spLocks xmlns:a="http://schemas.openxmlformats.org/drawingml/2006/main" noGrp="1"/>
          </p:cNvSpPr>
          <p:nvPr/>
        </p:nvSpPr>
        <p:spPr>
          <a:xfrm xmlns:a="http://schemas.openxmlformats.org/drawingml/2006/main">
            <a:off x="609600" y="4686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03</a:t>
            </a:r>
          </a:p>
        </p:txBody>
      </p:sp>
      <p:sp>
        <p:nvSpPr>
          <p:cNvPr id="11" name="">
            <a:extLst xmlns:a="http://schemas.openxmlformats.org/drawingml/2006/main">
              <a:ext uri="{FF2B5EF4-FFF2-40B4-BE49-F238E27FC236}">
                <a16:creationId xmlns:a16="http://schemas.microsoft.com/office/drawing/2014/main" id="{28AE7507-69C0-43DB-A963-CBF7AF37AA62}"/>
              </a:ext>
            </a:extLst>
          </p:cNvPr>
          <p:cNvSpPr>
            <a:spLocks xmlns:a="http://schemas.openxmlformats.org/drawingml/2006/main" noGrp="1"/>
          </p:cNvSpPr>
          <p:nvPr/>
        </p:nvSpPr>
        <p:spPr>
          <a:xfrm xmlns:a="http://schemas.openxmlformats.org/drawingml/2006/main">
            <a:off x="1476375" y="45624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为A或C提出一项可执行控制</a:t>
            </a:r>
          </a:p>
        </p:txBody>
      </p:sp>
      <p:sp>
        <p:nvSpPr>
          <p:cNvPr id="12" name="">
            <a:extLst xmlns:a="http://schemas.openxmlformats.org/drawingml/2006/main">
              <a:ext uri="{FF2B5EF4-FFF2-40B4-BE49-F238E27FC236}">
                <a16:creationId xmlns:a16="http://schemas.microsoft.com/office/drawing/2014/main" id="{CC598B73-A0AB-4D2F-9B31-9A3BBE8E6EAC}"/>
              </a:ext>
            </a:extLst>
          </p:cNvPr>
          <p:cNvSpPr>
            <a:spLocks xmlns:a="http://schemas.openxmlformats.org/drawingml/2006/main" noGrp="1"/>
          </p:cNvSpPr>
          <p:nvPr/>
        </p:nvSpPr>
        <p:spPr>
          <a:xfrm xmlns:a="http://schemas.openxmlformats.org/drawingml/2006/main">
            <a:off x="7943850" y="17526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本次输出</a:t>
            </a:r>
          </a:p>
        </p:txBody>
      </p:sp>
      <p:sp>
        <p:nvSpPr>
          <p:cNvPr id="13" name="">
            <a:extLst xmlns:a="http://schemas.openxmlformats.org/drawingml/2006/main">
              <a:ext uri="{FF2B5EF4-FFF2-40B4-BE49-F238E27FC236}">
                <a16:creationId xmlns:a16="http://schemas.microsoft.com/office/drawing/2014/main" id="{BFE4A116-E765-43F2-A1A0-D3F247763D9A}"/>
              </a:ext>
            </a:extLst>
          </p:cNvPr>
          <p:cNvSpPr>
            <a:spLocks xmlns:a="http://schemas.openxmlformats.org/drawingml/2006/main" noGrp="1"/>
          </p:cNvSpPr>
          <p:nvPr/>
        </p:nvSpPr>
        <p:spPr>
          <a:xfrm xmlns:a="http://schemas.openxmlformats.org/drawingml/2006/main">
            <a:off x="7943850" y="24574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评分与风险分栏结果</a:t>
            </a:r>
          </a:p>
        </p:txBody>
      </p:sp>
      <p:sp>
        <p:nvSpPr>
          <p:cNvPr id="14" name="">
            <a:extLst xmlns:a="http://schemas.openxmlformats.org/drawingml/2006/main">
              <a:ext uri="{FF2B5EF4-FFF2-40B4-BE49-F238E27FC236}">
                <a16:creationId xmlns:a16="http://schemas.microsoft.com/office/drawing/2014/main" id="{FCA05718-7275-45E9-AEE3-C7D2197A89E3}"/>
              </a:ext>
            </a:extLst>
          </p:cNvPr>
          <p:cNvSpPr>
            <a:spLocks xmlns:a="http://schemas.openxmlformats.org/drawingml/2006/main" noGrp="1"/>
          </p:cNvSpPr>
          <p:nvPr/>
        </p:nvSpPr>
        <p:spPr>
          <a:xfrm xmlns:a="http://schemas.openxmlformats.org/drawingml/2006/main">
            <a:off x="7943850" y="35623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保障动作、责任和时限</a:t>
            </a:r>
          </a:p>
        </p:txBody>
      </p:sp>
      <p:sp>
        <p:nvSpPr>
          <p:cNvPr id="15" name="">
            <a:extLst xmlns:a="http://schemas.openxmlformats.org/drawingml/2006/main">
              <a:ext uri="{FF2B5EF4-FFF2-40B4-BE49-F238E27FC236}">
                <a16:creationId xmlns:a16="http://schemas.microsoft.com/office/drawing/2014/main" id="{B2B20ABE-F93E-4260-9BF8-F9066A3AC871}"/>
              </a:ext>
            </a:extLst>
          </p:cNvPr>
          <p:cNvSpPr>
            <a:spLocks xmlns:a="http://schemas.openxmlformats.org/drawingml/2006/main" noGrp="1"/>
          </p:cNvSpPr>
          <p:nvPr/>
        </p:nvSpPr>
        <p:spPr>
          <a:xfrm xmlns:a="http://schemas.openxmlformats.org/drawingml/2006/main">
            <a:off x="7943850" y="46672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一项策略可能增加的成本</a:t>
            </a:r>
          </a:p>
        </p:txBody>
      </p:sp>
    </p:spTree>
    <p:extLst>
      <p:ext uri="{BB962C8B-B14F-4D97-AF65-F5344CB8AC3E}">
        <p14:creationId xmlns:p14="http://schemas.microsoft.com/office/powerpoint/2010/main" val="182942278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9C809D-A7BD-4EC9-B253-CF567928FF78}"/>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第一天复盘：问题、证据与方案</a:t>
            </a:r>
          </a:p>
        </p:txBody>
      </p:sp>
      <p:sp>
        <p:nvSpPr>
          <p:cNvPr id="2" name="">
            <a:extLst xmlns:a="http://schemas.openxmlformats.org/drawingml/2006/main">
              <a:ext uri="{FF2B5EF4-FFF2-40B4-BE49-F238E27FC236}">
                <a16:creationId xmlns:a16="http://schemas.microsoft.com/office/drawing/2014/main" id="{2D90795E-5C61-4F30-874D-76711810CB7A}"/>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将三个专题的产出关联到同一个维修交付目标</a:t>
            </a:r>
          </a:p>
        </p:txBody>
      </p:sp>
      <p:sp>
        <p:nvSpPr>
          <p:cNvPr id="3" name="">
            <a:extLst xmlns:a="http://schemas.openxmlformats.org/drawingml/2006/main">
              <a:ext uri="{FF2B5EF4-FFF2-40B4-BE49-F238E27FC236}">
                <a16:creationId xmlns:a16="http://schemas.microsoft.com/office/drawing/2014/main" id="{164010C4-7FF8-4A4E-A7B1-EAEAAC91F114}"/>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第1天  供应商管理与风险控制  10分钟</a:t>
            </a:r>
          </a:p>
        </p:txBody>
      </p:sp>
      <p:sp>
        <p:nvSpPr>
          <p:cNvPr id="4" name="">
            <a:extLst xmlns:a="http://schemas.openxmlformats.org/drawingml/2006/main">
              <a:ext uri="{FF2B5EF4-FFF2-40B4-BE49-F238E27FC236}">
                <a16:creationId xmlns:a16="http://schemas.microsoft.com/office/drawing/2014/main" id="{6BA0C653-0FE3-4977-96F8-0A249E739FF1}"/>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47 / 94</a:t>
            </a:r>
          </a:p>
        </p:txBody>
      </p:sp>
      <p:graphicFrame>
        <p:nvGraphicFramePr>
          <p:cNvPr id="5" name="">
            <a:extLst xmlns:a="http://schemas.openxmlformats.org/drawingml/2006/main">
              <a:ext uri="{FF2B5EF4-FFF2-40B4-BE49-F238E27FC236}">
                <a16:creationId xmlns:a16="http://schemas.microsoft.com/office/drawing/2014/main" id="{E2F64E22-3DAC-4C5B-B74B-3AE6B572B87C}"/>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762250"/>
                <a:gridCol w="4095750"/>
                <a:gridCol w="4114800"/>
              </a:tblGrid>
              <a:tr h="800100">
                <a:tc>
                  <a:txBody>
                    <a:bodyPr lIns="114300" tIns="114300" rIns="114300" bIns="114300"/>
                    <a:lstStyle/>
                    <a:p>
                      <a:r>
                        <a:rPr sz="1725" b="1">
                          <a:solidFill>
                            <a:srgbClr val="477FA8"/>
                          </a:solidFill>
                          <a:latin typeface="PingFang SC"/>
                          <a:ea typeface="PingFang SC"/>
                          <a:cs typeface="PingFang SC"/>
                        </a:rPr>
                        <a:t>专题</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今天形成的结果</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第二天继续确认</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需求与计划</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缺口及启动依据</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需求变更怎样影响订单</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询价与价格</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可行方案及成本差异</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交付承诺如何持续更新</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供应商风险</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绩效、门槛与保障措施</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关键件中断怎样应对</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企业待验证问题</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事实、根因与缺失证据</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提交管理员后继续讨论</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1477293083"/>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9B5FC7-DA8B-406E-9E75-72F8C611F009}"/>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第二天：承诺能否转化为按期可用？</a:t>
            </a:r>
          </a:p>
        </p:txBody>
      </p:sp>
      <p:sp>
        <p:nvSpPr>
          <p:cNvPr id="2" name="">
            <a:extLst xmlns:a="http://schemas.openxmlformats.org/drawingml/2006/main">
              <a:ext uri="{FF2B5EF4-FFF2-40B4-BE49-F238E27FC236}">
                <a16:creationId xmlns:a16="http://schemas.microsoft.com/office/drawing/2014/main" id="{CF374EC5-F037-4513-8763-E3C8F5C35D73}"/>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订单执行与交付管理，从维修需求时点检查风险</a:t>
            </a:r>
          </a:p>
        </p:txBody>
      </p:sp>
      <p:sp>
        <p:nvSpPr>
          <p:cNvPr id="3" name="">
            <a:extLst xmlns:a="http://schemas.openxmlformats.org/drawingml/2006/main">
              <a:ext uri="{FF2B5EF4-FFF2-40B4-BE49-F238E27FC236}">
                <a16:creationId xmlns:a16="http://schemas.microsoft.com/office/drawing/2014/main" id="{EA0CD94B-31C7-4AB2-8673-46A7F757F216}"/>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订单执行与交付管理  3分钟</a:t>
            </a:r>
          </a:p>
        </p:txBody>
      </p:sp>
      <p:sp>
        <p:nvSpPr>
          <p:cNvPr id="4" name="">
            <a:extLst xmlns:a="http://schemas.openxmlformats.org/drawingml/2006/main">
              <a:ext uri="{FF2B5EF4-FFF2-40B4-BE49-F238E27FC236}">
                <a16:creationId xmlns:a16="http://schemas.microsoft.com/office/drawing/2014/main" id="{70238ED0-038D-43EB-B4A2-55B01A60B178}"/>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48 / 94</a:t>
            </a:r>
          </a:p>
        </p:txBody>
      </p:sp>
      <p:sp>
        <p:nvSpPr>
          <p:cNvPr id="5" name="">
            <a:extLst xmlns:a="http://schemas.openxmlformats.org/drawingml/2006/main">
              <a:ext uri="{FF2B5EF4-FFF2-40B4-BE49-F238E27FC236}">
                <a16:creationId xmlns:a16="http://schemas.microsoft.com/office/drawing/2014/main" id="{6336E7B6-CFBE-4DF5-92DE-B5BC1ABFAB7E}"/>
              </a:ext>
            </a:extLst>
          </p:cNvPr>
          <p:cNvSpPr>
            <a:spLocks xmlns:a="http://schemas.openxmlformats.org/drawingml/2006/main" noGrp="1"/>
          </p:cNvSpPr>
          <p:nvPr/>
        </p:nvSpPr>
        <p:spPr>
          <a:xfrm xmlns:a="http://schemas.openxmlformats.org/drawingml/2006/main">
            <a:off x="609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第一天留下的问题</a:t>
            </a:r>
          </a:p>
        </p:txBody>
      </p:sp>
      <p:sp>
        <p:nvSpPr>
          <p:cNvPr id="6" name="">
            <a:extLst xmlns:a="http://schemas.openxmlformats.org/drawingml/2006/main">
              <a:ext uri="{FF2B5EF4-FFF2-40B4-BE49-F238E27FC236}">
                <a16:creationId xmlns:a16="http://schemas.microsoft.com/office/drawing/2014/main" id="{4012E2DF-1A52-4CB7-9235-4062F535B70A}"/>
              </a:ext>
            </a:extLst>
          </p:cNvPr>
          <p:cNvSpPr>
            <a:spLocks xmlns:a="http://schemas.openxmlformats.org/drawingml/2006/main" noGrp="1"/>
          </p:cNvSpPr>
          <p:nvPr/>
        </p:nvSpPr>
        <p:spPr>
          <a:xfrm xmlns:a="http://schemas.openxmlformats.org/drawingml/2006/main">
            <a:off x="609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需求改变后承诺是否更新？</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供应商评分与现实交期一致吗？</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缺口会影响哪一项维修工作？</a:t>
            </a:r>
          </a:p>
        </p:txBody>
      </p:sp>
      <p:sp>
        <p:nvSpPr>
          <p:cNvPr id="7" name="">
            <a:extLst xmlns:a="http://schemas.openxmlformats.org/drawingml/2006/main">
              <a:ext uri="{FF2B5EF4-FFF2-40B4-BE49-F238E27FC236}">
                <a16:creationId xmlns:a16="http://schemas.microsoft.com/office/drawing/2014/main" id="{A0264A0F-4470-4FB7-9294-1E0051331C62}"/>
              </a:ext>
            </a:extLst>
          </p:cNvPr>
          <p:cNvSpPr>
            <a:spLocks xmlns:a="http://schemas.openxmlformats.org/drawingml/2006/main" noGrp="1"/>
          </p:cNvSpPr>
          <p:nvPr/>
        </p:nvSpPr>
        <p:spPr>
          <a:xfrm xmlns:a="http://schemas.openxmlformats.org/drawingml/2006/main">
            <a:off x="6324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本专题输出</a:t>
            </a:r>
          </a:p>
        </p:txBody>
      </p:sp>
      <p:sp>
        <p:nvSpPr>
          <p:cNvPr id="8" name="">
            <a:extLst xmlns:a="http://schemas.openxmlformats.org/drawingml/2006/main">
              <a:ext uri="{FF2B5EF4-FFF2-40B4-BE49-F238E27FC236}">
                <a16:creationId xmlns:a16="http://schemas.microsoft.com/office/drawing/2014/main" id="{AE11C718-D10A-4C1D-91ED-B58DC1260F43}"/>
              </a:ext>
            </a:extLst>
          </p:cNvPr>
          <p:cNvSpPr>
            <a:spLocks xmlns:a="http://schemas.openxmlformats.org/drawingml/2006/main" noGrp="1"/>
          </p:cNvSpPr>
          <p:nvPr/>
        </p:nvSpPr>
        <p:spPr>
          <a:xfrm xmlns:a="http://schemas.openxmlformats.org/drawingml/2006/main">
            <a:off x="6324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按维修影响排序的异常清单</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催交与升级处理建议</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可复核的交付信息记录</a:t>
            </a:r>
          </a:p>
        </p:txBody>
      </p:sp>
    </p:spTree>
    <p:extLst>
      <p:ext uri="{BB962C8B-B14F-4D97-AF65-F5344CB8AC3E}">
        <p14:creationId xmlns:p14="http://schemas.microsoft.com/office/powerpoint/2010/main" val="101355366"/>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F4A0016C-4D78-42AA-AD01-C4AC73C85BE4}"/>
              </a:ext>
            </a:extLst>
          </p:cNvPr>
          <p:cNvCxnSpPr>
            <a:stCxn xmlns:a="http://schemas.openxmlformats.org/drawingml/2006/main" id="7" idx="3"/>
            <a:endCxn xmlns:a="http://schemas.openxmlformats.org/drawingml/2006/main" id="10" idx="1"/>
          </p:cNvCxnSpPr>
          <p:nvPr/>
        </p:nvCxnSpPr>
        <p:spPr>
          <a:xfrm xmlns:a="http://schemas.openxmlformats.org/drawingml/2006/main">
            <a:off x="77978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1C6A0CF3-CB2A-4C16-9D9E-0AD805260489}"/>
              </a:ext>
            </a:extLst>
          </p:cNvPr>
          <p:cNvCxnSpPr>
            <a:stCxn xmlns:a="http://schemas.openxmlformats.org/drawingml/2006/main" id="5" idx="3"/>
            <a:endCxn xmlns:a="http://schemas.openxmlformats.org/drawingml/2006/main" id="7" idx="1"/>
          </p:cNvCxnSpPr>
          <p:nvPr/>
        </p:nvCxnSpPr>
        <p:spPr>
          <a:xfrm xmlns:a="http://schemas.openxmlformats.org/drawingml/2006/main">
            <a:off x="40132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4" name="">
            <a:extLst xmlns:a="http://schemas.openxmlformats.org/drawingml/2006/main">
              <a:ext uri="{FF2B5EF4-FFF2-40B4-BE49-F238E27FC236}">
                <a16:creationId xmlns:a16="http://schemas.microsoft.com/office/drawing/2014/main" id="{DD2CF6C2-C90E-4144-8F4B-7BAB768825EE}"/>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订单交付的三条时间线</a:t>
            </a:r>
          </a:p>
        </p:txBody>
      </p:sp>
      <p:sp>
        <p:nvSpPr>
          <p:cNvPr id="2" name="">
            <a:extLst xmlns:a="http://schemas.openxmlformats.org/drawingml/2006/main">
              <a:ext uri="{FF2B5EF4-FFF2-40B4-BE49-F238E27FC236}">
                <a16:creationId xmlns:a16="http://schemas.microsoft.com/office/drawing/2014/main" id="{3958DBAC-5154-40DF-9D64-9236E245A597}"/>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日期都要关联订单行与维修需求</a:t>
            </a:r>
          </a:p>
        </p:txBody>
      </p:sp>
      <p:sp>
        <p:nvSpPr>
          <p:cNvPr id="3" name="">
            <a:extLst xmlns:a="http://schemas.openxmlformats.org/drawingml/2006/main">
              <a:ext uri="{FF2B5EF4-FFF2-40B4-BE49-F238E27FC236}">
                <a16:creationId xmlns:a16="http://schemas.microsoft.com/office/drawing/2014/main" id="{92795A34-D7F6-44C3-95FE-E1FDB40DC7D7}"/>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订单执行与交付管理  5分钟</a:t>
            </a:r>
          </a:p>
        </p:txBody>
      </p:sp>
      <p:sp>
        <p:nvSpPr>
          <p:cNvPr id="4" name="">
            <a:extLst xmlns:a="http://schemas.openxmlformats.org/drawingml/2006/main">
              <a:ext uri="{FF2B5EF4-FFF2-40B4-BE49-F238E27FC236}">
                <a16:creationId xmlns:a16="http://schemas.microsoft.com/office/drawing/2014/main" id="{F82FBC50-3EE2-4A15-857B-FE8DAC666FD0}"/>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49 / 94</a:t>
            </a:r>
          </a:p>
        </p:txBody>
      </p:sp>
      <p:sp>
        <p:nvSpPr>
          <p:cNvPr id="5" name="">
            <a:extLst xmlns:a="http://schemas.openxmlformats.org/drawingml/2006/main">
              <a:ext uri="{FF2B5EF4-FFF2-40B4-BE49-F238E27FC236}">
                <a16:creationId xmlns:a16="http://schemas.microsoft.com/office/drawing/2014/main" id="{C9D4D7EE-B5B8-44AC-A0E0-D7D359EDD0C5}"/>
              </a:ext>
            </a:extLst>
          </p:cNvPr>
          <p:cNvSpPr>
            <a:spLocks xmlns:a="http://schemas.openxmlformats.org/drawingml/2006/main" noGrp="1"/>
          </p:cNvSpPr>
          <p:nvPr/>
        </p:nvSpPr>
        <p:spPr>
          <a:xfrm xmlns:a="http://schemas.openxmlformats.org/drawingml/2006/main">
            <a:off x="609600" y="2057400"/>
            <a:ext cx="340360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原承诺到货</a:t>
            </a:r>
          </a:p>
        </p:txBody>
      </p:sp>
      <p:sp>
        <p:nvSpPr>
          <p:cNvPr id="6" name="">
            <a:extLst xmlns:a="http://schemas.openxmlformats.org/drawingml/2006/main">
              <a:ext uri="{FF2B5EF4-FFF2-40B4-BE49-F238E27FC236}">
                <a16:creationId xmlns:a16="http://schemas.microsoft.com/office/drawing/2014/main" id="{FDF508C6-F427-4D2E-8723-A14B7EBB2140}"/>
              </a:ext>
            </a:extLst>
          </p:cNvPr>
          <p:cNvSpPr>
            <a:spLocks xmlns:a="http://schemas.openxmlformats.org/drawingml/2006/main" noGrp="1"/>
          </p:cNvSpPr>
          <p:nvPr/>
        </p:nvSpPr>
        <p:spPr>
          <a:xfrm xmlns:a="http://schemas.openxmlformats.org/drawingml/2006/main">
            <a:off x="571500" y="3486150"/>
            <a:ext cx="3479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采购时确认的基线</a:t>
            </a:r>
          </a:p>
        </p:txBody>
      </p:sp>
      <p:sp>
        <p:nvSpPr>
          <p:cNvPr id="7" name="">
            <a:extLst xmlns:a="http://schemas.openxmlformats.org/drawingml/2006/main">
              <a:ext uri="{FF2B5EF4-FFF2-40B4-BE49-F238E27FC236}">
                <a16:creationId xmlns:a16="http://schemas.microsoft.com/office/drawing/2014/main" id="{2F54212C-583A-4BDB-935A-98F750AA0865}"/>
              </a:ext>
            </a:extLst>
          </p:cNvPr>
          <p:cNvSpPr>
            <a:spLocks xmlns:a="http://schemas.openxmlformats.org/drawingml/2006/main" noGrp="1"/>
          </p:cNvSpPr>
          <p:nvPr/>
        </p:nvSpPr>
        <p:spPr>
          <a:xfrm xmlns:a="http://schemas.openxmlformats.org/drawingml/2006/main">
            <a:off x="4394200" y="2057400"/>
            <a:ext cx="340360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最新确认到货</a:t>
            </a:r>
          </a:p>
        </p:txBody>
      </p:sp>
      <p:sp>
        <p:nvSpPr>
          <p:cNvPr id="9" name="">
            <a:extLst xmlns:a="http://schemas.openxmlformats.org/drawingml/2006/main">
              <a:ext uri="{FF2B5EF4-FFF2-40B4-BE49-F238E27FC236}">
                <a16:creationId xmlns:a16="http://schemas.microsoft.com/office/drawing/2014/main" id="{BDE21810-0DF3-4FF2-8AA1-B272DB039C9D}"/>
              </a:ext>
            </a:extLst>
          </p:cNvPr>
          <p:cNvSpPr>
            <a:spLocks xmlns:a="http://schemas.openxmlformats.org/drawingml/2006/main" noGrp="1"/>
          </p:cNvSpPr>
          <p:nvPr/>
        </p:nvSpPr>
        <p:spPr>
          <a:xfrm xmlns:a="http://schemas.openxmlformats.org/drawingml/2006/main">
            <a:off x="4356100" y="3486150"/>
            <a:ext cx="3479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当前供应与物流信息</a:t>
            </a:r>
          </a:p>
        </p:txBody>
      </p:sp>
      <p:sp>
        <p:nvSpPr>
          <p:cNvPr id="10" name="">
            <a:extLst xmlns:a="http://schemas.openxmlformats.org/drawingml/2006/main">
              <a:ext uri="{FF2B5EF4-FFF2-40B4-BE49-F238E27FC236}">
                <a16:creationId xmlns:a16="http://schemas.microsoft.com/office/drawing/2014/main" id="{13AB662A-793C-4957-AC0A-A51F936D71EA}"/>
              </a:ext>
            </a:extLst>
          </p:cNvPr>
          <p:cNvSpPr>
            <a:spLocks xmlns:a="http://schemas.openxmlformats.org/drawingml/2006/main" noGrp="1"/>
          </p:cNvSpPr>
          <p:nvPr/>
        </p:nvSpPr>
        <p:spPr>
          <a:xfrm xmlns:a="http://schemas.openxmlformats.org/drawingml/2006/main">
            <a:off x="8178800" y="2057400"/>
            <a:ext cx="340360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维修需求日期</a:t>
            </a:r>
          </a:p>
        </p:txBody>
      </p:sp>
      <p:sp>
        <p:nvSpPr>
          <p:cNvPr id="12" name="">
            <a:extLst xmlns:a="http://schemas.openxmlformats.org/drawingml/2006/main">
              <a:ext uri="{FF2B5EF4-FFF2-40B4-BE49-F238E27FC236}">
                <a16:creationId xmlns:a16="http://schemas.microsoft.com/office/drawing/2014/main" id="{62B5A63B-60E3-44DF-B87C-8BCFC3F90187}"/>
              </a:ext>
            </a:extLst>
          </p:cNvPr>
          <p:cNvSpPr>
            <a:spLocks xmlns:a="http://schemas.openxmlformats.org/drawingml/2006/main" noGrp="1"/>
          </p:cNvSpPr>
          <p:nvPr/>
        </p:nvSpPr>
        <p:spPr>
          <a:xfrm xmlns:a="http://schemas.openxmlformats.org/drawingml/2006/main">
            <a:off x="8140700" y="3486150"/>
            <a:ext cx="3479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实际需要可用的时点</a:t>
            </a:r>
          </a:p>
        </p:txBody>
      </p:sp>
      <p:sp>
        <p:nvSpPr>
          <p:cNvPr id="13" name="">
            <a:extLst xmlns:a="http://schemas.openxmlformats.org/drawingml/2006/main">
              <a:ext uri="{FF2B5EF4-FFF2-40B4-BE49-F238E27FC236}">
                <a16:creationId xmlns:a16="http://schemas.microsoft.com/office/drawing/2014/main" id="{F3180EFB-40F1-47A6-957C-C413C1F0460D}"/>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承诺变化不一定造成缺料，缺料也不只来自承诺变化</a:t>
            </a:r>
          </a:p>
        </p:txBody>
      </p:sp>
    </p:spTree>
    <p:extLst>
      <p:ext uri="{BB962C8B-B14F-4D97-AF65-F5344CB8AC3E}">
        <p14:creationId xmlns:p14="http://schemas.microsoft.com/office/powerpoint/2010/main" val="80431613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3BE046-BBAD-4E30-91AC-C8B366EBCD33}"/>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三个订单的交付信息</a:t>
            </a:r>
          </a:p>
        </p:txBody>
      </p:sp>
      <p:sp>
        <p:nvSpPr>
          <p:cNvPr id="2" name="">
            <a:extLst xmlns:a="http://schemas.openxmlformats.org/drawingml/2006/main">
              <a:ext uri="{FF2B5EF4-FFF2-40B4-BE49-F238E27FC236}">
                <a16:creationId xmlns:a16="http://schemas.microsoft.com/office/drawing/2014/main" id="{427FCD89-4BB9-451E-9BC4-4586B24F48B8}"/>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M04教学数据，均为相对今天的第N天</a:t>
            </a:r>
          </a:p>
        </p:txBody>
      </p:sp>
      <p:sp>
        <p:nvSpPr>
          <p:cNvPr id="3" name="">
            <a:extLst xmlns:a="http://schemas.openxmlformats.org/drawingml/2006/main">
              <a:ext uri="{FF2B5EF4-FFF2-40B4-BE49-F238E27FC236}">
                <a16:creationId xmlns:a16="http://schemas.microsoft.com/office/drawing/2014/main" id="{D4D3AF7F-FB1A-44BC-BC39-E69710F3A11D}"/>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订单执行与交付管理  6分钟</a:t>
            </a:r>
          </a:p>
        </p:txBody>
      </p:sp>
      <p:sp>
        <p:nvSpPr>
          <p:cNvPr id="4" name="">
            <a:extLst xmlns:a="http://schemas.openxmlformats.org/drawingml/2006/main">
              <a:ext uri="{FF2B5EF4-FFF2-40B4-BE49-F238E27FC236}">
                <a16:creationId xmlns:a16="http://schemas.microsoft.com/office/drawing/2014/main" id="{ECD189DA-B9A0-4D05-BCB5-B309995AD200}"/>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50 / 94</a:t>
            </a:r>
          </a:p>
        </p:txBody>
      </p:sp>
      <p:graphicFrame>
        <p:nvGraphicFramePr>
          <p:cNvPr id="5" name="">
            <a:extLst xmlns:a="http://schemas.openxmlformats.org/drawingml/2006/main">
              <a:ext uri="{FF2B5EF4-FFF2-40B4-BE49-F238E27FC236}">
                <a16:creationId xmlns:a16="http://schemas.microsoft.com/office/drawing/2014/main" id="{BC3BA27A-6536-4385-9F31-5895D86E0EDA}"/>
              </a:ext>
            </a:extLst>
          </p:cNvPr>
          <p:cNvGraphicFramePr/>
          <p:nvPr/>
        </p:nvGraphicFramePr>
        <p:xfrm>
          <a:off xmlns:a="http://schemas.openxmlformats.org/drawingml/2006/main" x="609600" y="1695450"/>
          <a:ext xmlns:a="http://schemas.openxmlformats.org/drawingml/2006/main" cx="10972800" cy="3333750"/>
        </p:xfrm>
        <a:graphic xmlns:a="http://schemas.openxmlformats.org/drawingml/2006/main">
          <a:graphicData uri="http://schemas.openxmlformats.org/drawingml/2006/table">
            <a:tbl>
              <a:tblPr/>
              <a:tblGrid>
                <a:gridCol w="2381250"/>
                <a:gridCol w="2000250"/>
                <a:gridCol w="2286000"/>
                <a:gridCol w="2286000"/>
                <a:gridCol w="2019300"/>
              </a:tblGrid>
              <a:tr h="833438">
                <a:tc>
                  <a:txBody>
                    <a:bodyPr lIns="114300" tIns="114300" rIns="114300" bIns="114300"/>
                    <a:lstStyle/>
                    <a:p>
                      <a:r>
                        <a:rPr sz="1725" b="1">
                          <a:solidFill>
                            <a:srgbClr val="477FA8"/>
                          </a:solidFill>
                          <a:latin typeface="PingFang SC"/>
                          <a:ea typeface="PingFang SC"/>
                          <a:cs typeface="PingFang SC"/>
                        </a:rPr>
                        <a:t>订单</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原承诺</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最新确认</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维修需求</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数量</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33438">
                <a:tc>
                  <a:txBody>
                    <a:bodyPr lIns="114300" tIns="114300" rIns="114300" bIns="114300"/>
                    <a:lstStyle/>
                    <a:p>
                      <a:r>
                        <a:rPr sz="1875" b="1">
                          <a:solidFill>
                            <a:srgbClr val="477FA8"/>
                          </a:solidFill>
                          <a:latin typeface="PingFang SC"/>
                          <a:ea typeface="PingFang SC"/>
                          <a:cs typeface="PingFang SC"/>
                        </a:rPr>
                        <a:t>PO-101</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第3天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第8天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第6天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2件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33438">
                <a:tc>
                  <a:txBody>
                    <a:bodyPr lIns="114300" tIns="114300" rIns="114300" bIns="114300"/>
                    <a:lstStyle/>
                    <a:p>
                      <a:r>
                        <a:rPr sz="1875" b="1">
                          <a:solidFill>
                            <a:srgbClr val="477FA8"/>
                          </a:solidFill>
                          <a:latin typeface="PingFang SC"/>
                          <a:ea typeface="PingFang SC"/>
                          <a:cs typeface="PingFang SC"/>
                        </a:rPr>
                        <a:t>PO-102</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第5天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第12天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第7天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1件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33438">
                <a:tc>
                  <a:txBody>
                    <a:bodyPr lIns="114300" tIns="114300" rIns="114300" bIns="114300"/>
                    <a:lstStyle/>
                    <a:p>
                      <a:r>
                        <a:rPr sz="1875" b="1">
                          <a:solidFill>
                            <a:srgbClr val="477FA8"/>
                          </a:solidFill>
                          <a:latin typeface="PingFang SC"/>
                          <a:ea typeface="PingFang SC"/>
                          <a:cs typeface="PingFang SC"/>
                        </a:rPr>
                        <a:t>PO-103</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第4天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第4天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第8天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5件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CE14DDA-C9AB-45B5-BB10-8C5B601746AF}"/>
              </a:ext>
            </a:extLst>
          </p:cNvPr>
          <p:cNvSpPr>
            <a:spLocks xmlns:a="http://schemas.openxmlformats.org/drawingml/2006/main" noGrp="1"/>
          </p:cNvSpPr>
          <p:nvPr/>
        </p:nvSpPr>
        <p:spPr>
          <a:xfrm xmlns:a="http://schemas.openxmlformats.org/drawingml/2006/main">
            <a:off x="628650" y="5391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讨论：应按延期幅度、订单金额，还是维修缺口优先？</a:t>
            </a:r>
          </a:p>
        </p:txBody>
      </p:sp>
    </p:spTree>
    <p:extLst>
      <p:ext uri="{BB962C8B-B14F-4D97-AF65-F5344CB8AC3E}">
        <p14:creationId xmlns:p14="http://schemas.microsoft.com/office/powerpoint/2010/main" val="29529099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D8DA18-7771-4F2F-ABF6-73B650880F7D}"/>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采购承诺变化与维修缺口</a:t>
            </a:r>
          </a:p>
        </p:txBody>
      </p:sp>
      <p:sp>
        <p:nvSpPr>
          <p:cNvPr id="2" name="">
            <a:extLst xmlns:a="http://schemas.openxmlformats.org/drawingml/2006/main">
              <a:ext uri="{FF2B5EF4-FFF2-40B4-BE49-F238E27FC236}">
                <a16:creationId xmlns:a16="http://schemas.microsoft.com/office/drawing/2014/main" id="{3E58FD58-E0D7-4691-B6DB-56A492794EA0}"/>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M04基础情景，提前到货缓冲为0天</a:t>
            </a:r>
          </a:p>
        </p:txBody>
      </p:sp>
      <p:sp>
        <p:nvSpPr>
          <p:cNvPr id="3" name="">
            <a:extLst xmlns:a="http://schemas.openxmlformats.org/drawingml/2006/main">
              <a:ext uri="{FF2B5EF4-FFF2-40B4-BE49-F238E27FC236}">
                <a16:creationId xmlns:a16="http://schemas.microsoft.com/office/drawing/2014/main" id="{CD5AFC87-435F-4DCD-98F7-A70A519EA801}"/>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订单执行与交付管理  7分钟</a:t>
            </a:r>
          </a:p>
        </p:txBody>
      </p:sp>
      <p:sp>
        <p:nvSpPr>
          <p:cNvPr id="4" name="">
            <a:extLst xmlns:a="http://schemas.openxmlformats.org/drawingml/2006/main">
              <a:ext uri="{FF2B5EF4-FFF2-40B4-BE49-F238E27FC236}">
                <a16:creationId xmlns:a16="http://schemas.microsoft.com/office/drawing/2014/main" id="{A1C3187C-D05A-4FEF-8475-EA4090CCB589}"/>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51 / 94</a:t>
            </a:r>
          </a:p>
        </p:txBody>
      </p:sp>
      <p:graphicFrame>
        <p:nvGraphicFramePr>
          <p:cNvPr id="5" name="Chart">
            <a:extLst xmlns:a="http://schemas.openxmlformats.org/drawingml/2006/main">
              <a:ext uri="{FF2B5EF4-FFF2-40B4-BE49-F238E27FC236}">
                <a16:creationId xmlns:a16="http://schemas.microsoft.com/office/drawing/2014/main" id="{AA3C99F1-A9F4-4A53-B4F7-F0F74D614B1C}"/>
              </a:ext>
            </a:extLst>
          </p:cNvPr>
          <p:cNvGraphicFramePr/>
          <p:nvPr/>
        </p:nvGraphicFramePr>
        <p:xfrm>
          <a:off xmlns:a="http://schemas.openxmlformats.org/drawingml/2006/main" x="609600" y="191452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7aff7347836542cb"/>
          </a:graphicData>
        </a:graphic>
      </p:graphicFrame>
      <p:sp>
        <p:nvSpPr>
          <p:cNvPr id="6" name="">
            <a:extLst xmlns:a="http://schemas.openxmlformats.org/drawingml/2006/main">
              <a:ext uri="{FF2B5EF4-FFF2-40B4-BE49-F238E27FC236}">
                <a16:creationId xmlns:a16="http://schemas.microsoft.com/office/drawing/2014/main" id="{0B5E22B0-6B44-41C0-863D-B5EC94A567A2}"/>
              </a:ext>
            </a:extLst>
          </p:cNvPr>
          <p:cNvSpPr>
            <a:spLocks xmlns:a="http://schemas.openxmlformats.org/drawingml/2006/main" noGrp="1"/>
          </p:cNvSpPr>
          <p:nvPr/>
        </p:nvSpPr>
        <p:spPr>
          <a:xfrm xmlns:a="http://schemas.openxmlformats.org/drawingml/2006/main">
            <a:off x="619125" y="15621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时间（天）</a:t>
            </a:r>
          </a:p>
        </p:txBody>
      </p:sp>
      <p:sp>
        <p:nvSpPr>
          <p:cNvPr id="7" name="">
            <a:extLst xmlns:a="http://schemas.openxmlformats.org/drawingml/2006/main">
              <a:ext uri="{FF2B5EF4-FFF2-40B4-BE49-F238E27FC236}">
                <a16:creationId xmlns:a16="http://schemas.microsoft.com/office/drawing/2014/main" id="{23AE3684-E533-4FE1-9364-65E3CFDDBF60}"/>
              </a:ext>
            </a:extLst>
          </p:cNvPr>
          <p:cNvSpPr>
            <a:spLocks xmlns:a="http://schemas.openxmlformats.org/drawingml/2006/main" noGrp="1"/>
          </p:cNvSpPr>
          <p:nvPr/>
        </p:nvSpPr>
        <p:spPr>
          <a:xfrm xmlns:a="http://schemas.openxmlformats.org/drawingml/2006/main">
            <a:off x="628650" y="5391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2单存在维修延期风险，本例优先核对PO-102的5天缺口</a:t>
            </a:r>
          </a:p>
        </p:txBody>
      </p:sp>
    </p:spTree>
    <p:extLst>
      <p:ext uri="{BB962C8B-B14F-4D97-AF65-F5344CB8AC3E}">
        <p14:creationId xmlns:p14="http://schemas.microsoft.com/office/powerpoint/2010/main" val="1579688639"/>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94B08C8-5A34-4270-8256-EA8594BD66B7}"/>
              </a:ext>
            </a:extLst>
          </p:cNvPr>
          <p:cNvCxnSpPr>
            <a:stCxn xmlns:a="http://schemas.openxmlformats.org/drawingml/2006/main" id="10" idx="3"/>
            <a:endCxn xmlns:a="http://schemas.openxmlformats.org/drawingml/2006/main" id="13" idx="1"/>
          </p:cNvCxnSpPr>
          <p:nvPr/>
        </p:nvCxnSpPr>
        <p:spPr>
          <a:xfrm xmlns:a="http://schemas.openxmlformats.org/drawingml/2006/main">
            <a:off x="87439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11" name="">
            <a:extLst xmlns:a="http://schemas.openxmlformats.org/drawingml/2006/main">
              <a:ext uri="{FF2B5EF4-FFF2-40B4-BE49-F238E27FC236}">
                <a16:creationId xmlns:a16="http://schemas.microsoft.com/office/drawing/2014/main" id="{11B6721A-FFFF-47A2-A7DC-C949E1809A10}"/>
              </a:ext>
            </a:extLst>
          </p:cNvPr>
          <p:cNvCxnSpPr>
            <a:stCxn xmlns:a="http://schemas.openxmlformats.org/drawingml/2006/main" id="7" idx="3"/>
            <a:endCxn xmlns:a="http://schemas.openxmlformats.org/drawingml/2006/main" id="10" idx="1"/>
          </p:cNvCxnSpPr>
          <p:nvPr/>
        </p:nvCxnSpPr>
        <p:spPr>
          <a:xfrm xmlns:a="http://schemas.openxmlformats.org/drawingml/2006/main">
            <a:off x="59055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B3053FA7-135F-481C-A56F-689B7CA61036}"/>
              </a:ext>
            </a:extLst>
          </p:cNvPr>
          <p:cNvCxnSpPr>
            <a:stCxn xmlns:a="http://schemas.openxmlformats.org/drawingml/2006/main" id="5" idx="3"/>
            <a:endCxn xmlns:a="http://schemas.openxmlformats.org/drawingml/2006/main" id="7" idx="1"/>
          </p:cNvCxnSpPr>
          <p:nvPr/>
        </p:nvCxnSpPr>
        <p:spPr>
          <a:xfrm xmlns:a="http://schemas.openxmlformats.org/drawingml/2006/main">
            <a:off x="30670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7" name="">
            <a:extLst xmlns:a="http://schemas.openxmlformats.org/drawingml/2006/main">
              <a:ext uri="{FF2B5EF4-FFF2-40B4-BE49-F238E27FC236}">
                <a16:creationId xmlns:a16="http://schemas.microsoft.com/office/drawing/2014/main" id="{0E529326-5145-451A-AD41-94F8775D25F0}"/>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催交问题怎样获得有效答复？</a:t>
            </a:r>
          </a:p>
        </p:txBody>
      </p:sp>
      <p:sp>
        <p:nvSpPr>
          <p:cNvPr id="2" name="">
            <a:extLst xmlns:a="http://schemas.openxmlformats.org/drawingml/2006/main">
              <a:ext uri="{FF2B5EF4-FFF2-40B4-BE49-F238E27FC236}">
                <a16:creationId xmlns:a16="http://schemas.microsoft.com/office/drawing/2014/main" id="{10F10078-912E-46A6-8D4B-6490258EA46B}"/>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从“请尽快发货”改为可核实的交付事项</a:t>
            </a:r>
          </a:p>
        </p:txBody>
      </p:sp>
      <p:sp>
        <p:nvSpPr>
          <p:cNvPr id="3" name="">
            <a:extLst xmlns:a="http://schemas.openxmlformats.org/drawingml/2006/main">
              <a:ext uri="{FF2B5EF4-FFF2-40B4-BE49-F238E27FC236}">
                <a16:creationId xmlns:a16="http://schemas.microsoft.com/office/drawing/2014/main" id="{0E73D1E2-ACA0-4737-95CD-16888F01BCA4}"/>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订单执行与交付管理  6分钟</a:t>
            </a:r>
          </a:p>
        </p:txBody>
      </p:sp>
      <p:sp>
        <p:nvSpPr>
          <p:cNvPr id="4" name="">
            <a:extLst xmlns:a="http://schemas.openxmlformats.org/drawingml/2006/main">
              <a:ext uri="{FF2B5EF4-FFF2-40B4-BE49-F238E27FC236}">
                <a16:creationId xmlns:a16="http://schemas.microsoft.com/office/drawing/2014/main" id="{83A1FB52-AD03-49EF-A8CD-BC9D4AA3A7F7}"/>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52 / 94</a:t>
            </a:r>
          </a:p>
        </p:txBody>
      </p:sp>
      <p:sp>
        <p:nvSpPr>
          <p:cNvPr id="5" name="">
            <a:extLst xmlns:a="http://schemas.openxmlformats.org/drawingml/2006/main">
              <a:ext uri="{FF2B5EF4-FFF2-40B4-BE49-F238E27FC236}">
                <a16:creationId xmlns:a16="http://schemas.microsoft.com/office/drawing/2014/main" id="{66A99514-90E7-4705-93C9-B7A14080BA07}"/>
              </a:ext>
            </a:extLst>
          </p:cNvPr>
          <p:cNvSpPr>
            <a:spLocks xmlns:a="http://schemas.openxmlformats.org/drawingml/2006/main" noGrp="1"/>
          </p:cNvSpPr>
          <p:nvPr/>
        </p:nvSpPr>
        <p:spPr>
          <a:xfrm xmlns:a="http://schemas.openxmlformats.org/drawingml/2006/main">
            <a:off x="6096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明确订单行</a:t>
            </a:r>
          </a:p>
        </p:txBody>
      </p:sp>
      <p:sp>
        <p:nvSpPr>
          <p:cNvPr id="6" name="">
            <a:extLst xmlns:a="http://schemas.openxmlformats.org/drawingml/2006/main">
              <a:ext uri="{FF2B5EF4-FFF2-40B4-BE49-F238E27FC236}">
                <a16:creationId xmlns:a16="http://schemas.microsoft.com/office/drawing/2014/main" id="{E859D23E-9AD9-4DF3-9F78-80E410B504DE}"/>
              </a:ext>
            </a:extLst>
          </p:cNvPr>
          <p:cNvSpPr>
            <a:spLocks xmlns:a="http://schemas.openxmlformats.org/drawingml/2006/main" noGrp="1"/>
          </p:cNvSpPr>
          <p:nvPr/>
        </p:nvSpPr>
        <p:spPr>
          <a:xfrm xmlns:a="http://schemas.openxmlformats.org/drawingml/2006/main">
            <a:off x="5715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件号、数量与需求日</a:t>
            </a:r>
          </a:p>
        </p:txBody>
      </p:sp>
      <p:sp>
        <p:nvSpPr>
          <p:cNvPr id="7" name="">
            <a:extLst xmlns:a="http://schemas.openxmlformats.org/drawingml/2006/main">
              <a:ext uri="{FF2B5EF4-FFF2-40B4-BE49-F238E27FC236}">
                <a16:creationId xmlns:a16="http://schemas.microsoft.com/office/drawing/2014/main" id="{2B1BC532-133F-4460-ABF4-5430CC2475E9}"/>
              </a:ext>
            </a:extLst>
          </p:cNvPr>
          <p:cNvSpPr>
            <a:spLocks xmlns:a="http://schemas.openxmlformats.org/drawingml/2006/main" noGrp="1"/>
          </p:cNvSpPr>
          <p:nvPr/>
        </p:nvSpPr>
        <p:spPr>
          <a:xfrm xmlns:a="http://schemas.openxmlformats.org/drawingml/2006/main">
            <a:off x="34480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确认当前状态</a:t>
            </a:r>
          </a:p>
        </p:txBody>
      </p:sp>
      <p:sp>
        <p:nvSpPr>
          <p:cNvPr id="9" name="">
            <a:extLst xmlns:a="http://schemas.openxmlformats.org/drawingml/2006/main">
              <a:ext uri="{FF2B5EF4-FFF2-40B4-BE49-F238E27FC236}">
                <a16:creationId xmlns:a16="http://schemas.microsoft.com/office/drawing/2014/main" id="{ECF61F47-EE81-4C3D-9B87-722F35F1A377}"/>
              </a:ext>
            </a:extLst>
          </p:cNvPr>
          <p:cNvSpPr>
            <a:spLocks xmlns:a="http://schemas.openxmlformats.org/drawingml/2006/main" noGrp="1"/>
          </p:cNvSpPr>
          <p:nvPr/>
        </p:nvSpPr>
        <p:spPr>
          <a:xfrm xmlns:a="http://schemas.openxmlformats.org/drawingml/2006/main">
            <a:off x="34099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备货与发运</a:t>
            </a:r>
          </a:p>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运输或清关</a:t>
            </a:r>
          </a:p>
        </p:txBody>
      </p:sp>
      <p:sp>
        <p:nvSpPr>
          <p:cNvPr id="10" name="">
            <a:extLst xmlns:a="http://schemas.openxmlformats.org/drawingml/2006/main">
              <a:ext uri="{FF2B5EF4-FFF2-40B4-BE49-F238E27FC236}">
                <a16:creationId xmlns:a16="http://schemas.microsoft.com/office/drawing/2014/main" id="{8BBB871C-7A8D-48D6-8E43-E76CBC3DC7AA}"/>
              </a:ext>
            </a:extLst>
          </p:cNvPr>
          <p:cNvSpPr>
            <a:spLocks xmlns:a="http://schemas.openxmlformats.org/drawingml/2006/main" noGrp="1"/>
          </p:cNvSpPr>
          <p:nvPr/>
        </p:nvSpPr>
        <p:spPr>
          <a:xfrm xmlns:a="http://schemas.openxmlformats.org/drawingml/2006/main">
            <a:off x="62865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记录新的承诺</a:t>
            </a:r>
          </a:p>
        </p:txBody>
      </p:sp>
      <p:sp>
        <p:nvSpPr>
          <p:cNvPr id="12" name="">
            <a:extLst xmlns:a="http://schemas.openxmlformats.org/drawingml/2006/main">
              <a:ext uri="{FF2B5EF4-FFF2-40B4-BE49-F238E27FC236}">
                <a16:creationId xmlns:a16="http://schemas.microsoft.com/office/drawing/2014/main" id="{51759DEC-884A-4C4F-A8EB-4AB27D532166}"/>
              </a:ext>
            </a:extLst>
          </p:cNvPr>
          <p:cNvSpPr>
            <a:spLocks xmlns:a="http://schemas.openxmlformats.org/drawingml/2006/main" noGrp="1"/>
          </p:cNvSpPr>
          <p:nvPr/>
        </p:nvSpPr>
        <p:spPr>
          <a:xfrm xmlns:a="http://schemas.openxmlformats.org/drawingml/2006/main">
            <a:off x="62484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预计到达与证据时间</a:t>
            </a:r>
          </a:p>
        </p:txBody>
      </p:sp>
      <p:sp>
        <p:nvSpPr>
          <p:cNvPr id="13" name="">
            <a:extLst xmlns:a="http://schemas.openxmlformats.org/drawingml/2006/main">
              <a:ext uri="{FF2B5EF4-FFF2-40B4-BE49-F238E27FC236}">
                <a16:creationId xmlns:a16="http://schemas.microsoft.com/office/drawing/2014/main" id="{942E2109-DCE1-47F8-BBE1-73D2BA94769E}"/>
              </a:ext>
            </a:extLst>
          </p:cNvPr>
          <p:cNvSpPr>
            <a:spLocks xmlns:a="http://schemas.openxmlformats.org/drawingml/2006/main" noGrp="1"/>
          </p:cNvSpPr>
          <p:nvPr/>
        </p:nvSpPr>
        <p:spPr>
          <a:xfrm xmlns:a="http://schemas.openxmlformats.org/drawingml/2006/main">
            <a:off x="91249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确定下一动作</a:t>
            </a:r>
          </a:p>
        </p:txBody>
      </p:sp>
      <p:sp>
        <p:nvSpPr>
          <p:cNvPr id="15" name="">
            <a:extLst xmlns:a="http://schemas.openxmlformats.org/drawingml/2006/main">
              <a:ext uri="{FF2B5EF4-FFF2-40B4-BE49-F238E27FC236}">
                <a16:creationId xmlns:a16="http://schemas.microsoft.com/office/drawing/2014/main" id="{1603944C-ADD9-49FF-8604-7B2C71EC6D99}"/>
              </a:ext>
            </a:extLst>
          </p:cNvPr>
          <p:cNvSpPr>
            <a:spLocks xmlns:a="http://schemas.openxmlformats.org/drawingml/2006/main" noGrp="1"/>
          </p:cNvSpPr>
          <p:nvPr/>
        </p:nvSpPr>
        <p:spPr>
          <a:xfrm xmlns:a="http://schemas.openxmlformats.org/drawingml/2006/main">
            <a:off x="90868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责任人、复核点与升级</a:t>
            </a:r>
          </a:p>
        </p:txBody>
      </p:sp>
      <p:sp>
        <p:nvSpPr>
          <p:cNvPr id="16" name="">
            <a:extLst xmlns:a="http://schemas.openxmlformats.org/drawingml/2006/main">
              <a:ext uri="{FF2B5EF4-FFF2-40B4-BE49-F238E27FC236}">
                <a16:creationId xmlns:a16="http://schemas.microsoft.com/office/drawing/2014/main" id="{E3003258-5833-4216-A649-4A2D62F3AFA6}"/>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每次更新说明变化、依据和后续核对时点</a:t>
            </a:r>
          </a:p>
        </p:txBody>
      </p:sp>
    </p:spTree>
    <p:extLst>
      <p:ext uri="{BB962C8B-B14F-4D97-AF65-F5344CB8AC3E}">
        <p14:creationId xmlns:p14="http://schemas.microsoft.com/office/powerpoint/2010/main" val="155226253"/>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75333C-8EAF-4B42-BFE7-719361637C05}"/>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交付预警的触发与处置</a:t>
            </a:r>
          </a:p>
        </p:txBody>
      </p:sp>
      <p:sp>
        <p:nvSpPr>
          <p:cNvPr id="2" name="">
            <a:extLst xmlns:a="http://schemas.openxmlformats.org/drawingml/2006/main">
              <a:ext uri="{FF2B5EF4-FFF2-40B4-BE49-F238E27FC236}">
                <a16:creationId xmlns:a16="http://schemas.microsoft.com/office/drawing/2014/main" id="{3D172F28-EB1E-4D97-8B25-C684069709F5}"/>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让预警指向行动，避免反复通知同一问题</a:t>
            </a:r>
          </a:p>
        </p:txBody>
      </p:sp>
      <p:sp>
        <p:nvSpPr>
          <p:cNvPr id="3" name="">
            <a:extLst xmlns:a="http://schemas.openxmlformats.org/drawingml/2006/main">
              <a:ext uri="{FF2B5EF4-FFF2-40B4-BE49-F238E27FC236}">
                <a16:creationId xmlns:a16="http://schemas.microsoft.com/office/drawing/2014/main" id="{A3ECFFB9-D860-427C-8F77-C54425400575}"/>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订单执行与交付管理  6分钟</a:t>
            </a:r>
          </a:p>
        </p:txBody>
      </p:sp>
      <p:sp>
        <p:nvSpPr>
          <p:cNvPr id="4" name="">
            <a:extLst xmlns:a="http://schemas.openxmlformats.org/drawingml/2006/main">
              <a:ext uri="{FF2B5EF4-FFF2-40B4-BE49-F238E27FC236}">
                <a16:creationId xmlns:a16="http://schemas.microsoft.com/office/drawing/2014/main" id="{EE0A102C-CC07-4D94-8234-EF433CB45243}"/>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53 / 94</a:t>
            </a:r>
          </a:p>
        </p:txBody>
      </p:sp>
      <p:graphicFrame>
        <p:nvGraphicFramePr>
          <p:cNvPr id="5" name="">
            <a:extLst xmlns:a="http://schemas.openxmlformats.org/drawingml/2006/main">
              <a:ext uri="{FF2B5EF4-FFF2-40B4-BE49-F238E27FC236}">
                <a16:creationId xmlns:a16="http://schemas.microsoft.com/office/drawing/2014/main" id="{22413CBE-DD67-41A8-B769-F7C61AD87D72}"/>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3143250"/>
                <a:gridCol w="4000500"/>
                <a:gridCol w="3829050"/>
              </a:tblGrid>
              <a:tr h="800100">
                <a:tc>
                  <a:txBody>
                    <a:bodyPr lIns="114300" tIns="114300" rIns="114300" bIns="114300"/>
                    <a:lstStyle/>
                    <a:p>
                      <a:r>
                        <a:rPr sz="1725" b="1">
                          <a:solidFill>
                            <a:srgbClr val="477FA8"/>
                          </a:solidFill>
                          <a:latin typeface="PingFang SC"/>
                          <a:ea typeface="PingFang SC"/>
                          <a:cs typeface="PingFang SC"/>
                        </a:rPr>
                        <a:t>触发情境</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需要核对</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候选处置</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最新到货晚于需求</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信息时间、可用性与关键路径</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催交、调拨或替代保障</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运输状态长期未更新</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承运与供应商记录</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追踪并确认下一更新时间</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数量或件号不一致</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订单行及发运明细</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修正证据，暂停错误承诺</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异常接近处置时限</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责任与未完成事项</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按已授权路径升级</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89112228"/>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396E91-449A-4E5C-9505-3FE66D1021FE}"/>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邮件助手的作用与业务边界</a:t>
            </a:r>
          </a:p>
        </p:txBody>
      </p:sp>
      <p:sp>
        <p:nvSpPr>
          <p:cNvPr id="2" name="">
            <a:extLst xmlns:a="http://schemas.openxmlformats.org/drawingml/2006/main">
              <a:ext uri="{FF2B5EF4-FFF2-40B4-BE49-F238E27FC236}">
                <a16:creationId xmlns:a16="http://schemas.microsoft.com/office/drawing/2014/main" id="{35DE836A-E47F-4771-9423-6E277A199E5D}"/>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信息提取与执行权限分别设计</a:t>
            </a:r>
          </a:p>
        </p:txBody>
      </p:sp>
      <p:sp>
        <p:nvSpPr>
          <p:cNvPr id="3" name="">
            <a:extLst xmlns:a="http://schemas.openxmlformats.org/drawingml/2006/main">
              <a:ext uri="{FF2B5EF4-FFF2-40B4-BE49-F238E27FC236}">
                <a16:creationId xmlns:a16="http://schemas.microsoft.com/office/drawing/2014/main" id="{BE9CECFF-67C3-48D5-BE5A-37486597E42F}"/>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订单执行与交付管理  5分钟</a:t>
            </a:r>
          </a:p>
        </p:txBody>
      </p:sp>
      <p:sp>
        <p:nvSpPr>
          <p:cNvPr id="4" name="">
            <a:extLst xmlns:a="http://schemas.openxmlformats.org/drawingml/2006/main">
              <a:ext uri="{FF2B5EF4-FFF2-40B4-BE49-F238E27FC236}">
                <a16:creationId xmlns:a16="http://schemas.microsoft.com/office/drawing/2014/main" id="{90CACA54-F7B5-4918-A030-C18DC4EB57BC}"/>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54 / 94</a:t>
            </a:r>
          </a:p>
        </p:txBody>
      </p:sp>
      <p:sp>
        <p:nvSpPr>
          <p:cNvPr id="5" name="">
            <a:extLst xmlns:a="http://schemas.openxmlformats.org/drawingml/2006/main">
              <a:ext uri="{FF2B5EF4-FFF2-40B4-BE49-F238E27FC236}">
                <a16:creationId xmlns:a16="http://schemas.microsoft.com/office/drawing/2014/main" id="{0FD91385-AF52-4F0F-96E8-6F3812C5C979}"/>
              </a:ext>
            </a:extLst>
          </p:cNvPr>
          <p:cNvSpPr>
            <a:spLocks xmlns:a="http://schemas.openxmlformats.org/drawingml/2006/main" noGrp="1"/>
          </p:cNvSpPr>
          <p:nvPr/>
        </p:nvSpPr>
        <p:spPr>
          <a:xfrm xmlns:a="http://schemas.openxmlformats.org/drawingml/2006/main">
            <a:off x="609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可辅助的工作</a:t>
            </a:r>
          </a:p>
        </p:txBody>
      </p:sp>
      <p:sp>
        <p:nvSpPr>
          <p:cNvPr id="6" name="">
            <a:extLst xmlns:a="http://schemas.openxmlformats.org/drawingml/2006/main">
              <a:ext uri="{FF2B5EF4-FFF2-40B4-BE49-F238E27FC236}">
                <a16:creationId xmlns:a16="http://schemas.microsoft.com/office/drawing/2014/main" id="{A5C73172-3920-4574-8F6A-1E65836D18D6}"/>
              </a:ext>
            </a:extLst>
          </p:cNvPr>
          <p:cNvSpPr>
            <a:spLocks xmlns:a="http://schemas.openxmlformats.org/drawingml/2006/main" noGrp="1"/>
          </p:cNvSpPr>
          <p:nvPr/>
        </p:nvSpPr>
        <p:spPr>
          <a:xfrm xmlns:a="http://schemas.openxmlformats.org/drawingml/2006/main">
            <a:off x="609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抽取新承诺与物流状态</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对比原承诺和维修需求</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生成待核对的催交草稿</a:t>
            </a:r>
          </a:p>
        </p:txBody>
      </p:sp>
      <p:sp>
        <p:nvSpPr>
          <p:cNvPr id="7" name="">
            <a:extLst xmlns:a="http://schemas.openxmlformats.org/drawingml/2006/main">
              <a:ext uri="{FF2B5EF4-FFF2-40B4-BE49-F238E27FC236}">
                <a16:creationId xmlns:a16="http://schemas.microsoft.com/office/drawing/2014/main" id="{1CB46A5A-CA3D-4FEF-85EA-2725BF796946}"/>
              </a:ext>
            </a:extLst>
          </p:cNvPr>
          <p:cNvSpPr>
            <a:spLocks xmlns:a="http://schemas.openxmlformats.org/drawingml/2006/main" noGrp="1"/>
          </p:cNvSpPr>
          <p:nvPr/>
        </p:nvSpPr>
        <p:spPr>
          <a:xfrm xmlns:a="http://schemas.openxmlformats.org/drawingml/2006/main">
            <a:off x="6324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需业务人员确认</a:t>
            </a:r>
          </a:p>
        </p:txBody>
      </p:sp>
      <p:sp>
        <p:nvSpPr>
          <p:cNvPr id="8" name="">
            <a:extLst xmlns:a="http://schemas.openxmlformats.org/drawingml/2006/main">
              <a:ext uri="{FF2B5EF4-FFF2-40B4-BE49-F238E27FC236}">
                <a16:creationId xmlns:a16="http://schemas.microsoft.com/office/drawing/2014/main" id="{A152BFA9-838D-4CAE-ABFD-349096A7E914}"/>
              </a:ext>
            </a:extLst>
          </p:cNvPr>
          <p:cNvSpPr>
            <a:spLocks xmlns:a="http://schemas.openxmlformats.org/drawingml/2006/main" noGrp="1"/>
          </p:cNvSpPr>
          <p:nvPr/>
        </p:nvSpPr>
        <p:spPr>
          <a:xfrm xmlns:a="http://schemas.openxmlformats.org/drawingml/2006/main">
            <a:off x="6324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信息真实性与承诺有效性</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变更订单及商务条件</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对外发送与升级路径</a:t>
            </a:r>
          </a:p>
        </p:txBody>
      </p:sp>
    </p:spTree>
    <p:extLst>
      <p:ext uri="{BB962C8B-B14F-4D97-AF65-F5344CB8AC3E}">
        <p14:creationId xmlns:p14="http://schemas.microsoft.com/office/powerpoint/2010/main" val="124802215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0734C17-C9A2-41D0-B40F-8CDE0E9F1341}"/>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实训核对：异常排序能否解释维修影响？</a:t>
            </a:r>
          </a:p>
        </p:txBody>
      </p:sp>
      <p:sp>
        <p:nvSpPr>
          <p:cNvPr id="2" name="">
            <a:extLst xmlns:a="http://schemas.openxmlformats.org/drawingml/2006/main">
              <a:ext uri="{FF2B5EF4-FFF2-40B4-BE49-F238E27FC236}">
                <a16:creationId xmlns:a16="http://schemas.microsoft.com/office/drawing/2014/main" id="{76065062-8ABC-4722-A78B-91B86499271E}"/>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系统计算缺口，学员补充业务判断</a:t>
            </a:r>
          </a:p>
        </p:txBody>
      </p:sp>
      <p:sp>
        <p:nvSpPr>
          <p:cNvPr id="3" name="">
            <a:extLst xmlns:a="http://schemas.openxmlformats.org/drawingml/2006/main">
              <a:ext uri="{FF2B5EF4-FFF2-40B4-BE49-F238E27FC236}">
                <a16:creationId xmlns:a16="http://schemas.microsoft.com/office/drawing/2014/main" id="{98AD3E1A-8AF3-44B8-ADA0-160C54E2786A}"/>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订单执行与交付管理  5分钟</a:t>
            </a:r>
          </a:p>
        </p:txBody>
      </p:sp>
      <p:sp>
        <p:nvSpPr>
          <p:cNvPr id="4" name="">
            <a:extLst xmlns:a="http://schemas.openxmlformats.org/drawingml/2006/main">
              <a:ext uri="{FF2B5EF4-FFF2-40B4-BE49-F238E27FC236}">
                <a16:creationId xmlns:a16="http://schemas.microsoft.com/office/drawing/2014/main" id="{6331DAEA-55DF-428E-B90D-6F6515085FA7}"/>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55 / 94</a:t>
            </a:r>
          </a:p>
        </p:txBody>
      </p:sp>
      <p:pic>
        <p:nvPicPr>
          <p:cNvPr id="5" name="">
            <a:extLst xmlns:a="http://schemas.openxmlformats.org/drawingml/2006/main">
              <a:ext uri="{FF2B5EF4-FFF2-40B4-BE49-F238E27FC236}">
                <a16:creationId xmlns:a16="http://schemas.microsoft.com/office/drawing/2014/main" id="{C99D9547-BB2C-464E-85D8-43CB9C104684}"/>
              </a:ext>
            </a:extLst>
          </p:cNvPr>
          <p:cNvPicPr>
            <a:picLocks xmlns:a="http://schemas.openxmlformats.org/drawingml/2006/main" noChangeAspect="1"/>
          </p:cNvPicPr>
          <p:nvPr/>
        </p:nvPicPr>
        <p:blipFill>
          <a:blip xmlns:r="http://schemas.openxmlformats.org/officeDocument/2006/relationships" xmlns:a="http://schemas.openxmlformats.org/drawingml/2006/main" r:embed="R686fbb3d024545e8"/>
          <a:stretch xmlns:a="http://schemas.openxmlformats.org/drawingml/2006/main"/>
        </p:blipFill>
        <p:spPr>
          <a:xfrm xmlns:a="http://schemas.openxmlformats.org/drawingml/2006/main">
            <a:off x="609600" y="2917031"/>
            <a:ext cx="7715250" cy="13096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AE37D99-6F9D-4D48-9358-05B3CE8AC9E7}"/>
              </a:ext>
            </a:extLst>
          </p:cNvPr>
          <p:cNvSpPr>
            <a:spLocks xmlns:a="http://schemas.openxmlformats.org/drawingml/2006/main" noGrp="1"/>
          </p:cNvSpPr>
          <p:nvPr/>
        </p:nvSpPr>
        <p:spPr>
          <a:xfrm xmlns:a="http://schemas.openxmlformats.org/drawingml/2006/main">
            <a:off x="8858250" y="1809750"/>
            <a:ext cx="2724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业务核对</a:t>
            </a:r>
          </a:p>
        </p:txBody>
      </p:sp>
      <p:sp>
        <p:nvSpPr>
          <p:cNvPr id="7" name="">
            <a:extLst xmlns:a="http://schemas.openxmlformats.org/drawingml/2006/main">
              <a:ext uri="{FF2B5EF4-FFF2-40B4-BE49-F238E27FC236}">
                <a16:creationId xmlns:a16="http://schemas.microsoft.com/office/drawing/2014/main" id="{38097CA3-94C9-4FA4-BE05-74DDCBC118D5}"/>
              </a:ext>
            </a:extLst>
          </p:cNvPr>
          <p:cNvSpPr>
            <a:spLocks xmlns:a="http://schemas.openxmlformats.org/drawingml/2006/main" noGrp="1"/>
          </p:cNvSpPr>
          <p:nvPr/>
        </p:nvSpPr>
        <p:spPr>
          <a:xfrm xmlns:a="http://schemas.openxmlformats.org/drawingml/2006/main">
            <a:off x="8858250" y="25622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01</a:t>
            </a:r>
          </a:p>
        </p:txBody>
      </p:sp>
      <p:sp>
        <p:nvSpPr>
          <p:cNvPr id="8" name="">
            <a:extLst xmlns:a="http://schemas.openxmlformats.org/drawingml/2006/main">
              <a:ext uri="{FF2B5EF4-FFF2-40B4-BE49-F238E27FC236}">
                <a16:creationId xmlns:a16="http://schemas.microsoft.com/office/drawing/2014/main" id="{BF7DE61E-5868-4F19-A737-2A358B42FC32}"/>
              </a:ext>
            </a:extLst>
          </p:cNvPr>
          <p:cNvSpPr>
            <a:spLocks xmlns:a="http://schemas.openxmlformats.org/drawingml/2006/main" noGrp="1"/>
          </p:cNvSpPr>
          <p:nvPr/>
        </p:nvSpPr>
        <p:spPr>
          <a:xfrm xmlns:a="http://schemas.openxmlformats.org/drawingml/2006/main">
            <a:off x="8858250" y="29432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核对2天、5天、0天缺口</a:t>
            </a:r>
          </a:p>
        </p:txBody>
      </p:sp>
      <p:sp>
        <p:nvSpPr>
          <p:cNvPr id="9" name="">
            <a:extLst xmlns:a="http://schemas.openxmlformats.org/drawingml/2006/main">
              <a:ext uri="{FF2B5EF4-FFF2-40B4-BE49-F238E27FC236}">
                <a16:creationId xmlns:a16="http://schemas.microsoft.com/office/drawing/2014/main" id="{34CEBC16-85FD-4F09-BD20-FD5DF66BE95F}"/>
              </a:ext>
            </a:extLst>
          </p:cNvPr>
          <p:cNvSpPr>
            <a:spLocks xmlns:a="http://schemas.openxmlformats.org/drawingml/2006/main" noGrp="1"/>
          </p:cNvSpPr>
          <p:nvPr/>
        </p:nvSpPr>
        <p:spPr>
          <a:xfrm xmlns:a="http://schemas.openxmlformats.org/drawingml/2006/main">
            <a:off x="8858250" y="36290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02</a:t>
            </a:r>
          </a:p>
        </p:txBody>
      </p:sp>
      <p:sp>
        <p:nvSpPr>
          <p:cNvPr id="10" name="">
            <a:extLst xmlns:a="http://schemas.openxmlformats.org/drawingml/2006/main">
              <a:ext uri="{FF2B5EF4-FFF2-40B4-BE49-F238E27FC236}">
                <a16:creationId xmlns:a16="http://schemas.microsoft.com/office/drawing/2014/main" id="{6527A45E-3B02-4173-9C5E-303E8435C5A8}"/>
              </a:ext>
            </a:extLst>
          </p:cNvPr>
          <p:cNvSpPr>
            <a:spLocks xmlns:a="http://schemas.openxmlformats.org/drawingml/2006/main" noGrp="1"/>
          </p:cNvSpPr>
          <p:nvPr/>
        </p:nvSpPr>
        <p:spPr>
          <a:xfrm xmlns:a="http://schemas.openxmlformats.org/drawingml/2006/main">
            <a:off x="8858250" y="40100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区分承诺变化与缺口</a:t>
            </a:r>
          </a:p>
        </p:txBody>
      </p:sp>
      <p:sp>
        <p:nvSpPr>
          <p:cNvPr id="11" name="">
            <a:extLst xmlns:a="http://schemas.openxmlformats.org/drawingml/2006/main">
              <a:ext uri="{FF2B5EF4-FFF2-40B4-BE49-F238E27FC236}">
                <a16:creationId xmlns:a16="http://schemas.microsoft.com/office/drawing/2014/main" id="{DA91267B-9CED-455E-9843-7C34739938D9}"/>
              </a:ext>
            </a:extLst>
          </p:cNvPr>
          <p:cNvSpPr>
            <a:spLocks xmlns:a="http://schemas.openxmlformats.org/drawingml/2006/main" noGrp="1"/>
          </p:cNvSpPr>
          <p:nvPr/>
        </p:nvSpPr>
        <p:spPr>
          <a:xfrm xmlns:a="http://schemas.openxmlformats.org/drawingml/2006/main">
            <a:off x="8858250" y="46958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03</a:t>
            </a:r>
          </a:p>
        </p:txBody>
      </p:sp>
      <p:sp>
        <p:nvSpPr>
          <p:cNvPr id="12" name="">
            <a:extLst xmlns:a="http://schemas.openxmlformats.org/drawingml/2006/main">
              <a:ext uri="{FF2B5EF4-FFF2-40B4-BE49-F238E27FC236}">
                <a16:creationId xmlns:a16="http://schemas.microsoft.com/office/drawing/2014/main" id="{414BE671-4DD0-4E06-96DE-D426E31C547B}"/>
              </a:ext>
            </a:extLst>
          </p:cNvPr>
          <p:cNvSpPr>
            <a:spLocks xmlns:a="http://schemas.openxmlformats.org/drawingml/2006/main" noGrp="1"/>
          </p:cNvSpPr>
          <p:nvPr/>
        </p:nvSpPr>
        <p:spPr>
          <a:xfrm xmlns:a="http://schemas.openxmlformats.org/drawingml/2006/main">
            <a:off x="8858250" y="50768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补充关键路径和处理责任</a:t>
            </a:r>
          </a:p>
        </p:txBody>
      </p:sp>
      <p:sp>
        <p:nvSpPr>
          <p:cNvPr id="13" name="">
            <a:extLst xmlns:a="http://schemas.openxmlformats.org/drawingml/2006/main">
              <a:ext uri="{FF2B5EF4-FFF2-40B4-BE49-F238E27FC236}">
                <a16:creationId xmlns:a16="http://schemas.microsoft.com/office/drawing/2014/main" id="{9C99FC77-633F-4D25-8C97-CF4E57F04649}"/>
              </a:ext>
            </a:extLst>
          </p:cNvPr>
          <p:cNvSpPr>
            <a:spLocks xmlns:a="http://schemas.openxmlformats.org/drawingml/2006/main" noGrp="1"/>
          </p:cNvSpPr>
          <p:nvPr/>
        </p:nvSpPr>
        <p:spPr>
          <a:xfrm xmlns:a="http://schemas.openxmlformats.org/drawingml/2006/main">
            <a:off x="628650" y="5810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培训系统实际界面，数据为模拟。计算之后仍需业务复核</a:t>
            </a:r>
          </a:p>
        </p:txBody>
      </p:sp>
    </p:spTree>
    <p:extLst>
      <p:ext uri="{BB962C8B-B14F-4D97-AF65-F5344CB8AC3E}">
        <p14:creationId xmlns:p14="http://schemas.microsoft.com/office/powerpoint/2010/main" val="5267164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1373E38-0F76-4899-8AA6-03E021648956}"/>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M04实训：形成催交与升级清单</a:t>
            </a:r>
          </a:p>
        </p:txBody>
      </p:sp>
      <p:sp>
        <p:nvSpPr>
          <p:cNvPr id="2" name="">
            <a:extLst xmlns:a="http://schemas.openxmlformats.org/drawingml/2006/main">
              <a:ext uri="{FF2B5EF4-FFF2-40B4-BE49-F238E27FC236}">
                <a16:creationId xmlns:a16="http://schemas.microsoft.com/office/drawing/2014/main" id="{6A5910CB-CBD0-40D8-82F2-45F735874DEE}"/>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20分钟，先说明优先级再提出行动</a:t>
            </a:r>
          </a:p>
        </p:txBody>
      </p:sp>
      <p:sp>
        <p:nvSpPr>
          <p:cNvPr id="3" name="">
            <a:extLst xmlns:a="http://schemas.openxmlformats.org/drawingml/2006/main">
              <a:ext uri="{FF2B5EF4-FFF2-40B4-BE49-F238E27FC236}">
                <a16:creationId xmlns:a16="http://schemas.microsoft.com/office/drawing/2014/main" id="{48645633-1B4B-4BA0-BA5E-4BBD9B9EA304}"/>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订单执行与交付管理  20分钟</a:t>
            </a:r>
          </a:p>
        </p:txBody>
      </p:sp>
      <p:sp>
        <p:nvSpPr>
          <p:cNvPr id="4" name="">
            <a:extLst xmlns:a="http://schemas.openxmlformats.org/drawingml/2006/main">
              <a:ext uri="{FF2B5EF4-FFF2-40B4-BE49-F238E27FC236}">
                <a16:creationId xmlns:a16="http://schemas.microsoft.com/office/drawing/2014/main" id="{B5479531-502A-4F48-AF57-1B762500C203}"/>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56 / 94</a:t>
            </a:r>
          </a:p>
        </p:txBody>
      </p:sp>
      <p:sp>
        <p:nvSpPr>
          <p:cNvPr id="5" name="">
            <a:extLst xmlns:a="http://schemas.openxmlformats.org/drawingml/2006/main">
              <a:ext uri="{FF2B5EF4-FFF2-40B4-BE49-F238E27FC236}">
                <a16:creationId xmlns:a16="http://schemas.microsoft.com/office/drawing/2014/main" id="{ECAD2DDF-97B0-48CE-82DE-AE485EB8AB8F}"/>
              </a:ext>
            </a:extLst>
          </p:cNvPr>
          <p:cNvSpPr>
            <a:spLocks xmlns:a="http://schemas.openxmlformats.org/drawingml/2006/main" noGrp="1"/>
          </p:cNvSpPr>
          <p:nvPr/>
        </p:nvSpPr>
        <p:spPr>
          <a:xfrm xmlns:a="http://schemas.openxmlformats.org/drawingml/2006/main">
            <a:off x="609600" y="17526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讨论与操作</a:t>
            </a:r>
          </a:p>
        </p:txBody>
      </p:sp>
      <p:sp>
        <p:nvSpPr>
          <p:cNvPr id="6" name="">
            <a:extLst xmlns:a="http://schemas.openxmlformats.org/drawingml/2006/main">
              <a:ext uri="{FF2B5EF4-FFF2-40B4-BE49-F238E27FC236}">
                <a16:creationId xmlns:a16="http://schemas.microsoft.com/office/drawing/2014/main" id="{2902F1EC-F5D7-4228-B166-1CB40180681C}"/>
              </a:ext>
            </a:extLst>
          </p:cNvPr>
          <p:cNvSpPr>
            <a:spLocks xmlns:a="http://schemas.openxmlformats.org/drawingml/2006/main" noGrp="1"/>
          </p:cNvSpPr>
          <p:nvPr/>
        </p:nvSpPr>
        <p:spPr>
          <a:xfrm xmlns:a="http://schemas.openxmlformats.org/drawingml/2006/main">
            <a:off x="609600" y="2476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01</a:t>
            </a:r>
          </a:p>
        </p:txBody>
      </p:sp>
      <p:sp>
        <p:nvSpPr>
          <p:cNvPr id="7" name="">
            <a:extLst xmlns:a="http://schemas.openxmlformats.org/drawingml/2006/main">
              <a:ext uri="{FF2B5EF4-FFF2-40B4-BE49-F238E27FC236}">
                <a16:creationId xmlns:a16="http://schemas.microsoft.com/office/drawing/2014/main" id="{35D84920-B876-4358-8AA2-902F3F3A1B95}"/>
              </a:ext>
            </a:extLst>
          </p:cNvPr>
          <p:cNvSpPr>
            <a:spLocks xmlns:a="http://schemas.openxmlformats.org/drawingml/2006/main" noGrp="1"/>
          </p:cNvSpPr>
          <p:nvPr/>
        </p:nvSpPr>
        <p:spPr>
          <a:xfrm xmlns:a="http://schemas.openxmlformats.org/drawingml/2006/main">
            <a:off x="1476375" y="23526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计算三单的承诺变化和维修缺口</a:t>
            </a:r>
          </a:p>
        </p:txBody>
      </p:sp>
      <p:sp>
        <p:nvSpPr>
          <p:cNvPr id="8" name="">
            <a:extLst xmlns:a="http://schemas.openxmlformats.org/drawingml/2006/main">
              <a:ext uri="{FF2B5EF4-FFF2-40B4-BE49-F238E27FC236}">
                <a16:creationId xmlns:a16="http://schemas.microsoft.com/office/drawing/2014/main" id="{3D02DACB-C95F-4CB5-A03E-18DF99329084}"/>
              </a:ext>
            </a:extLst>
          </p:cNvPr>
          <p:cNvSpPr>
            <a:spLocks xmlns:a="http://schemas.openxmlformats.org/drawingml/2006/main" noGrp="1"/>
          </p:cNvSpPr>
          <p:nvPr/>
        </p:nvSpPr>
        <p:spPr>
          <a:xfrm xmlns:a="http://schemas.openxmlformats.org/drawingml/2006/main">
            <a:off x="609600" y="35814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02</a:t>
            </a:r>
          </a:p>
        </p:txBody>
      </p:sp>
      <p:sp>
        <p:nvSpPr>
          <p:cNvPr id="9" name="">
            <a:extLst xmlns:a="http://schemas.openxmlformats.org/drawingml/2006/main">
              <a:ext uri="{FF2B5EF4-FFF2-40B4-BE49-F238E27FC236}">
                <a16:creationId xmlns:a16="http://schemas.microsoft.com/office/drawing/2014/main" id="{8A784C67-0DD8-4C04-B452-59286011BFF7}"/>
              </a:ext>
            </a:extLst>
          </p:cNvPr>
          <p:cNvSpPr>
            <a:spLocks xmlns:a="http://schemas.openxmlformats.org/drawingml/2006/main" noGrp="1"/>
          </p:cNvSpPr>
          <p:nvPr/>
        </p:nvSpPr>
        <p:spPr>
          <a:xfrm xmlns:a="http://schemas.openxmlformats.org/drawingml/2006/main">
            <a:off x="1476375" y="34575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比较缓冲0天与2天的结果</a:t>
            </a:r>
          </a:p>
        </p:txBody>
      </p:sp>
      <p:sp>
        <p:nvSpPr>
          <p:cNvPr id="10" name="">
            <a:extLst xmlns:a="http://schemas.openxmlformats.org/drawingml/2006/main">
              <a:ext uri="{FF2B5EF4-FFF2-40B4-BE49-F238E27FC236}">
                <a16:creationId xmlns:a16="http://schemas.microsoft.com/office/drawing/2014/main" id="{F706E2F4-569F-4454-8D68-3716D3E7E920}"/>
              </a:ext>
            </a:extLst>
          </p:cNvPr>
          <p:cNvSpPr>
            <a:spLocks xmlns:a="http://schemas.openxmlformats.org/drawingml/2006/main" noGrp="1"/>
          </p:cNvSpPr>
          <p:nvPr/>
        </p:nvSpPr>
        <p:spPr>
          <a:xfrm xmlns:a="http://schemas.openxmlformats.org/drawingml/2006/main">
            <a:off x="609600" y="4686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03</a:t>
            </a:r>
          </a:p>
        </p:txBody>
      </p:sp>
      <p:sp>
        <p:nvSpPr>
          <p:cNvPr id="11" name="">
            <a:extLst xmlns:a="http://schemas.openxmlformats.org/drawingml/2006/main">
              <a:ext uri="{FF2B5EF4-FFF2-40B4-BE49-F238E27FC236}">
                <a16:creationId xmlns:a16="http://schemas.microsoft.com/office/drawing/2014/main" id="{77047DDF-C0C5-4FAC-A647-35F18AC45EE3}"/>
              </a:ext>
            </a:extLst>
          </p:cNvPr>
          <p:cNvSpPr>
            <a:spLocks xmlns:a="http://schemas.openxmlformats.org/drawingml/2006/main" noGrp="1"/>
          </p:cNvSpPr>
          <p:nvPr/>
        </p:nvSpPr>
        <p:spPr>
          <a:xfrm xmlns:a="http://schemas.openxmlformats.org/drawingml/2006/main">
            <a:off x="1476375" y="45624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为最高缺口订单写核对与保障建议</a:t>
            </a:r>
          </a:p>
        </p:txBody>
      </p:sp>
      <p:sp>
        <p:nvSpPr>
          <p:cNvPr id="12" name="">
            <a:extLst xmlns:a="http://schemas.openxmlformats.org/drawingml/2006/main">
              <a:ext uri="{FF2B5EF4-FFF2-40B4-BE49-F238E27FC236}">
                <a16:creationId xmlns:a16="http://schemas.microsoft.com/office/drawing/2014/main" id="{643C536B-F066-4EBF-AA0D-010AC071B712}"/>
              </a:ext>
            </a:extLst>
          </p:cNvPr>
          <p:cNvSpPr>
            <a:spLocks xmlns:a="http://schemas.openxmlformats.org/drawingml/2006/main" noGrp="1"/>
          </p:cNvSpPr>
          <p:nvPr/>
        </p:nvSpPr>
        <p:spPr>
          <a:xfrm xmlns:a="http://schemas.openxmlformats.org/drawingml/2006/main">
            <a:off x="7943850" y="17526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本次输出</a:t>
            </a:r>
          </a:p>
        </p:txBody>
      </p:sp>
      <p:sp>
        <p:nvSpPr>
          <p:cNvPr id="13" name="">
            <a:extLst xmlns:a="http://schemas.openxmlformats.org/drawingml/2006/main">
              <a:ext uri="{FF2B5EF4-FFF2-40B4-BE49-F238E27FC236}">
                <a16:creationId xmlns:a16="http://schemas.microsoft.com/office/drawing/2014/main" id="{0F9665DC-82E4-45B8-B3FF-14F313853227}"/>
              </a:ext>
            </a:extLst>
          </p:cNvPr>
          <p:cNvSpPr>
            <a:spLocks xmlns:a="http://schemas.openxmlformats.org/drawingml/2006/main" noGrp="1"/>
          </p:cNvSpPr>
          <p:nvPr/>
        </p:nvSpPr>
        <p:spPr>
          <a:xfrm xmlns:a="http://schemas.openxmlformats.org/drawingml/2006/main">
            <a:off x="7943850" y="24574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异常优先级与依据</a:t>
            </a:r>
          </a:p>
        </p:txBody>
      </p:sp>
      <p:sp>
        <p:nvSpPr>
          <p:cNvPr id="14" name="">
            <a:extLst xmlns:a="http://schemas.openxmlformats.org/drawingml/2006/main">
              <a:ext uri="{FF2B5EF4-FFF2-40B4-BE49-F238E27FC236}">
                <a16:creationId xmlns:a16="http://schemas.microsoft.com/office/drawing/2014/main" id="{845E4636-CAFD-444F-9429-5F5C70961B8F}"/>
              </a:ext>
            </a:extLst>
          </p:cNvPr>
          <p:cNvSpPr>
            <a:spLocks xmlns:a="http://schemas.openxmlformats.org/drawingml/2006/main" noGrp="1"/>
          </p:cNvSpPr>
          <p:nvPr/>
        </p:nvSpPr>
        <p:spPr>
          <a:xfrm xmlns:a="http://schemas.openxmlformats.org/drawingml/2006/main">
            <a:off x="7943850" y="35623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一条可核实的催交请求</a:t>
            </a:r>
          </a:p>
        </p:txBody>
      </p:sp>
      <p:sp>
        <p:nvSpPr>
          <p:cNvPr id="15" name="">
            <a:extLst xmlns:a="http://schemas.openxmlformats.org/drawingml/2006/main">
              <a:ext uri="{FF2B5EF4-FFF2-40B4-BE49-F238E27FC236}">
                <a16:creationId xmlns:a16="http://schemas.microsoft.com/office/drawing/2014/main" id="{3BD6B832-5126-44DB-B6E8-DCC7D85D4576}"/>
              </a:ext>
            </a:extLst>
          </p:cNvPr>
          <p:cNvSpPr>
            <a:spLocks xmlns:a="http://schemas.openxmlformats.org/drawingml/2006/main" noGrp="1"/>
          </p:cNvSpPr>
          <p:nvPr/>
        </p:nvSpPr>
        <p:spPr>
          <a:xfrm xmlns:a="http://schemas.openxmlformats.org/drawingml/2006/main">
            <a:off x="7943850" y="46672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责任岗位与下一核对时点</a:t>
            </a:r>
          </a:p>
        </p:txBody>
      </p:sp>
    </p:spTree>
    <p:extLst>
      <p:ext uri="{BB962C8B-B14F-4D97-AF65-F5344CB8AC3E}">
        <p14:creationId xmlns:p14="http://schemas.microsoft.com/office/powerpoint/2010/main" val="48877584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E714D6-711A-450F-8589-891191D97996}"/>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M04复盘：催交是否缓解了交付风险？</a:t>
            </a:r>
          </a:p>
        </p:txBody>
      </p:sp>
      <p:sp>
        <p:nvSpPr>
          <p:cNvPr id="2" name="">
            <a:extLst xmlns:a="http://schemas.openxmlformats.org/drawingml/2006/main">
              <a:ext uri="{FF2B5EF4-FFF2-40B4-BE49-F238E27FC236}">
                <a16:creationId xmlns:a16="http://schemas.microsoft.com/office/drawing/2014/main" id="{118F923E-3563-4CF4-AD1F-734027FD1D6A}"/>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响应数量与实际风险变化分别评价</a:t>
            </a:r>
          </a:p>
        </p:txBody>
      </p:sp>
      <p:sp>
        <p:nvSpPr>
          <p:cNvPr id="3" name="">
            <a:extLst xmlns:a="http://schemas.openxmlformats.org/drawingml/2006/main">
              <a:ext uri="{FF2B5EF4-FFF2-40B4-BE49-F238E27FC236}">
                <a16:creationId xmlns:a16="http://schemas.microsoft.com/office/drawing/2014/main" id="{181A66C5-C44E-476A-9584-DC329D48F5FC}"/>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订单执行与交付管理  7分钟</a:t>
            </a:r>
          </a:p>
        </p:txBody>
      </p:sp>
      <p:sp>
        <p:nvSpPr>
          <p:cNvPr id="4" name="">
            <a:extLst xmlns:a="http://schemas.openxmlformats.org/drawingml/2006/main">
              <a:ext uri="{FF2B5EF4-FFF2-40B4-BE49-F238E27FC236}">
                <a16:creationId xmlns:a16="http://schemas.microsoft.com/office/drawing/2014/main" id="{5CDB8DF6-DF95-4EC6-B848-A8A57BC2CBB2}"/>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57 / 94</a:t>
            </a:r>
          </a:p>
        </p:txBody>
      </p:sp>
      <p:graphicFrame>
        <p:nvGraphicFramePr>
          <p:cNvPr id="5" name="">
            <a:extLst xmlns:a="http://schemas.openxmlformats.org/drawingml/2006/main">
              <a:ext uri="{FF2B5EF4-FFF2-40B4-BE49-F238E27FC236}">
                <a16:creationId xmlns:a16="http://schemas.microsoft.com/office/drawing/2014/main" id="{69CE31E0-FCBC-45ED-8AA0-5860840DB557}"/>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524125"/>
                <a:gridCol w="4191000"/>
                <a:gridCol w="4257675"/>
              </a:tblGrid>
              <a:tr h="800100">
                <a:tc>
                  <a:txBody>
                    <a:bodyPr lIns="114300" tIns="114300" rIns="114300" bIns="114300"/>
                    <a:lstStyle/>
                    <a:p>
                      <a:r>
                        <a:rPr sz="1725" b="1">
                          <a:solidFill>
                            <a:srgbClr val="477FA8"/>
                          </a:solidFill>
                          <a:latin typeface="PingFang SC"/>
                          <a:ea typeface="PingFang SC"/>
                          <a:cs typeface="PingFang SC"/>
                        </a:rPr>
                        <a:t>评价内容</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可用指标</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避免误判</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信息可见性</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承诺更新及时性</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邮件多不等于信息新</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异常处置</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未关闭异常与超期项</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关闭须有核对证据</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维修影响</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按期可用、缺料与缓解措施</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缺口天数不等于真实停工</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流程改进</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责任、触发与升级是否明确</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工具上线不等于流程生效</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188798972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EE5729-8027-4B09-B2A4-2BC9B1A1F695}"/>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库存管理：增加库存能解决哪些缺料？</a:t>
            </a:r>
          </a:p>
        </p:txBody>
      </p:sp>
      <p:sp>
        <p:nvSpPr>
          <p:cNvPr id="2" name="">
            <a:extLst xmlns:a="http://schemas.openxmlformats.org/drawingml/2006/main">
              <a:ext uri="{FF2B5EF4-FFF2-40B4-BE49-F238E27FC236}">
                <a16:creationId xmlns:a16="http://schemas.microsoft.com/office/drawing/2014/main" id="{76C6D588-05CC-4592-8E27-74997A30CF2F}"/>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先区分库存不足、不可用和时间错配</a:t>
            </a:r>
          </a:p>
        </p:txBody>
      </p:sp>
      <p:sp>
        <p:nvSpPr>
          <p:cNvPr id="3" name="">
            <a:extLst xmlns:a="http://schemas.openxmlformats.org/drawingml/2006/main">
              <a:ext uri="{FF2B5EF4-FFF2-40B4-BE49-F238E27FC236}">
                <a16:creationId xmlns:a16="http://schemas.microsoft.com/office/drawing/2014/main" id="{A4DB7806-5A1F-4460-8E78-88BC598BE74E}"/>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库存管理与数学优化  3分钟</a:t>
            </a:r>
          </a:p>
        </p:txBody>
      </p:sp>
      <p:sp>
        <p:nvSpPr>
          <p:cNvPr id="4" name="">
            <a:extLst xmlns:a="http://schemas.openxmlformats.org/drawingml/2006/main">
              <a:ext uri="{FF2B5EF4-FFF2-40B4-BE49-F238E27FC236}">
                <a16:creationId xmlns:a16="http://schemas.microsoft.com/office/drawing/2014/main" id="{8DDEB1E8-0B2B-44F2-94B3-F8FEC9A1E983}"/>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58 / 94</a:t>
            </a:r>
          </a:p>
        </p:txBody>
      </p:sp>
      <p:sp>
        <p:nvSpPr>
          <p:cNvPr id="5" name="">
            <a:extLst xmlns:a="http://schemas.openxmlformats.org/drawingml/2006/main">
              <a:ext uri="{FF2B5EF4-FFF2-40B4-BE49-F238E27FC236}">
                <a16:creationId xmlns:a16="http://schemas.microsoft.com/office/drawing/2014/main" id="{B8981E8F-13A3-4088-86E2-E0E1C19A45D6}"/>
              </a:ext>
            </a:extLst>
          </p:cNvPr>
          <p:cNvSpPr>
            <a:spLocks xmlns:a="http://schemas.openxmlformats.org/drawingml/2006/main" noGrp="1"/>
          </p:cNvSpPr>
          <p:nvPr/>
        </p:nvSpPr>
        <p:spPr>
          <a:xfrm xmlns:a="http://schemas.openxmlformats.org/drawingml/2006/main">
            <a:off x="609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可能增加库存仍无效</a:t>
            </a:r>
          </a:p>
        </p:txBody>
      </p:sp>
      <p:sp>
        <p:nvSpPr>
          <p:cNvPr id="6" name="">
            <a:extLst xmlns:a="http://schemas.openxmlformats.org/drawingml/2006/main">
              <a:ext uri="{FF2B5EF4-FFF2-40B4-BE49-F238E27FC236}">
                <a16:creationId xmlns:a16="http://schemas.microsoft.com/office/drawing/2014/main" id="{154F8EA7-2BEB-45D0-A353-25950643C067}"/>
              </a:ext>
            </a:extLst>
          </p:cNvPr>
          <p:cNvSpPr>
            <a:spLocks xmlns:a="http://schemas.openxmlformats.org/drawingml/2006/main" noGrp="1"/>
          </p:cNvSpPr>
          <p:nvPr/>
        </p:nvSpPr>
        <p:spPr>
          <a:xfrm xmlns:a="http://schemas.openxmlformats.org/drawingml/2006/main">
            <a:off x="609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证书或适用性待确认</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件号、物权或库位错配</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计划变更未传递到补货</a:t>
            </a:r>
          </a:p>
        </p:txBody>
      </p:sp>
      <p:sp>
        <p:nvSpPr>
          <p:cNvPr id="7" name="">
            <a:extLst xmlns:a="http://schemas.openxmlformats.org/drawingml/2006/main">
              <a:ext uri="{FF2B5EF4-FFF2-40B4-BE49-F238E27FC236}">
                <a16:creationId xmlns:a16="http://schemas.microsoft.com/office/drawing/2014/main" id="{E19F2F2C-B68A-4FC8-9465-C138D731CAB4}"/>
              </a:ext>
            </a:extLst>
          </p:cNvPr>
          <p:cNvSpPr>
            <a:spLocks xmlns:a="http://schemas.openxmlformats.org/drawingml/2006/main" noGrp="1"/>
          </p:cNvSpPr>
          <p:nvPr/>
        </p:nvSpPr>
        <p:spPr>
          <a:xfrm xmlns:a="http://schemas.openxmlformats.org/drawingml/2006/main">
            <a:off x="6324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适合进一步建模</a:t>
            </a:r>
          </a:p>
        </p:txBody>
      </p:sp>
      <p:sp>
        <p:nvSpPr>
          <p:cNvPr id="8" name="">
            <a:extLst xmlns:a="http://schemas.openxmlformats.org/drawingml/2006/main">
              <a:ext uri="{FF2B5EF4-FFF2-40B4-BE49-F238E27FC236}">
                <a16:creationId xmlns:a16="http://schemas.microsoft.com/office/drawing/2014/main" id="{B4BC8397-7FB6-43B2-995C-21FEA160123D}"/>
              </a:ext>
            </a:extLst>
          </p:cNvPr>
          <p:cNvSpPr>
            <a:spLocks xmlns:a="http://schemas.openxmlformats.org/drawingml/2006/main" noGrp="1"/>
          </p:cNvSpPr>
          <p:nvPr/>
        </p:nvSpPr>
        <p:spPr>
          <a:xfrm xmlns:a="http://schemas.openxmlformats.org/drawingml/2006/main">
            <a:off x="6324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需求波动造成缓冲不足</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交期内消耗未被覆盖</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补货策略长期不复核</a:t>
            </a:r>
          </a:p>
        </p:txBody>
      </p:sp>
    </p:spTree>
    <p:extLst>
      <p:ext uri="{BB962C8B-B14F-4D97-AF65-F5344CB8AC3E}">
        <p14:creationId xmlns:p14="http://schemas.microsoft.com/office/powerpoint/2010/main" val="745664899"/>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9F37EF-1CA3-48B6-A92A-4539604B6AD1}"/>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航材分层后再选择库存策略</a:t>
            </a:r>
          </a:p>
        </p:txBody>
      </p:sp>
      <p:sp>
        <p:nvSpPr>
          <p:cNvPr id="2" name="">
            <a:extLst xmlns:a="http://schemas.openxmlformats.org/drawingml/2006/main">
              <a:ext uri="{FF2B5EF4-FFF2-40B4-BE49-F238E27FC236}">
                <a16:creationId xmlns:a16="http://schemas.microsoft.com/office/drawing/2014/main" id="{1F2B3006-A564-4FA8-84A0-47096BB84F70}"/>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价值、关键性和需求特征共同影响策略</a:t>
            </a:r>
          </a:p>
        </p:txBody>
      </p:sp>
      <p:sp>
        <p:nvSpPr>
          <p:cNvPr id="3" name="">
            <a:extLst xmlns:a="http://schemas.openxmlformats.org/drawingml/2006/main">
              <a:ext uri="{FF2B5EF4-FFF2-40B4-BE49-F238E27FC236}">
                <a16:creationId xmlns:a16="http://schemas.microsoft.com/office/drawing/2014/main" id="{59B9BD58-4A06-4492-8530-C4C1481C609F}"/>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库存管理与数学优化  6分钟</a:t>
            </a:r>
          </a:p>
        </p:txBody>
      </p:sp>
      <p:sp>
        <p:nvSpPr>
          <p:cNvPr id="4" name="">
            <a:extLst xmlns:a="http://schemas.openxmlformats.org/drawingml/2006/main">
              <a:ext uri="{FF2B5EF4-FFF2-40B4-BE49-F238E27FC236}">
                <a16:creationId xmlns:a16="http://schemas.microsoft.com/office/drawing/2014/main" id="{5AA33B4E-CF44-4988-93E5-0BE3DA011565}"/>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59 / 94</a:t>
            </a:r>
          </a:p>
        </p:txBody>
      </p:sp>
      <p:graphicFrame>
        <p:nvGraphicFramePr>
          <p:cNvPr id="5" name="">
            <a:extLst xmlns:a="http://schemas.openxmlformats.org/drawingml/2006/main">
              <a:ext uri="{FF2B5EF4-FFF2-40B4-BE49-F238E27FC236}">
                <a16:creationId xmlns:a16="http://schemas.microsoft.com/office/drawing/2014/main" id="{70759377-60EF-4A6E-BE25-3E2FC18C81FE}"/>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571750"/>
                <a:gridCol w="4286250"/>
                <a:gridCol w="4114800"/>
              </a:tblGrid>
              <a:tr h="800100">
                <a:tc>
                  <a:txBody>
                    <a:bodyPr lIns="114300" tIns="114300" rIns="114300" bIns="114300"/>
                    <a:lstStyle/>
                    <a:p>
                      <a:r>
                        <a:rPr sz="1725" b="1">
                          <a:solidFill>
                            <a:srgbClr val="477FA8"/>
                          </a:solidFill>
                          <a:latin typeface="PingFang SC"/>
                          <a:ea typeface="PingFang SC"/>
                          <a:cs typeface="PingFang SC"/>
                        </a:rPr>
                        <a:t>分析维度</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要核对的事实</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对策略的影响</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价值与持有代价</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单位价值、库龄、处置条件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资金及呆滞风险</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维修关键性</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缺料影响、替代与借件条件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保障要求及复核强度</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需求特征</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频率、波动、间歇与事件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均值模型是否适用</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供应特征</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交期稳定性、来源与运输</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缓冲与调拨方式</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38546446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4A486682-B936-4D55-8AA6-95C61649AB37}"/>
              </a:ext>
            </a:extLst>
          </p:cNvPr>
          <p:cNvCxnSpPr>
            <a:stCxn xmlns:a="http://schemas.openxmlformats.org/drawingml/2006/main" id="7" idx="3"/>
            <a:endCxn xmlns:a="http://schemas.openxmlformats.org/drawingml/2006/main" id="10" idx="1"/>
          </p:cNvCxnSpPr>
          <p:nvPr/>
        </p:nvCxnSpPr>
        <p:spPr>
          <a:xfrm xmlns:a="http://schemas.openxmlformats.org/drawingml/2006/main">
            <a:off x="77978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B4C04530-0D06-4EEA-AD08-08CCF9956B6E}"/>
              </a:ext>
            </a:extLst>
          </p:cNvPr>
          <p:cNvCxnSpPr>
            <a:stCxn xmlns:a="http://schemas.openxmlformats.org/drawingml/2006/main" id="5" idx="3"/>
            <a:endCxn xmlns:a="http://schemas.openxmlformats.org/drawingml/2006/main" id="7" idx="1"/>
          </p:cNvCxnSpPr>
          <p:nvPr/>
        </p:nvCxnSpPr>
        <p:spPr>
          <a:xfrm xmlns:a="http://schemas.openxmlformats.org/drawingml/2006/main">
            <a:off x="40132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4" name="">
            <a:extLst xmlns:a="http://schemas.openxmlformats.org/drawingml/2006/main">
              <a:ext uri="{FF2B5EF4-FFF2-40B4-BE49-F238E27FC236}">
                <a16:creationId xmlns:a16="http://schemas.microsoft.com/office/drawing/2014/main" id="{24032B0B-48F1-4067-93BD-05BC8CF1D620}"/>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库存模型的数据口径</a:t>
            </a:r>
          </a:p>
        </p:txBody>
      </p:sp>
      <p:sp>
        <p:nvSpPr>
          <p:cNvPr id="2" name="">
            <a:extLst xmlns:a="http://schemas.openxmlformats.org/drawingml/2006/main">
              <a:ext uri="{FF2B5EF4-FFF2-40B4-BE49-F238E27FC236}">
                <a16:creationId xmlns:a16="http://schemas.microsoft.com/office/drawing/2014/main" id="{6EE3AB36-417C-4580-82DE-3C06A866F309}"/>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消耗、供应履约与库存价值来自同一件号及统计窗口</a:t>
            </a:r>
          </a:p>
        </p:txBody>
      </p:sp>
      <p:sp>
        <p:nvSpPr>
          <p:cNvPr id="3" name="">
            <a:extLst xmlns:a="http://schemas.openxmlformats.org/drawingml/2006/main">
              <a:ext uri="{FF2B5EF4-FFF2-40B4-BE49-F238E27FC236}">
                <a16:creationId xmlns:a16="http://schemas.microsoft.com/office/drawing/2014/main" id="{5E778F72-740B-4741-9C43-04E7EE27AAC6}"/>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库存管理与数学优化  6分钟</a:t>
            </a:r>
          </a:p>
        </p:txBody>
      </p:sp>
      <p:sp>
        <p:nvSpPr>
          <p:cNvPr id="4" name="">
            <a:extLst xmlns:a="http://schemas.openxmlformats.org/drawingml/2006/main">
              <a:ext uri="{FF2B5EF4-FFF2-40B4-BE49-F238E27FC236}">
                <a16:creationId xmlns:a16="http://schemas.microsoft.com/office/drawing/2014/main" id="{4494B8EF-FB48-4387-A6B9-37D72B3F8B4C}"/>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60 / 94</a:t>
            </a:r>
          </a:p>
        </p:txBody>
      </p:sp>
      <p:sp>
        <p:nvSpPr>
          <p:cNvPr id="5" name="">
            <a:extLst xmlns:a="http://schemas.openxmlformats.org/drawingml/2006/main">
              <a:ext uri="{FF2B5EF4-FFF2-40B4-BE49-F238E27FC236}">
                <a16:creationId xmlns:a16="http://schemas.microsoft.com/office/drawing/2014/main" id="{6DEE69A5-8C2C-4FAD-B882-E3F9DE9D8EEA}"/>
              </a:ext>
            </a:extLst>
          </p:cNvPr>
          <p:cNvSpPr>
            <a:spLocks xmlns:a="http://schemas.openxmlformats.org/drawingml/2006/main" noGrp="1"/>
          </p:cNvSpPr>
          <p:nvPr/>
        </p:nvSpPr>
        <p:spPr>
          <a:xfrm xmlns:a="http://schemas.openxmlformats.org/drawingml/2006/main">
            <a:off x="609600" y="2057400"/>
            <a:ext cx="340360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领退料统计</a:t>
            </a:r>
          </a:p>
        </p:txBody>
      </p:sp>
      <p:sp>
        <p:nvSpPr>
          <p:cNvPr id="6" name="">
            <a:extLst xmlns:a="http://schemas.openxmlformats.org/drawingml/2006/main">
              <a:ext uri="{FF2B5EF4-FFF2-40B4-BE49-F238E27FC236}">
                <a16:creationId xmlns:a16="http://schemas.microsoft.com/office/drawing/2014/main" id="{1A7F63C5-7B6C-494C-B312-0EFFED006DBE}"/>
              </a:ext>
            </a:extLst>
          </p:cNvPr>
          <p:cNvSpPr>
            <a:spLocks xmlns:a="http://schemas.openxmlformats.org/drawingml/2006/main" noGrp="1"/>
          </p:cNvSpPr>
          <p:nvPr/>
        </p:nvSpPr>
        <p:spPr>
          <a:xfrm xmlns:a="http://schemas.openxmlformats.org/drawingml/2006/main">
            <a:off x="571500" y="3486150"/>
            <a:ext cx="3479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日均需求与需求波动</a:t>
            </a:r>
          </a:p>
        </p:txBody>
      </p:sp>
      <p:sp>
        <p:nvSpPr>
          <p:cNvPr id="7" name="">
            <a:extLst xmlns:a="http://schemas.openxmlformats.org/drawingml/2006/main">
              <a:ext uri="{FF2B5EF4-FFF2-40B4-BE49-F238E27FC236}">
                <a16:creationId xmlns:a16="http://schemas.microsoft.com/office/drawing/2014/main" id="{BB38C1F9-3E42-431E-97C5-316B9DB8E4EF}"/>
              </a:ext>
            </a:extLst>
          </p:cNvPr>
          <p:cNvSpPr>
            <a:spLocks xmlns:a="http://schemas.openxmlformats.org/drawingml/2006/main" noGrp="1"/>
          </p:cNvSpPr>
          <p:nvPr/>
        </p:nvSpPr>
        <p:spPr>
          <a:xfrm xmlns:a="http://schemas.openxmlformats.org/drawingml/2006/main">
            <a:off x="4394200" y="2057400"/>
            <a:ext cx="340360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实际供应履约</a:t>
            </a:r>
          </a:p>
        </p:txBody>
      </p:sp>
      <p:sp>
        <p:nvSpPr>
          <p:cNvPr id="9" name="">
            <a:extLst xmlns:a="http://schemas.openxmlformats.org/drawingml/2006/main">
              <a:ext uri="{FF2B5EF4-FFF2-40B4-BE49-F238E27FC236}">
                <a16:creationId xmlns:a16="http://schemas.microsoft.com/office/drawing/2014/main" id="{AF458372-DD0F-4DF7-8FFB-954EECC16CCD}"/>
              </a:ext>
            </a:extLst>
          </p:cNvPr>
          <p:cNvSpPr>
            <a:spLocks xmlns:a="http://schemas.openxmlformats.org/drawingml/2006/main" noGrp="1"/>
          </p:cNvSpPr>
          <p:nvPr/>
        </p:nvSpPr>
        <p:spPr>
          <a:xfrm xmlns:a="http://schemas.openxmlformats.org/drawingml/2006/main">
            <a:off x="4356100" y="3486150"/>
            <a:ext cx="3479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交期和异常记录</a:t>
            </a:r>
          </a:p>
        </p:txBody>
      </p:sp>
      <p:sp>
        <p:nvSpPr>
          <p:cNvPr id="10" name="">
            <a:extLst xmlns:a="http://schemas.openxmlformats.org/drawingml/2006/main">
              <a:ext uri="{FF2B5EF4-FFF2-40B4-BE49-F238E27FC236}">
                <a16:creationId xmlns:a16="http://schemas.microsoft.com/office/drawing/2014/main" id="{AD8D99A3-E49E-430A-9F36-62C76835DF1F}"/>
              </a:ext>
            </a:extLst>
          </p:cNvPr>
          <p:cNvSpPr>
            <a:spLocks xmlns:a="http://schemas.openxmlformats.org/drawingml/2006/main" noGrp="1"/>
          </p:cNvSpPr>
          <p:nvPr/>
        </p:nvSpPr>
        <p:spPr>
          <a:xfrm xmlns:a="http://schemas.openxmlformats.org/drawingml/2006/main">
            <a:off x="8178800" y="2057400"/>
            <a:ext cx="340360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库存价值</a:t>
            </a:r>
          </a:p>
        </p:txBody>
      </p:sp>
      <p:sp>
        <p:nvSpPr>
          <p:cNvPr id="12" name="">
            <a:extLst xmlns:a="http://schemas.openxmlformats.org/drawingml/2006/main">
              <a:ext uri="{FF2B5EF4-FFF2-40B4-BE49-F238E27FC236}">
                <a16:creationId xmlns:a16="http://schemas.microsoft.com/office/drawing/2014/main" id="{3121A883-4FBF-4500-9982-B41EEAFE858B}"/>
              </a:ext>
            </a:extLst>
          </p:cNvPr>
          <p:cNvSpPr>
            <a:spLocks xmlns:a="http://schemas.openxmlformats.org/drawingml/2006/main" noGrp="1"/>
          </p:cNvSpPr>
          <p:nvPr/>
        </p:nvSpPr>
        <p:spPr>
          <a:xfrm xmlns:a="http://schemas.openxmlformats.org/drawingml/2006/main">
            <a:off x="8140700" y="3486150"/>
            <a:ext cx="3479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单位价值与持有率</a:t>
            </a:r>
          </a:p>
        </p:txBody>
      </p:sp>
      <p:sp>
        <p:nvSpPr>
          <p:cNvPr id="13" name="">
            <a:extLst xmlns:a="http://schemas.openxmlformats.org/drawingml/2006/main">
              <a:ext uri="{FF2B5EF4-FFF2-40B4-BE49-F238E27FC236}">
                <a16:creationId xmlns:a16="http://schemas.microsoft.com/office/drawing/2014/main" id="{B66A0ABB-9419-4823-8FE0-B73B3269F36D}"/>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退料、重复领料和一次性事件应先解释，再计算统计量</a:t>
            </a:r>
          </a:p>
        </p:txBody>
      </p:sp>
    </p:spTree>
    <p:extLst>
      <p:ext uri="{BB962C8B-B14F-4D97-AF65-F5344CB8AC3E}">
        <p14:creationId xmlns:p14="http://schemas.microsoft.com/office/powerpoint/2010/main" val="499045966"/>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1BA013-1E32-467E-BBF2-4CC0AD348B53}"/>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安全库存与再订货点</a:t>
            </a:r>
          </a:p>
        </p:txBody>
      </p:sp>
      <p:sp>
        <p:nvSpPr>
          <p:cNvPr id="2" name="">
            <a:extLst xmlns:a="http://schemas.openxmlformats.org/drawingml/2006/main">
              <a:ext uri="{FF2B5EF4-FFF2-40B4-BE49-F238E27FC236}">
                <a16:creationId xmlns:a16="http://schemas.microsoft.com/office/drawing/2014/main" id="{DCB42CD4-0F72-4CC6-ABC0-50725254EA70}"/>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教学假设：日需求独立，采购交期固定</a:t>
            </a:r>
          </a:p>
        </p:txBody>
      </p:sp>
      <p:sp>
        <p:nvSpPr>
          <p:cNvPr id="3" name="">
            <a:extLst xmlns:a="http://schemas.openxmlformats.org/drawingml/2006/main">
              <a:ext uri="{FF2B5EF4-FFF2-40B4-BE49-F238E27FC236}">
                <a16:creationId xmlns:a16="http://schemas.microsoft.com/office/drawing/2014/main" id="{8BD640B9-7B1A-4A36-89BC-491032A36D86}"/>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库存管理与数学优化  7分钟</a:t>
            </a:r>
          </a:p>
        </p:txBody>
      </p:sp>
      <p:sp>
        <p:nvSpPr>
          <p:cNvPr id="4" name="">
            <a:extLst xmlns:a="http://schemas.openxmlformats.org/drawingml/2006/main">
              <a:ext uri="{FF2B5EF4-FFF2-40B4-BE49-F238E27FC236}">
                <a16:creationId xmlns:a16="http://schemas.microsoft.com/office/drawing/2014/main" id="{CF4BC424-F58A-4E30-8EA5-4CABA4021A82}"/>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61 / 94</a:t>
            </a:r>
          </a:p>
        </p:txBody>
      </p:sp>
      <p:sp>
        <p:nvSpPr>
          <p:cNvPr id="5" name="">
            <a:extLst xmlns:a="http://schemas.openxmlformats.org/drawingml/2006/main">
              <a:ext uri="{FF2B5EF4-FFF2-40B4-BE49-F238E27FC236}">
                <a16:creationId xmlns:a16="http://schemas.microsoft.com/office/drawing/2014/main" id="{2D903DCD-0D0A-4A84-A618-EB13EB9B83F8}"/>
              </a:ext>
            </a:extLst>
          </p:cNvPr>
          <p:cNvSpPr>
            <a:spLocks xmlns:a="http://schemas.openxmlformats.org/drawingml/2006/main" noGrp="1"/>
          </p:cNvSpPr>
          <p:nvPr/>
        </p:nvSpPr>
        <p:spPr>
          <a:xfrm xmlns:a="http://schemas.openxmlformats.org/drawingml/2006/main">
            <a:off x="609600" y="1866900"/>
            <a:ext cx="109728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77FA8"/>
                </a:solidFill>
                <a:latin typeface="PingFang SC"/>
                <a:ea typeface="PingFang SC"/>
                <a:cs typeface="PingFang SC"/>
              </a:defRPr>
            </a:defPPr>
            <a:lvl1pPr algn="l">
              <a:defRPr sz="2550" b="1">
                <a:solidFill>
                  <a:srgbClr val="477FA8"/>
                </a:solidFill>
                <a:latin typeface="PingFang SC"/>
                <a:ea typeface="PingFang SC"/>
                <a:cs typeface="PingFang SC"/>
              </a:defRPr>
            </a:lvl1pPr>
            <a:lvl2pPr algn="l">
              <a:defRPr sz="2550" b="1">
                <a:solidFill>
                  <a:srgbClr val="477FA8"/>
                </a:solidFill>
                <a:latin typeface="PingFang SC"/>
                <a:ea typeface="PingFang SC"/>
                <a:cs typeface="PingFang SC"/>
              </a:defRPr>
            </a:lvl2pPr>
            <a:lvl3pPr algn="l">
              <a:defRPr sz="2550" b="1">
                <a:solidFill>
                  <a:srgbClr val="477FA8"/>
                </a:solidFill>
                <a:latin typeface="PingFang SC"/>
                <a:ea typeface="PingFang SC"/>
                <a:cs typeface="PingFang SC"/>
              </a:defRPr>
            </a:lvl3pPr>
            <a:lvl4pPr algn="l">
              <a:defRPr sz="2550" b="1">
                <a:solidFill>
                  <a:srgbClr val="477FA8"/>
                </a:solidFill>
                <a:latin typeface="PingFang SC"/>
                <a:ea typeface="PingFang SC"/>
                <a:cs typeface="PingFang SC"/>
              </a:defRPr>
            </a:lvl4pPr>
            <a:lvl5pPr algn="l">
              <a:defRPr sz="2550" b="1">
                <a:solidFill>
                  <a:srgbClr val="477FA8"/>
                </a:solidFill>
                <a:latin typeface="PingFang SC"/>
                <a:ea typeface="PingFang SC"/>
                <a:cs typeface="PingFang SC"/>
              </a:defRPr>
            </a:lvl5pPr>
            <a:lvl6pPr algn="l">
              <a:defRPr sz="2550" b="1">
                <a:solidFill>
                  <a:srgbClr val="477FA8"/>
                </a:solidFill>
                <a:latin typeface="PingFang SC"/>
                <a:ea typeface="PingFang SC"/>
                <a:cs typeface="PingFang SC"/>
              </a:defRPr>
            </a:lvl6pPr>
            <a:lvl7pPr algn="l">
              <a:defRPr sz="2550" b="1">
                <a:solidFill>
                  <a:srgbClr val="477FA8"/>
                </a:solidFill>
                <a:latin typeface="PingFang SC"/>
                <a:ea typeface="PingFang SC"/>
                <a:cs typeface="PingFang SC"/>
              </a:defRPr>
            </a:lvl7pPr>
            <a:lvl8pPr algn="l">
              <a:defRPr sz="2550" b="1">
                <a:solidFill>
                  <a:srgbClr val="477FA8"/>
                </a:solidFill>
                <a:latin typeface="PingFang SC"/>
                <a:ea typeface="PingFang SC"/>
                <a:cs typeface="PingFang SC"/>
              </a:defRPr>
            </a:lvl8pPr>
            <a:lvl9pPr algn="l">
              <a:defRPr sz="2550" b="1">
                <a:solidFill>
                  <a:srgbClr val="477FA8"/>
                </a:solidFill>
                <a:latin typeface="PingFang SC"/>
                <a:ea typeface="PingFang SC"/>
                <a:cs typeface="PingFang SC"/>
              </a:defRPr>
            </a:lvl9pPr>
          </a:lstStyle>
          <a:p xmlns:a="http://schemas.openxmlformats.org/drawingml/2006/main">
            <a:pPr algn="l">
              <a:defRPr sz="2550" b="1">
                <a:solidFill>
                  <a:srgbClr val="477FA8"/>
                </a:solidFill>
                <a:latin typeface="PingFang SC"/>
                <a:ea typeface="PingFang SC"/>
                <a:cs typeface="PingFang SC"/>
              </a:defRPr>
            </a:pPr>
            <a:r>
              <a:rPr sz="2550" b="1">
                <a:solidFill>
                  <a:srgbClr val="477FA8"/>
                </a:solidFill>
                <a:latin typeface="PingFang SC"/>
                <a:ea typeface="PingFang SC"/>
                <a:cs typeface="PingFang SC"/>
              </a:rPr>
              <a:t>安全库存 SS = z × 日需求标准差 × √交期</a:t>
            </a:r>
          </a:p>
        </p:txBody>
      </p:sp>
      <p:sp>
        <p:nvSpPr>
          <p:cNvPr id="6" name="">
            <a:extLst xmlns:a="http://schemas.openxmlformats.org/drawingml/2006/main">
              <a:ext uri="{FF2B5EF4-FFF2-40B4-BE49-F238E27FC236}">
                <a16:creationId xmlns:a16="http://schemas.microsoft.com/office/drawing/2014/main" id="{CF11BBE0-88C2-4966-AF2D-A99111DF8CB4}"/>
              </a:ext>
            </a:extLst>
          </p:cNvPr>
          <p:cNvSpPr>
            <a:spLocks xmlns:a="http://schemas.openxmlformats.org/drawingml/2006/main" noGrp="1"/>
          </p:cNvSpPr>
          <p:nvPr/>
        </p:nvSpPr>
        <p:spPr>
          <a:xfrm xmlns:a="http://schemas.openxmlformats.org/drawingml/2006/main">
            <a:off x="628650" y="3571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0">
                <a:solidFill>
                  <a:srgbClr val="667D91"/>
                </a:solidFill>
                <a:latin typeface="PingFang SC"/>
                <a:ea typeface="PingFang SC"/>
                <a:cs typeface="PingFang SC"/>
              </a:defRPr>
            </a:defPPr>
            <a:lvl1pPr algn="l">
              <a:defRPr sz="1875" b="0">
                <a:solidFill>
                  <a:srgbClr val="667D91"/>
                </a:solidFill>
                <a:latin typeface="PingFang SC"/>
                <a:ea typeface="PingFang SC"/>
                <a:cs typeface="PingFang SC"/>
              </a:defRPr>
            </a:lvl1pPr>
            <a:lvl2pPr algn="l">
              <a:defRPr sz="1875" b="0">
                <a:solidFill>
                  <a:srgbClr val="667D91"/>
                </a:solidFill>
                <a:latin typeface="PingFang SC"/>
                <a:ea typeface="PingFang SC"/>
                <a:cs typeface="PingFang SC"/>
              </a:defRPr>
            </a:lvl2pPr>
            <a:lvl3pPr algn="l">
              <a:defRPr sz="1875" b="0">
                <a:solidFill>
                  <a:srgbClr val="667D91"/>
                </a:solidFill>
                <a:latin typeface="PingFang SC"/>
                <a:ea typeface="PingFang SC"/>
                <a:cs typeface="PingFang SC"/>
              </a:defRPr>
            </a:lvl3pPr>
            <a:lvl4pPr algn="l">
              <a:defRPr sz="1875" b="0">
                <a:solidFill>
                  <a:srgbClr val="667D91"/>
                </a:solidFill>
                <a:latin typeface="PingFang SC"/>
                <a:ea typeface="PingFang SC"/>
                <a:cs typeface="PingFang SC"/>
              </a:defRPr>
            </a:lvl4pPr>
            <a:lvl5pPr algn="l">
              <a:defRPr sz="1875" b="0">
                <a:solidFill>
                  <a:srgbClr val="667D91"/>
                </a:solidFill>
                <a:latin typeface="PingFang SC"/>
                <a:ea typeface="PingFang SC"/>
                <a:cs typeface="PingFang SC"/>
              </a:defRPr>
            </a:lvl5pPr>
            <a:lvl6pPr algn="l">
              <a:defRPr sz="1875" b="0">
                <a:solidFill>
                  <a:srgbClr val="667D91"/>
                </a:solidFill>
                <a:latin typeface="PingFang SC"/>
                <a:ea typeface="PingFang SC"/>
                <a:cs typeface="PingFang SC"/>
              </a:defRPr>
            </a:lvl6pPr>
            <a:lvl7pPr algn="l">
              <a:defRPr sz="1875" b="0">
                <a:solidFill>
                  <a:srgbClr val="667D91"/>
                </a:solidFill>
                <a:latin typeface="PingFang SC"/>
                <a:ea typeface="PingFang SC"/>
                <a:cs typeface="PingFang SC"/>
              </a:defRPr>
            </a:lvl7pPr>
            <a:lvl8pPr algn="l">
              <a:defRPr sz="1875" b="0">
                <a:solidFill>
                  <a:srgbClr val="667D91"/>
                </a:solidFill>
                <a:latin typeface="PingFang SC"/>
                <a:ea typeface="PingFang SC"/>
                <a:cs typeface="PingFang SC"/>
              </a:defRPr>
            </a:lvl8pPr>
            <a:lvl9pPr algn="l">
              <a:defRPr sz="1875" b="0">
                <a:solidFill>
                  <a:srgbClr val="667D91"/>
                </a:solidFill>
                <a:latin typeface="PingFang SC"/>
                <a:ea typeface="PingFang SC"/>
                <a:cs typeface="PingFang SC"/>
              </a:defRPr>
            </a:lvl9pPr>
          </a:lstStyle>
          <a:p xmlns:a="http://schemas.openxmlformats.org/drawingml/2006/main">
            <a:pPr algn="l">
              <a:defRPr sz="1875" b="0">
                <a:solidFill>
                  <a:srgbClr val="667D91"/>
                </a:solidFill>
                <a:latin typeface="PingFang SC"/>
                <a:ea typeface="PingFang SC"/>
                <a:cs typeface="PingFang SC"/>
              </a:defRPr>
            </a:pPr>
            <a:r>
              <a:rPr sz="1875" b="0">
                <a:solidFill>
                  <a:srgbClr val="667D91"/>
                </a:solidFill>
                <a:latin typeface="PingFang SC"/>
                <a:ea typeface="PingFang SC"/>
                <a:cs typeface="PingFang SC"/>
              </a:rPr>
              <a:t>再订货点 ROP = ⌈日均需求 × 交期 + SS⌉</a:t>
            </a:r>
          </a:p>
        </p:txBody>
      </p:sp>
      <p:sp>
        <p:nvSpPr>
          <p:cNvPr id="7" name="">
            <a:extLst xmlns:a="http://schemas.openxmlformats.org/drawingml/2006/main">
              <a:ext uri="{FF2B5EF4-FFF2-40B4-BE49-F238E27FC236}">
                <a16:creationId xmlns:a16="http://schemas.microsoft.com/office/drawing/2014/main" id="{34A40AF4-4EEC-4376-8730-2280D28999BE}"/>
              </a:ext>
            </a:extLst>
          </p:cNvPr>
          <p:cNvSpPr>
            <a:spLocks xmlns:a="http://schemas.openxmlformats.org/drawingml/2006/main" noGrp="1"/>
          </p:cNvSpPr>
          <p:nvPr/>
        </p:nvSpPr>
        <p:spPr>
          <a:xfrm xmlns:a="http://schemas.openxmlformats.org/drawingml/2006/main">
            <a:off x="628650" y="42195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0">
                <a:solidFill>
                  <a:srgbClr val="667D91"/>
                </a:solidFill>
                <a:latin typeface="PingFang SC"/>
                <a:ea typeface="PingFang SC"/>
                <a:cs typeface="PingFang SC"/>
              </a:defRPr>
            </a:defPPr>
            <a:lvl1pPr algn="l">
              <a:defRPr sz="1875" b="0">
                <a:solidFill>
                  <a:srgbClr val="667D91"/>
                </a:solidFill>
                <a:latin typeface="PingFang SC"/>
                <a:ea typeface="PingFang SC"/>
                <a:cs typeface="PingFang SC"/>
              </a:defRPr>
            </a:lvl1pPr>
            <a:lvl2pPr algn="l">
              <a:defRPr sz="1875" b="0">
                <a:solidFill>
                  <a:srgbClr val="667D91"/>
                </a:solidFill>
                <a:latin typeface="PingFang SC"/>
                <a:ea typeface="PingFang SC"/>
                <a:cs typeface="PingFang SC"/>
              </a:defRPr>
            </a:lvl2pPr>
            <a:lvl3pPr algn="l">
              <a:defRPr sz="1875" b="0">
                <a:solidFill>
                  <a:srgbClr val="667D91"/>
                </a:solidFill>
                <a:latin typeface="PingFang SC"/>
                <a:ea typeface="PingFang SC"/>
                <a:cs typeface="PingFang SC"/>
              </a:defRPr>
            </a:lvl3pPr>
            <a:lvl4pPr algn="l">
              <a:defRPr sz="1875" b="0">
                <a:solidFill>
                  <a:srgbClr val="667D91"/>
                </a:solidFill>
                <a:latin typeface="PingFang SC"/>
                <a:ea typeface="PingFang SC"/>
                <a:cs typeface="PingFang SC"/>
              </a:defRPr>
            </a:lvl4pPr>
            <a:lvl5pPr algn="l">
              <a:defRPr sz="1875" b="0">
                <a:solidFill>
                  <a:srgbClr val="667D91"/>
                </a:solidFill>
                <a:latin typeface="PingFang SC"/>
                <a:ea typeface="PingFang SC"/>
                <a:cs typeface="PingFang SC"/>
              </a:defRPr>
            </a:lvl5pPr>
            <a:lvl6pPr algn="l">
              <a:defRPr sz="1875" b="0">
                <a:solidFill>
                  <a:srgbClr val="667D91"/>
                </a:solidFill>
                <a:latin typeface="PingFang SC"/>
                <a:ea typeface="PingFang SC"/>
                <a:cs typeface="PingFang SC"/>
              </a:defRPr>
            </a:lvl6pPr>
            <a:lvl7pPr algn="l">
              <a:defRPr sz="1875" b="0">
                <a:solidFill>
                  <a:srgbClr val="667D91"/>
                </a:solidFill>
                <a:latin typeface="PingFang SC"/>
                <a:ea typeface="PingFang SC"/>
                <a:cs typeface="PingFang SC"/>
              </a:defRPr>
            </a:lvl7pPr>
            <a:lvl8pPr algn="l">
              <a:defRPr sz="1875" b="0">
                <a:solidFill>
                  <a:srgbClr val="667D91"/>
                </a:solidFill>
                <a:latin typeface="PingFang SC"/>
                <a:ea typeface="PingFang SC"/>
                <a:cs typeface="PingFang SC"/>
              </a:defRPr>
            </a:lvl8pPr>
            <a:lvl9pPr algn="l">
              <a:defRPr sz="1875" b="0">
                <a:solidFill>
                  <a:srgbClr val="667D91"/>
                </a:solidFill>
                <a:latin typeface="PingFang SC"/>
                <a:ea typeface="PingFang SC"/>
                <a:cs typeface="PingFang SC"/>
              </a:defRPr>
            </a:lvl9pPr>
          </a:lstStyle>
          <a:p xmlns:a="http://schemas.openxmlformats.org/drawingml/2006/main">
            <a:pPr algn="l">
              <a:defRPr sz="1875" b="0">
                <a:solidFill>
                  <a:srgbClr val="667D91"/>
                </a:solidFill>
                <a:latin typeface="PingFang SC"/>
                <a:ea typeface="PingFang SC"/>
                <a:cs typeface="PingFang SC"/>
              </a:defRPr>
            </a:pPr>
            <a:r>
              <a:rPr sz="1875" b="0">
                <a:solidFill>
                  <a:srgbClr val="667D91"/>
                </a:solidFill>
                <a:latin typeface="PingFang SC"/>
                <a:ea typeface="PingFang SC"/>
                <a:cs typeface="PingFang SC"/>
              </a:rPr>
              <a:t>年持有成本 = SS × 单位库存价值 × 年持有率</a:t>
            </a:r>
          </a:p>
        </p:txBody>
      </p:sp>
      <p:sp>
        <p:nvSpPr>
          <p:cNvPr id="8" name="">
            <a:extLst xmlns:a="http://schemas.openxmlformats.org/drawingml/2006/main">
              <a:ext uri="{FF2B5EF4-FFF2-40B4-BE49-F238E27FC236}">
                <a16:creationId xmlns:a16="http://schemas.microsoft.com/office/drawing/2014/main" id="{DE266E01-D7F4-4A4F-9FCD-6BB40702057D}"/>
              </a:ext>
            </a:extLst>
          </p:cNvPr>
          <p:cNvSpPr>
            <a:spLocks xmlns:a="http://schemas.openxmlformats.org/drawingml/2006/main" noGrp="1"/>
          </p:cNvSpPr>
          <p:nvPr/>
        </p:nvSpPr>
        <p:spPr>
          <a:xfrm xmlns:a="http://schemas.openxmlformats.org/drawingml/2006/main">
            <a:off x="628650" y="5257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325" b="1">
                <a:solidFill>
                  <a:srgbClr val="17334D"/>
                </a:solidFill>
                <a:latin typeface="PingFang SC"/>
                <a:ea typeface="PingFang SC"/>
                <a:cs typeface="PingFang SC"/>
              </a:defRPr>
            </a:defPPr>
            <a:lvl1pPr algn="l">
              <a:defRPr sz="2325" b="1">
                <a:solidFill>
                  <a:srgbClr val="17334D"/>
                </a:solidFill>
                <a:latin typeface="PingFang SC"/>
                <a:ea typeface="PingFang SC"/>
                <a:cs typeface="PingFang SC"/>
              </a:defRPr>
            </a:lvl1pPr>
            <a:lvl2pPr algn="l">
              <a:defRPr sz="2325" b="1">
                <a:solidFill>
                  <a:srgbClr val="17334D"/>
                </a:solidFill>
                <a:latin typeface="PingFang SC"/>
                <a:ea typeface="PingFang SC"/>
                <a:cs typeface="PingFang SC"/>
              </a:defRPr>
            </a:lvl2pPr>
            <a:lvl3pPr algn="l">
              <a:defRPr sz="2325" b="1">
                <a:solidFill>
                  <a:srgbClr val="17334D"/>
                </a:solidFill>
                <a:latin typeface="PingFang SC"/>
                <a:ea typeface="PingFang SC"/>
                <a:cs typeface="PingFang SC"/>
              </a:defRPr>
            </a:lvl3pPr>
            <a:lvl4pPr algn="l">
              <a:defRPr sz="2325" b="1">
                <a:solidFill>
                  <a:srgbClr val="17334D"/>
                </a:solidFill>
                <a:latin typeface="PingFang SC"/>
                <a:ea typeface="PingFang SC"/>
                <a:cs typeface="PingFang SC"/>
              </a:defRPr>
            </a:lvl4pPr>
            <a:lvl5pPr algn="l">
              <a:defRPr sz="2325" b="1">
                <a:solidFill>
                  <a:srgbClr val="17334D"/>
                </a:solidFill>
                <a:latin typeface="PingFang SC"/>
                <a:ea typeface="PingFang SC"/>
                <a:cs typeface="PingFang SC"/>
              </a:defRPr>
            </a:lvl5pPr>
            <a:lvl6pPr algn="l">
              <a:defRPr sz="2325" b="1">
                <a:solidFill>
                  <a:srgbClr val="17334D"/>
                </a:solidFill>
                <a:latin typeface="PingFang SC"/>
                <a:ea typeface="PingFang SC"/>
                <a:cs typeface="PingFang SC"/>
              </a:defRPr>
            </a:lvl6pPr>
            <a:lvl7pPr algn="l">
              <a:defRPr sz="2325" b="1">
                <a:solidFill>
                  <a:srgbClr val="17334D"/>
                </a:solidFill>
                <a:latin typeface="PingFang SC"/>
                <a:ea typeface="PingFang SC"/>
                <a:cs typeface="PingFang SC"/>
              </a:defRPr>
            </a:lvl7pPr>
            <a:lvl8pPr algn="l">
              <a:defRPr sz="2325" b="1">
                <a:solidFill>
                  <a:srgbClr val="17334D"/>
                </a:solidFill>
                <a:latin typeface="PingFang SC"/>
                <a:ea typeface="PingFang SC"/>
                <a:cs typeface="PingFang SC"/>
              </a:defRPr>
            </a:lvl8pPr>
            <a:lvl9pPr algn="l">
              <a:defRPr sz="2325" b="1">
                <a:solidFill>
                  <a:srgbClr val="17334D"/>
                </a:solidFill>
                <a:latin typeface="PingFang SC"/>
                <a:ea typeface="PingFang SC"/>
                <a:cs typeface="PingFang SC"/>
              </a:defRPr>
            </a:lvl9pPr>
          </a:lstStyle>
          <a:p xmlns:a="http://schemas.openxmlformats.org/drawingml/2006/main">
            <a:pPr algn="l">
              <a:defRPr sz="2325" b="1">
                <a:solidFill>
                  <a:srgbClr val="17334D"/>
                </a:solidFill>
                <a:latin typeface="PingFang SC"/>
                <a:ea typeface="PingFang SC"/>
                <a:cs typeface="PingFang SC"/>
              </a:defRPr>
            </a:pPr>
            <a:r>
              <a:rPr sz="2325" b="1">
                <a:solidFill>
                  <a:srgbClr val="17334D"/>
                </a:solidFill>
                <a:latin typeface="PingFang SC"/>
                <a:ea typeface="PingFang SC"/>
                <a:cs typeface="PingFang SC"/>
              </a:rPr>
              <a:t>PN-2001：SS≈7.23件，ROP=53件</a:t>
            </a:r>
          </a:p>
        </p:txBody>
      </p:sp>
    </p:spTree>
    <p:extLst>
      <p:ext uri="{BB962C8B-B14F-4D97-AF65-F5344CB8AC3E}">
        <p14:creationId xmlns:p14="http://schemas.microsoft.com/office/powerpoint/2010/main" val="141863443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D4E42A-61F8-4A5D-A9C3-718DE0AAC0FE}"/>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三类件号的需求、交期与价值</a:t>
            </a:r>
          </a:p>
        </p:txBody>
      </p:sp>
      <p:sp>
        <p:nvSpPr>
          <p:cNvPr id="2" name="">
            <a:extLst xmlns:a="http://schemas.openxmlformats.org/drawingml/2006/main">
              <a:ext uri="{FF2B5EF4-FFF2-40B4-BE49-F238E27FC236}">
                <a16:creationId xmlns:a16="http://schemas.microsoft.com/office/drawing/2014/main" id="{0E5D4D2D-884B-4701-9398-A51663500991}"/>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M05基础教学数据，先检查模型假设是否合理</a:t>
            </a:r>
          </a:p>
        </p:txBody>
      </p:sp>
      <p:sp>
        <p:nvSpPr>
          <p:cNvPr id="3" name="">
            <a:extLst xmlns:a="http://schemas.openxmlformats.org/drawingml/2006/main">
              <a:ext uri="{FF2B5EF4-FFF2-40B4-BE49-F238E27FC236}">
                <a16:creationId xmlns:a16="http://schemas.microsoft.com/office/drawing/2014/main" id="{37DA3C72-F9B0-47E8-BA6C-43C4F6196E07}"/>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库存管理与数学优化  6分钟</a:t>
            </a:r>
          </a:p>
        </p:txBody>
      </p:sp>
      <p:sp>
        <p:nvSpPr>
          <p:cNvPr id="4" name="">
            <a:extLst xmlns:a="http://schemas.openxmlformats.org/drawingml/2006/main">
              <a:ext uri="{FF2B5EF4-FFF2-40B4-BE49-F238E27FC236}">
                <a16:creationId xmlns:a16="http://schemas.microsoft.com/office/drawing/2014/main" id="{76B4D046-3324-4623-9DAC-DDCE3EDDE6D4}"/>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62 / 94</a:t>
            </a:r>
          </a:p>
        </p:txBody>
      </p:sp>
      <p:graphicFrame>
        <p:nvGraphicFramePr>
          <p:cNvPr id="5" name="">
            <a:extLst xmlns:a="http://schemas.openxmlformats.org/drawingml/2006/main">
              <a:ext uri="{FF2B5EF4-FFF2-40B4-BE49-F238E27FC236}">
                <a16:creationId xmlns:a16="http://schemas.microsoft.com/office/drawing/2014/main" id="{FB3B37FD-3231-416B-8BB8-0ACE07F05B3D}"/>
              </a:ext>
            </a:extLst>
          </p:cNvPr>
          <p:cNvGraphicFramePr/>
          <p:nvPr/>
        </p:nvGraphicFramePr>
        <p:xfrm>
          <a:off xmlns:a="http://schemas.openxmlformats.org/drawingml/2006/main" x="609600" y="1695450"/>
          <a:ext xmlns:a="http://schemas.openxmlformats.org/drawingml/2006/main" cx="10972800" cy="3333750"/>
        </p:xfrm>
        <a:graphic xmlns:a="http://schemas.openxmlformats.org/drawingml/2006/main">
          <a:graphicData uri="http://schemas.openxmlformats.org/drawingml/2006/table">
            <a:tbl>
              <a:tblPr/>
              <a:tblGrid>
                <a:gridCol w="2381250"/>
                <a:gridCol w="2286000"/>
                <a:gridCol w="2476500"/>
                <a:gridCol w="1714500"/>
                <a:gridCol w="2114550"/>
              </a:tblGrid>
              <a:tr h="833438">
                <a:tc>
                  <a:txBody>
                    <a:bodyPr lIns="114300" tIns="114300" rIns="114300" bIns="114300"/>
                    <a:lstStyle/>
                    <a:p>
                      <a:r>
                        <a:rPr sz="1725" b="1">
                          <a:solidFill>
                            <a:srgbClr val="477FA8"/>
                          </a:solidFill>
                          <a:latin typeface="PingFang SC"/>
                          <a:ea typeface="PingFang SC"/>
                          <a:cs typeface="PingFang SC"/>
                        </a:rPr>
                        <a:t>件号</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日均需求</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日需求标准差</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交期</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单位价值</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33438">
                <a:tc>
                  <a:txBody>
                    <a:bodyPr lIns="114300" tIns="114300" rIns="114300" bIns="114300"/>
                    <a:lstStyle/>
                    <a:p>
                      <a:r>
                        <a:rPr sz="1875" b="1">
                          <a:solidFill>
                            <a:srgbClr val="477FA8"/>
                          </a:solidFill>
                          <a:latin typeface="PingFang SC"/>
                          <a:ea typeface="PingFang SC"/>
                          <a:cs typeface="PingFang SC"/>
                        </a:rPr>
                        <a:t>PN-2001</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1.5件／天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0.8件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30天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500元</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33438">
                <a:tc>
                  <a:txBody>
                    <a:bodyPr lIns="114300" tIns="114300" rIns="114300" bIns="114300"/>
                    <a:lstStyle/>
                    <a:p>
                      <a:r>
                        <a:rPr sz="1875" b="1">
                          <a:solidFill>
                            <a:srgbClr val="477FA8"/>
                          </a:solidFill>
                          <a:latin typeface="PingFang SC"/>
                          <a:ea typeface="PingFang SC"/>
                          <a:cs typeface="PingFang SC"/>
                        </a:rPr>
                        <a:t>PN-2002</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0.4件／天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0.5件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45天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2,000元</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33438">
                <a:tc>
                  <a:txBody>
                    <a:bodyPr lIns="114300" tIns="114300" rIns="114300" bIns="114300"/>
                    <a:lstStyle/>
                    <a:p>
                      <a:r>
                        <a:rPr sz="1875" b="1">
                          <a:solidFill>
                            <a:srgbClr val="477FA8"/>
                          </a:solidFill>
                          <a:latin typeface="PingFang SC"/>
                          <a:ea typeface="PingFang SC"/>
                          <a:cs typeface="PingFang SC"/>
                        </a:rPr>
                        <a:t>PN-2003</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2.0件／天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1.2件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15天</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300元</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3E8D58C-733D-4CF5-AA52-862893432462}"/>
              </a:ext>
            </a:extLst>
          </p:cNvPr>
          <p:cNvSpPr>
            <a:spLocks xmlns:a="http://schemas.openxmlformats.org/drawingml/2006/main" noGrp="1"/>
          </p:cNvSpPr>
          <p:nvPr/>
        </p:nvSpPr>
        <p:spPr>
          <a:xfrm xmlns:a="http://schemas.openxmlformats.org/drawingml/2006/main">
            <a:off x="628650" y="5391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讨论：同样增加一件缓冲，资金占用为什么不同？</a:t>
            </a:r>
          </a:p>
        </p:txBody>
      </p:sp>
    </p:spTree>
    <p:extLst>
      <p:ext uri="{BB962C8B-B14F-4D97-AF65-F5344CB8AC3E}">
        <p14:creationId xmlns:p14="http://schemas.microsoft.com/office/powerpoint/2010/main" val="1321635855"/>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A5331A-2B2B-4D3D-821B-7C27DB4DD00D}"/>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缓冲库存的成本集中在哪里？</a:t>
            </a:r>
          </a:p>
        </p:txBody>
      </p:sp>
      <p:sp>
        <p:nvSpPr>
          <p:cNvPr id="2" name="">
            <a:extLst xmlns:a="http://schemas.openxmlformats.org/drawingml/2006/main">
              <a:ext uri="{FF2B5EF4-FFF2-40B4-BE49-F238E27FC236}">
                <a16:creationId xmlns:a16="http://schemas.microsoft.com/office/drawing/2014/main" id="{4CA3DB32-2678-43A5-96EB-EE6A0EBD67F0}"/>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z=1.65、年持有率20%，按未取整安全库存计算</a:t>
            </a:r>
          </a:p>
        </p:txBody>
      </p:sp>
      <p:sp>
        <p:nvSpPr>
          <p:cNvPr id="3" name="">
            <a:extLst xmlns:a="http://schemas.openxmlformats.org/drawingml/2006/main">
              <a:ext uri="{FF2B5EF4-FFF2-40B4-BE49-F238E27FC236}">
                <a16:creationId xmlns:a16="http://schemas.microsoft.com/office/drawing/2014/main" id="{8EC92193-E6EF-4948-B7BB-87A75AD7CC99}"/>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库存管理与数学优化  6分钟</a:t>
            </a:r>
          </a:p>
        </p:txBody>
      </p:sp>
      <p:sp>
        <p:nvSpPr>
          <p:cNvPr id="4" name="">
            <a:extLst xmlns:a="http://schemas.openxmlformats.org/drawingml/2006/main">
              <a:ext uri="{FF2B5EF4-FFF2-40B4-BE49-F238E27FC236}">
                <a16:creationId xmlns:a16="http://schemas.microsoft.com/office/drawing/2014/main" id="{9BB0EF01-1DC7-419A-BA71-5684C09FE8C7}"/>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63 / 94</a:t>
            </a:r>
          </a:p>
        </p:txBody>
      </p:sp>
      <p:graphicFrame>
        <p:nvGraphicFramePr>
          <p:cNvPr id="5" name="Chart">
            <a:extLst xmlns:a="http://schemas.openxmlformats.org/drawingml/2006/main">
              <a:ext uri="{FF2B5EF4-FFF2-40B4-BE49-F238E27FC236}">
                <a16:creationId xmlns:a16="http://schemas.microsoft.com/office/drawing/2014/main" id="{0173319F-F1B9-44B2-B789-F6D946BA8EB7}"/>
              </a:ext>
            </a:extLst>
          </p:cNvPr>
          <p:cNvGraphicFramePr/>
          <p:nvPr/>
        </p:nvGraphicFramePr>
        <p:xfrm>
          <a:off xmlns:a="http://schemas.openxmlformats.org/drawingml/2006/main" x="609600" y="191452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e227bb637b2d42fe"/>
          </a:graphicData>
        </a:graphic>
      </p:graphicFrame>
      <p:sp>
        <p:nvSpPr>
          <p:cNvPr id="6" name="">
            <a:extLst xmlns:a="http://schemas.openxmlformats.org/drawingml/2006/main">
              <a:ext uri="{FF2B5EF4-FFF2-40B4-BE49-F238E27FC236}">
                <a16:creationId xmlns:a16="http://schemas.microsoft.com/office/drawing/2014/main" id="{268BC795-393D-4DA9-AD49-0FC2D8842008}"/>
              </a:ext>
            </a:extLst>
          </p:cNvPr>
          <p:cNvSpPr>
            <a:spLocks xmlns:a="http://schemas.openxmlformats.org/drawingml/2006/main" noGrp="1"/>
          </p:cNvSpPr>
          <p:nvPr/>
        </p:nvSpPr>
        <p:spPr>
          <a:xfrm xmlns:a="http://schemas.openxmlformats.org/drawingml/2006/main">
            <a:off x="619125" y="15621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模拟年持有成本（CNY）</a:t>
            </a:r>
          </a:p>
        </p:txBody>
      </p:sp>
      <p:sp>
        <p:nvSpPr>
          <p:cNvPr id="7" name="">
            <a:extLst xmlns:a="http://schemas.openxmlformats.org/drawingml/2006/main">
              <a:ext uri="{FF2B5EF4-FFF2-40B4-BE49-F238E27FC236}">
                <a16:creationId xmlns:a16="http://schemas.microsoft.com/office/drawing/2014/main" id="{52E977FA-41B9-49A2-9140-8376262E7115}"/>
              </a:ext>
            </a:extLst>
          </p:cNvPr>
          <p:cNvSpPr>
            <a:spLocks xmlns:a="http://schemas.openxmlformats.org/drawingml/2006/main" noGrp="1"/>
          </p:cNvSpPr>
          <p:nvPr/>
        </p:nvSpPr>
        <p:spPr>
          <a:xfrm xmlns:a="http://schemas.openxmlformats.org/drawingml/2006/main">
            <a:off x="628650" y="5391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PN-2002安全库存不最多，但单位价值与交期使成本较高</a:t>
            </a:r>
          </a:p>
        </p:txBody>
      </p:sp>
    </p:spTree>
    <p:extLst>
      <p:ext uri="{BB962C8B-B14F-4D97-AF65-F5344CB8AC3E}">
        <p14:creationId xmlns:p14="http://schemas.microsoft.com/office/powerpoint/2010/main" val="2049852351"/>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A8B663-F68A-413E-BDBB-D846643775F7}"/>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提高缓冲，额外成本是否值得？</a:t>
            </a:r>
          </a:p>
        </p:txBody>
      </p:sp>
      <p:sp>
        <p:nvSpPr>
          <p:cNvPr id="2" name="">
            <a:extLst xmlns:a="http://schemas.openxmlformats.org/drawingml/2006/main">
              <a:ext uri="{FF2B5EF4-FFF2-40B4-BE49-F238E27FC236}">
                <a16:creationId xmlns:a16="http://schemas.microsoft.com/office/drawing/2014/main" id="{8860686A-E2F2-40BC-8CFF-C17F78AC0C93}"/>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同一批数据，仅把z从1.65改为2.33</a:t>
            </a:r>
          </a:p>
        </p:txBody>
      </p:sp>
      <p:sp>
        <p:nvSpPr>
          <p:cNvPr id="3" name="">
            <a:extLst xmlns:a="http://schemas.openxmlformats.org/drawingml/2006/main">
              <a:ext uri="{FF2B5EF4-FFF2-40B4-BE49-F238E27FC236}">
                <a16:creationId xmlns:a16="http://schemas.microsoft.com/office/drawing/2014/main" id="{01CAEDB0-D9B3-4065-848D-F0BB5F6482ED}"/>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库存管理与数学优化  6分钟</a:t>
            </a:r>
          </a:p>
        </p:txBody>
      </p:sp>
      <p:sp>
        <p:nvSpPr>
          <p:cNvPr id="4" name="">
            <a:extLst xmlns:a="http://schemas.openxmlformats.org/drawingml/2006/main">
              <a:ext uri="{FF2B5EF4-FFF2-40B4-BE49-F238E27FC236}">
                <a16:creationId xmlns:a16="http://schemas.microsoft.com/office/drawing/2014/main" id="{FC53F5D8-7ADA-444A-AC88-3C8F98E9F4F3}"/>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64 / 94</a:t>
            </a:r>
          </a:p>
        </p:txBody>
      </p:sp>
      <p:graphicFrame>
        <p:nvGraphicFramePr>
          <p:cNvPr id="5" name="Chart">
            <a:extLst xmlns:a="http://schemas.openxmlformats.org/drawingml/2006/main">
              <a:ext uri="{FF2B5EF4-FFF2-40B4-BE49-F238E27FC236}">
                <a16:creationId xmlns:a16="http://schemas.microsoft.com/office/drawing/2014/main" id="{33D5CFAF-1A38-4067-BC25-AD70E2CD446D}"/>
              </a:ext>
            </a:extLst>
          </p:cNvPr>
          <p:cNvGraphicFramePr/>
          <p:nvPr/>
        </p:nvGraphicFramePr>
        <p:xfrm>
          <a:off xmlns:a="http://schemas.openxmlformats.org/drawingml/2006/main" x="609600" y="191452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b7383bd821f94a55"/>
          </a:graphicData>
        </a:graphic>
      </p:graphicFrame>
      <p:sp>
        <p:nvSpPr>
          <p:cNvPr id="6" name="">
            <a:extLst xmlns:a="http://schemas.openxmlformats.org/drawingml/2006/main">
              <a:ext uri="{FF2B5EF4-FFF2-40B4-BE49-F238E27FC236}">
                <a16:creationId xmlns:a16="http://schemas.microsoft.com/office/drawing/2014/main" id="{5F4F4E98-7C13-49C9-8AEE-61FDB5DC21E8}"/>
              </a:ext>
            </a:extLst>
          </p:cNvPr>
          <p:cNvSpPr>
            <a:spLocks xmlns:a="http://schemas.openxmlformats.org/drawingml/2006/main" noGrp="1"/>
          </p:cNvSpPr>
          <p:nvPr/>
        </p:nvSpPr>
        <p:spPr>
          <a:xfrm xmlns:a="http://schemas.openxmlformats.org/drawingml/2006/main">
            <a:off x="619125" y="15621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模拟年持有成本（CNY）</a:t>
            </a:r>
          </a:p>
        </p:txBody>
      </p:sp>
      <p:sp>
        <p:nvSpPr>
          <p:cNvPr id="7" name="">
            <a:extLst xmlns:a="http://schemas.openxmlformats.org/drawingml/2006/main">
              <a:ext uri="{FF2B5EF4-FFF2-40B4-BE49-F238E27FC236}">
                <a16:creationId xmlns:a16="http://schemas.microsoft.com/office/drawing/2014/main" id="{BD902B73-6B7E-4BB8-9B57-2768141B5B12}"/>
              </a:ext>
            </a:extLst>
          </p:cNvPr>
          <p:cNvSpPr>
            <a:spLocks xmlns:a="http://schemas.openxmlformats.org/drawingml/2006/main" noGrp="1"/>
          </p:cNvSpPr>
          <p:nvPr/>
        </p:nvSpPr>
        <p:spPr>
          <a:xfrm xmlns:a="http://schemas.openxmlformats.org/drawingml/2006/main">
            <a:off x="628650" y="5391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模拟成本增加1,399.90元／年，业务收益仍待验证</a:t>
            </a:r>
          </a:p>
        </p:txBody>
      </p:sp>
    </p:spTree>
    <p:extLst>
      <p:ext uri="{BB962C8B-B14F-4D97-AF65-F5344CB8AC3E}">
        <p14:creationId xmlns:p14="http://schemas.microsoft.com/office/powerpoint/2010/main" val="204304092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0001DD-7B87-4D23-9F07-A6BEFB5AC2B5}"/>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补货、调拨与替代的取舍</a:t>
            </a:r>
          </a:p>
        </p:txBody>
      </p:sp>
      <p:sp>
        <p:nvSpPr>
          <p:cNvPr id="2" name="">
            <a:extLst xmlns:a="http://schemas.openxmlformats.org/drawingml/2006/main">
              <a:ext uri="{FF2B5EF4-FFF2-40B4-BE49-F238E27FC236}">
                <a16:creationId xmlns:a16="http://schemas.microsoft.com/office/drawing/2014/main" id="{A3BB0166-082A-4875-99D1-4823F948995F}"/>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增加库存只是候选措施之一</a:t>
            </a:r>
          </a:p>
        </p:txBody>
      </p:sp>
      <p:sp>
        <p:nvSpPr>
          <p:cNvPr id="3" name="">
            <a:extLst xmlns:a="http://schemas.openxmlformats.org/drawingml/2006/main">
              <a:ext uri="{FF2B5EF4-FFF2-40B4-BE49-F238E27FC236}">
                <a16:creationId xmlns:a16="http://schemas.microsoft.com/office/drawing/2014/main" id="{57219BF0-6055-4CA3-A9F5-C877566144DB}"/>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库存管理与数学优化  6分钟</a:t>
            </a:r>
          </a:p>
        </p:txBody>
      </p:sp>
      <p:sp>
        <p:nvSpPr>
          <p:cNvPr id="4" name="">
            <a:extLst xmlns:a="http://schemas.openxmlformats.org/drawingml/2006/main">
              <a:ext uri="{FF2B5EF4-FFF2-40B4-BE49-F238E27FC236}">
                <a16:creationId xmlns:a16="http://schemas.microsoft.com/office/drawing/2014/main" id="{1E75EF91-CCEB-4FE8-B460-A7EB82C0AC88}"/>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65 / 94</a:t>
            </a:r>
          </a:p>
        </p:txBody>
      </p:sp>
      <p:graphicFrame>
        <p:nvGraphicFramePr>
          <p:cNvPr id="5" name="">
            <a:extLst xmlns:a="http://schemas.openxmlformats.org/drawingml/2006/main">
              <a:ext uri="{FF2B5EF4-FFF2-40B4-BE49-F238E27FC236}">
                <a16:creationId xmlns:a16="http://schemas.microsoft.com/office/drawing/2014/main" id="{54189203-2A05-417A-BBEF-65B8F1054E02}"/>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381250"/>
                <a:gridCol w="4095750"/>
                <a:gridCol w="4495800"/>
              </a:tblGrid>
              <a:tr h="800100">
                <a:tc>
                  <a:txBody>
                    <a:bodyPr lIns="114300" tIns="114300" rIns="114300" bIns="114300"/>
                    <a:lstStyle/>
                    <a:p>
                      <a:r>
                        <a:rPr sz="1725" b="1">
                          <a:solidFill>
                            <a:srgbClr val="477FA8"/>
                          </a:solidFill>
                          <a:latin typeface="PingFang SC"/>
                          <a:ea typeface="PingFang SC"/>
                          <a:cs typeface="PingFang SC"/>
                        </a:rPr>
                        <a:t>措施</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适合讨论的情境</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约束与代价</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调整补货参数</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需求与交期数据可估计</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占用增加、参数需回测</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跨库调拨</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存在可用库存且需求可协调</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运输、物权和其他需求影响</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经批准的替代</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工程可确认适用范围</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适用性、文件与审批</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借件／交换／修理</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具备可行商业与维修条件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归还、价值和周期不确定</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282902092"/>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59CB138-F233-402F-AD2A-824E7DE4E6B6}"/>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实训验证：改变参数后结果如何变化？</a:t>
            </a:r>
          </a:p>
        </p:txBody>
      </p:sp>
      <p:sp>
        <p:nvSpPr>
          <p:cNvPr id="2" name="">
            <a:extLst xmlns:a="http://schemas.openxmlformats.org/drawingml/2006/main">
              <a:ext uri="{FF2B5EF4-FFF2-40B4-BE49-F238E27FC236}">
                <a16:creationId xmlns:a16="http://schemas.microsoft.com/office/drawing/2014/main" id="{71EA540E-FA4B-4A28-ACE6-529EC708B108}"/>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场景改变须重新计算，并保留基线</a:t>
            </a:r>
          </a:p>
        </p:txBody>
      </p:sp>
      <p:sp>
        <p:nvSpPr>
          <p:cNvPr id="3" name="">
            <a:extLst xmlns:a="http://schemas.openxmlformats.org/drawingml/2006/main">
              <a:ext uri="{FF2B5EF4-FFF2-40B4-BE49-F238E27FC236}">
                <a16:creationId xmlns:a16="http://schemas.microsoft.com/office/drawing/2014/main" id="{60816187-7176-496C-9CE8-D3F25F200060}"/>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库存管理与数学优化  6分钟</a:t>
            </a:r>
          </a:p>
        </p:txBody>
      </p:sp>
      <p:sp>
        <p:nvSpPr>
          <p:cNvPr id="4" name="">
            <a:extLst xmlns:a="http://schemas.openxmlformats.org/drawingml/2006/main">
              <a:ext uri="{FF2B5EF4-FFF2-40B4-BE49-F238E27FC236}">
                <a16:creationId xmlns:a16="http://schemas.microsoft.com/office/drawing/2014/main" id="{2346398A-5223-4014-9636-0F8CD87F7B45}"/>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66 / 94</a:t>
            </a:r>
          </a:p>
        </p:txBody>
      </p:sp>
      <p:pic>
        <p:nvPicPr>
          <p:cNvPr id="5" name="">
            <a:extLst xmlns:a="http://schemas.openxmlformats.org/drawingml/2006/main">
              <a:ext uri="{FF2B5EF4-FFF2-40B4-BE49-F238E27FC236}">
                <a16:creationId xmlns:a16="http://schemas.microsoft.com/office/drawing/2014/main" id="{5D79CDC8-094E-43AE-A138-3A360168FBDE}"/>
              </a:ext>
            </a:extLst>
          </p:cNvPr>
          <p:cNvPicPr>
            <a:picLocks xmlns:a="http://schemas.openxmlformats.org/drawingml/2006/main" noChangeAspect="1"/>
          </p:cNvPicPr>
          <p:nvPr/>
        </p:nvPicPr>
        <p:blipFill>
          <a:blip xmlns:r="http://schemas.openxmlformats.org/officeDocument/2006/relationships" xmlns:a="http://schemas.openxmlformats.org/drawingml/2006/main" r:embed="R9abebd2bc8f4452f"/>
          <a:stretch xmlns:a="http://schemas.openxmlformats.org/drawingml/2006/main"/>
        </p:blipFill>
        <p:spPr>
          <a:xfrm xmlns:a="http://schemas.openxmlformats.org/drawingml/2006/main">
            <a:off x="609600" y="2466975"/>
            <a:ext cx="7715250" cy="22098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9B02C6B-703B-47EF-B783-196A6562B2D8}"/>
              </a:ext>
            </a:extLst>
          </p:cNvPr>
          <p:cNvSpPr>
            <a:spLocks xmlns:a="http://schemas.openxmlformats.org/drawingml/2006/main" noGrp="1"/>
          </p:cNvSpPr>
          <p:nvPr/>
        </p:nvSpPr>
        <p:spPr>
          <a:xfrm xmlns:a="http://schemas.openxmlformats.org/drawingml/2006/main">
            <a:off x="8858250" y="1809750"/>
            <a:ext cx="2724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业务核对</a:t>
            </a:r>
          </a:p>
        </p:txBody>
      </p:sp>
      <p:sp>
        <p:nvSpPr>
          <p:cNvPr id="7" name="">
            <a:extLst xmlns:a="http://schemas.openxmlformats.org/drawingml/2006/main">
              <a:ext uri="{FF2B5EF4-FFF2-40B4-BE49-F238E27FC236}">
                <a16:creationId xmlns:a16="http://schemas.microsoft.com/office/drawing/2014/main" id="{EC831A9F-977C-4376-9C9A-B01FC1C89198}"/>
              </a:ext>
            </a:extLst>
          </p:cNvPr>
          <p:cNvSpPr>
            <a:spLocks xmlns:a="http://schemas.openxmlformats.org/drawingml/2006/main" noGrp="1"/>
          </p:cNvSpPr>
          <p:nvPr/>
        </p:nvSpPr>
        <p:spPr>
          <a:xfrm xmlns:a="http://schemas.openxmlformats.org/drawingml/2006/main">
            <a:off x="8858250" y="25622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01</a:t>
            </a:r>
          </a:p>
        </p:txBody>
      </p:sp>
      <p:sp>
        <p:nvSpPr>
          <p:cNvPr id="8" name="">
            <a:extLst xmlns:a="http://schemas.openxmlformats.org/drawingml/2006/main">
              <a:ext uri="{FF2B5EF4-FFF2-40B4-BE49-F238E27FC236}">
                <a16:creationId xmlns:a16="http://schemas.microsoft.com/office/drawing/2014/main" id="{96BFEAAC-86E4-4004-AD5A-4CDC6CFD5551}"/>
              </a:ext>
            </a:extLst>
          </p:cNvPr>
          <p:cNvSpPr>
            <a:spLocks xmlns:a="http://schemas.openxmlformats.org/drawingml/2006/main" noGrp="1"/>
          </p:cNvSpPr>
          <p:nvPr/>
        </p:nvSpPr>
        <p:spPr>
          <a:xfrm xmlns:a="http://schemas.openxmlformats.org/drawingml/2006/main">
            <a:off x="8858250" y="29432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基线：z=1.65</a:t>
            </a:r>
          </a:p>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持有率20%</a:t>
            </a:r>
          </a:p>
        </p:txBody>
      </p:sp>
      <p:sp>
        <p:nvSpPr>
          <p:cNvPr id="9" name="">
            <a:extLst xmlns:a="http://schemas.openxmlformats.org/drawingml/2006/main">
              <a:ext uri="{FF2B5EF4-FFF2-40B4-BE49-F238E27FC236}">
                <a16:creationId xmlns:a16="http://schemas.microsoft.com/office/drawing/2014/main" id="{B3C70BAD-F8F7-4BCB-9B6F-189EEB394903}"/>
              </a:ext>
            </a:extLst>
          </p:cNvPr>
          <p:cNvSpPr>
            <a:spLocks xmlns:a="http://schemas.openxmlformats.org/drawingml/2006/main" noGrp="1"/>
          </p:cNvSpPr>
          <p:nvPr/>
        </p:nvSpPr>
        <p:spPr>
          <a:xfrm xmlns:a="http://schemas.openxmlformats.org/drawingml/2006/main">
            <a:off x="8858250" y="36290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02</a:t>
            </a:r>
          </a:p>
        </p:txBody>
      </p:sp>
      <p:sp>
        <p:nvSpPr>
          <p:cNvPr id="10" name="">
            <a:extLst xmlns:a="http://schemas.openxmlformats.org/drawingml/2006/main">
              <a:ext uri="{FF2B5EF4-FFF2-40B4-BE49-F238E27FC236}">
                <a16:creationId xmlns:a16="http://schemas.microsoft.com/office/drawing/2014/main" id="{A415EF21-CE13-4111-9361-AFB9CD53C314}"/>
              </a:ext>
            </a:extLst>
          </p:cNvPr>
          <p:cNvSpPr>
            <a:spLocks xmlns:a="http://schemas.openxmlformats.org/drawingml/2006/main" noGrp="1"/>
          </p:cNvSpPr>
          <p:nvPr/>
        </p:nvSpPr>
        <p:spPr>
          <a:xfrm xmlns:a="http://schemas.openxmlformats.org/drawingml/2006/main">
            <a:off x="8858250" y="40100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只调整z为2.33再运行</a:t>
            </a:r>
          </a:p>
        </p:txBody>
      </p:sp>
      <p:sp>
        <p:nvSpPr>
          <p:cNvPr id="11" name="">
            <a:extLst xmlns:a="http://schemas.openxmlformats.org/drawingml/2006/main">
              <a:ext uri="{FF2B5EF4-FFF2-40B4-BE49-F238E27FC236}">
                <a16:creationId xmlns:a16="http://schemas.microsoft.com/office/drawing/2014/main" id="{09DC5245-DF46-4AED-9FD4-2D1391EE449A}"/>
              </a:ext>
            </a:extLst>
          </p:cNvPr>
          <p:cNvSpPr>
            <a:spLocks xmlns:a="http://schemas.openxmlformats.org/drawingml/2006/main" noGrp="1"/>
          </p:cNvSpPr>
          <p:nvPr/>
        </p:nvSpPr>
        <p:spPr>
          <a:xfrm xmlns:a="http://schemas.openxmlformats.org/drawingml/2006/main">
            <a:off x="8858250" y="46958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03</a:t>
            </a:r>
          </a:p>
        </p:txBody>
      </p:sp>
      <p:sp>
        <p:nvSpPr>
          <p:cNvPr id="12" name="">
            <a:extLst xmlns:a="http://schemas.openxmlformats.org/drawingml/2006/main">
              <a:ext uri="{FF2B5EF4-FFF2-40B4-BE49-F238E27FC236}">
                <a16:creationId xmlns:a16="http://schemas.microsoft.com/office/drawing/2014/main" id="{286781E6-79C4-42F6-8848-355E51F08105}"/>
              </a:ext>
            </a:extLst>
          </p:cNvPr>
          <p:cNvSpPr>
            <a:spLocks xmlns:a="http://schemas.openxmlformats.org/drawingml/2006/main" noGrp="1"/>
          </p:cNvSpPr>
          <p:nvPr/>
        </p:nvSpPr>
        <p:spPr>
          <a:xfrm xmlns:a="http://schemas.openxmlformats.org/drawingml/2006/main">
            <a:off x="8858250" y="50768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比较成本与模型假设</a:t>
            </a:r>
          </a:p>
        </p:txBody>
      </p:sp>
      <p:sp>
        <p:nvSpPr>
          <p:cNvPr id="13" name="">
            <a:extLst xmlns:a="http://schemas.openxmlformats.org/drawingml/2006/main">
              <a:ext uri="{FF2B5EF4-FFF2-40B4-BE49-F238E27FC236}">
                <a16:creationId xmlns:a16="http://schemas.microsoft.com/office/drawing/2014/main" id="{8FEC8515-1F46-488B-A2AC-24AA793CE132}"/>
              </a:ext>
            </a:extLst>
          </p:cNvPr>
          <p:cNvSpPr>
            <a:spLocks xmlns:a="http://schemas.openxmlformats.org/drawingml/2006/main" noGrp="1"/>
          </p:cNvSpPr>
          <p:nvPr/>
        </p:nvSpPr>
        <p:spPr>
          <a:xfrm xmlns:a="http://schemas.openxmlformats.org/drawingml/2006/main">
            <a:off x="628650" y="5810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培训系统实际界面，数据为模拟。计算之后仍需业务复核</a:t>
            </a:r>
          </a:p>
        </p:txBody>
      </p:sp>
    </p:spTree>
    <p:extLst>
      <p:ext uri="{BB962C8B-B14F-4D97-AF65-F5344CB8AC3E}">
        <p14:creationId xmlns:p14="http://schemas.microsoft.com/office/powerpoint/2010/main" val="1237567398"/>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0D3BA8D-434B-4E89-86A1-23C3753FCE3C}"/>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M05实训：提出库存策略试点</a:t>
            </a:r>
          </a:p>
        </p:txBody>
      </p:sp>
      <p:sp>
        <p:nvSpPr>
          <p:cNvPr id="2" name="">
            <a:extLst xmlns:a="http://schemas.openxmlformats.org/drawingml/2006/main">
              <a:ext uri="{FF2B5EF4-FFF2-40B4-BE49-F238E27FC236}">
                <a16:creationId xmlns:a16="http://schemas.microsoft.com/office/drawing/2014/main" id="{AAB33B13-7632-4FDE-8B44-15CA4E7F765A}"/>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20分钟，以成本和保障指标共同评价</a:t>
            </a:r>
          </a:p>
        </p:txBody>
      </p:sp>
      <p:sp>
        <p:nvSpPr>
          <p:cNvPr id="3" name="">
            <a:extLst xmlns:a="http://schemas.openxmlformats.org/drawingml/2006/main">
              <a:ext uri="{FF2B5EF4-FFF2-40B4-BE49-F238E27FC236}">
                <a16:creationId xmlns:a16="http://schemas.microsoft.com/office/drawing/2014/main" id="{8893CDB6-E36D-4019-9AD4-712A8167B6FD}"/>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库存管理与数学优化  20分钟</a:t>
            </a:r>
          </a:p>
        </p:txBody>
      </p:sp>
      <p:sp>
        <p:nvSpPr>
          <p:cNvPr id="4" name="">
            <a:extLst xmlns:a="http://schemas.openxmlformats.org/drawingml/2006/main">
              <a:ext uri="{FF2B5EF4-FFF2-40B4-BE49-F238E27FC236}">
                <a16:creationId xmlns:a16="http://schemas.microsoft.com/office/drawing/2014/main" id="{C9FBDD48-B3F8-4F52-9B88-E909ABF5FAE9}"/>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67 / 94</a:t>
            </a:r>
          </a:p>
        </p:txBody>
      </p:sp>
      <p:sp>
        <p:nvSpPr>
          <p:cNvPr id="5" name="">
            <a:extLst xmlns:a="http://schemas.openxmlformats.org/drawingml/2006/main">
              <a:ext uri="{FF2B5EF4-FFF2-40B4-BE49-F238E27FC236}">
                <a16:creationId xmlns:a16="http://schemas.microsoft.com/office/drawing/2014/main" id="{09368D45-E0E5-436A-9D52-271F8DB1A75B}"/>
              </a:ext>
            </a:extLst>
          </p:cNvPr>
          <p:cNvSpPr>
            <a:spLocks xmlns:a="http://schemas.openxmlformats.org/drawingml/2006/main" noGrp="1"/>
          </p:cNvSpPr>
          <p:nvPr/>
        </p:nvSpPr>
        <p:spPr>
          <a:xfrm xmlns:a="http://schemas.openxmlformats.org/drawingml/2006/main">
            <a:off x="609600" y="17526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讨论与操作</a:t>
            </a:r>
          </a:p>
        </p:txBody>
      </p:sp>
      <p:sp>
        <p:nvSpPr>
          <p:cNvPr id="6" name="">
            <a:extLst xmlns:a="http://schemas.openxmlformats.org/drawingml/2006/main">
              <a:ext uri="{FF2B5EF4-FFF2-40B4-BE49-F238E27FC236}">
                <a16:creationId xmlns:a16="http://schemas.microsoft.com/office/drawing/2014/main" id="{483012FB-4CFF-45CD-9E11-A6F9D786EB11}"/>
              </a:ext>
            </a:extLst>
          </p:cNvPr>
          <p:cNvSpPr>
            <a:spLocks xmlns:a="http://schemas.openxmlformats.org/drawingml/2006/main" noGrp="1"/>
          </p:cNvSpPr>
          <p:nvPr/>
        </p:nvSpPr>
        <p:spPr>
          <a:xfrm xmlns:a="http://schemas.openxmlformats.org/drawingml/2006/main">
            <a:off x="609600" y="2476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01</a:t>
            </a:r>
          </a:p>
        </p:txBody>
      </p:sp>
      <p:sp>
        <p:nvSpPr>
          <p:cNvPr id="7" name="">
            <a:extLst xmlns:a="http://schemas.openxmlformats.org/drawingml/2006/main">
              <a:ext uri="{FF2B5EF4-FFF2-40B4-BE49-F238E27FC236}">
                <a16:creationId xmlns:a16="http://schemas.microsoft.com/office/drawing/2014/main" id="{420E3D43-98EF-4C90-8143-337B5570D33D}"/>
              </a:ext>
            </a:extLst>
          </p:cNvPr>
          <p:cNvSpPr>
            <a:spLocks xmlns:a="http://schemas.openxmlformats.org/drawingml/2006/main" noGrp="1"/>
          </p:cNvSpPr>
          <p:nvPr/>
        </p:nvSpPr>
        <p:spPr>
          <a:xfrm xmlns:a="http://schemas.openxmlformats.org/drawingml/2006/main">
            <a:off x="1476375" y="23526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复算至少一个件号的SS和ROP</a:t>
            </a:r>
          </a:p>
        </p:txBody>
      </p:sp>
      <p:sp>
        <p:nvSpPr>
          <p:cNvPr id="8" name="">
            <a:extLst xmlns:a="http://schemas.openxmlformats.org/drawingml/2006/main">
              <a:ext uri="{FF2B5EF4-FFF2-40B4-BE49-F238E27FC236}">
                <a16:creationId xmlns:a16="http://schemas.microsoft.com/office/drawing/2014/main" id="{07AC8452-7360-45C9-A24D-6F9AA24C8016}"/>
              </a:ext>
            </a:extLst>
          </p:cNvPr>
          <p:cNvSpPr>
            <a:spLocks xmlns:a="http://schemas.openxmlformats.org/drawingml/2006/main" noGrp="1"/>
          </p:cNvSpPr>
          <p:nvPr/>
        </p:nvSpPr>
        <p:spPr>
          <a:xfrm xmlns:a="http://schemas.openxmlformats.org/drawingml/2006/main">
            <a:off x="609600" y="35814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02</a:t>
            </a:r>
          </a:p>
        </p:txBody>
      </p:sp>
      <p:sp>
        <p:nvSpPr>
          <p:cNvPr id="9" name="">
            <a:extLst xmlns:a="http://schemas.openxmlformats.org/drawingml/2006/main">
              <a:ext uri="{FF2B5EF4-FFF2-40B4-BE49-F238E27FC236}">
                <a16:creationId xmlns:a16="http://schemas.microsoft.com/office/drawing/2014/main" id="{F997F682-10BA-47B0-A03F-B345ABDE6BC6}"/>
              </a:ext>
            </a:extLst>
          </p:cNvPr>
          <p:cNvSpPr>
            <a:spLocks xmlns:a="http://schemas.openxmlformats.org/drawingml/2006/main" noGrp="1"/>
          </p:cNvSpPr>
          <p:nvPr/>
        </p:nvSpPr>
        <p:spPr>
          <a:xfrm xmlns:a="http://schemas.openxmlformats.org/drawingml/2006/main">
            <a:off x="1476375" y="34575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对比z=1.65与2.33的成本</a:t>
            </a:r>
          </a:p>
        </p:txBody>
      </p:sp>
      <p:sp>
        <p:nvSpPr>
          <p:cNvPr id="10" name="">
            <a:extLst xmlns:a="http://schemas.openxmlformats.org/drawingml/2006/main">
              <a:ext uri="{FF2B5EF4-FFF2-40B4-BE49-F238E27FC236}">
                <a16:creationId xmlns:a16="http://schemas.microsoft.com/office/drawing/2014/main" id="{FA87BB50-229C-4C2C-8D23-E335A745CBE9}"/>
              </a:ext>
            </a:extLst>
          </p:cNvPr>
          <p:cNvSpPr>
            <a:spLocks xmlns:a="http://schemas.openxmlformats.org/drawingml/2006/main" noGrp="1"/>
          </p:cNvSpPr>
          <p:nvPr/>
        </p:nvSpPr>
        <p:spPr>
          <a:xfrm xmlns:a="http://schemas.openxmlformats.org/drawingml/2006/main">
            <a:off x="609600" y="4686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03</a:t>
            </a:r>
          </a:p>
        </p:txBody>
      </p:sp>
      <p:sp>
        <p:nvSpPr>
          <p:cNvPr id="11" name="">
            <a:extLst xmlns:a="http://schemas.openxmlformats.org/drawingml/2006/main">
              <a:ext uri="{FF2B5EF4-FFF2-40B4-BE49-F238E27FC236}">
                <a16:creationId xmlns:a16="http://schemas.microsoft.com/office/drawing/2014/main" id="{6303308F-E2C3-4D34-9E36-39C8E0F4C729}"/>
              </a:ext>
            </a:extLst>
          </p:cNvPr>
          <p:cNvSpPr>
            <a:spLocks xmlns:a="http://schemas.openxmlformats.org/drawingml/2006/main" noGrp="1"/>
          </p:cNvSpPr>
          <p:nvPr/>
        </p:nvSpPr>
        <p:spPr>
          <a:xfrm xmlns:a="http://schemas.openxmlformats.org/drawingml/2006/main">
            <a:off x="1476375" y="45624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选择一个件号提出试点及停止条件</a:t>
            </a:r>
          </a:p>
        </p:txBody>
      </p:sp>
      <p:sp>
        <p:nvSpPr>
          <p:cNvPr id="12" name="">
            <a:extLst xmlns:a="http://schemas.openxmlformats.org/drawingml/2006/main">
              <a:ext uri="{FF2B5EF4-FFF2-40B4-BE49-F238E27FC236}">
                <a16:creationId xmlns:a16="http://schemas.microsoft.com/office/drawing/2014/main" id="{A83B7610-479B-4145-A64F-95503A17E5EA}"/>
              </a:ext>
            </a:extLst>
          </p:cNvPr>
          <p:cNvSpPr>
            <a:spLocks xmlns:a="http://schemas.openxmlformats.org/drawingml/2006/main" noGrp="1"/>
          </p:cNvSpPr>
          <p:nvPr/>
        </p:nvSpPr>
        <p:spPr>
          <a:xfrm xmlns:a="http://schemas.openxmlformats.org/drawingml/2006/main">
            <a:off x="7943850" y="17526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本次输出</a:t>
            </a:r>
          </a:p>
        </p:txBody>
      </p:sp>
      <p:sp>
        <p:nvSpPr>
          <p:cNvPr id="13" name="">
            <a:extLst xmlns:a="http://schemas.openxmlformats.org/drawingml/2006/main">
              <a:ext uri="{FF2B5EF4-FFF2-40B4-BE49-F238E27FC236}">
                <a16:creationId xmlns:a16="http://schemas.microsoft.com/office/drawing/2014/main" id="{421EA3FC-F34F-465A-B66F-35C046513923}"/>
              </a:ext>
            </a:extLst>
          </p:cNvPr>
          <p:cNvSpPr>
            <a:spLocks xmlns:a="http://schemas.openxmlformats.org/drawingml/2006/main" noGrp="1"/>
          </p:cNvSpPr>
          <p:nvPr/>
        </p:nvSpPr>
        <p:spPr>
          <a:xfrm xmlns:a="http://schemas.openxmlformats.org/drawingml/2006/main">
            <a:off x="7943850" y="24574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基线和情景比较表</a:t>
            </a:r>
          </a:p>
        </p:txBody>
      </p:sp>
      <p:sp>
        <p:nvSpPr>
          <p:cNvPr id="14" name="">
            <a:extLst xmlns:a="http://schemas.openxmlformats.org/drawingml/2006/main">
              <a:ext uri="{FF2B5EF4-FFF2-40B4-BE49-F238E27FC236}">
                <a16:creationId xmlns:a16="http://schemas.microsoft.com/office/drawing/2014/main" id="{F5B58EB0-B91B-4C13-8A47-DA7258EE532A}"/>
              </a:ext>
            </a:extLst>
          </p:cNvPr>
          <p:cNvSpPr>
            <a:spLocks xmlns:a="http://schemas.openxmlformats.org/drawingml/2006/main" noGrp="1"/>
          </p:cNvSpPr>
          <p:nvPr/>
        </p:nvSpPr>
        <p:spPr>
          <a:xfrm xmlns:a="http://schemas.openxmlformats.org/drawingml/2006/main">
            <a:off x="7943850" y="35623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模型适用性与未覆盖约束</a:t>
            </a:r>
          </a:p>
        </p:txBody>
      </p:sp>
      <p:sp>
        <p:nvSpPr>
          <p:cNvPr id="15" name="">
            <a:extLst xmlns:a="http://schemas.openxmlformats.org/drawingml/2006/main">
              <a:ext uri="{FF2B5EF4-FFF2-40B4-BE49-F238E27FC236}">
                <a16:creationId xmlns:a16="http://schemas.microsoft.com/office/drawing/2014/main" id="{1811DC3A-CB98-403E-9B4A-B67FC24B4019}"/>
              </a:ext>
            </a:extLst>
          </p:cNvPr>
          <p:cNvSpPr>
            <a:spLocks xmlns:a="http://schemas.openxmlformats.org/drawingml/2006/main" noGrp="1"/>
          </p:cNvSpPr>
          <p:nvPr/>
        </p:nvSpPr>
        <p:spPr>
          <a:xfrm xmlns:a="http://schemas.openxmlformats.org/drawingml/2006/main">
            <a:off x="7943850" y="46672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责任人、成本上限和验证指标</a:t>
            </a:r>
          </a:p>
        </p:txBody>
      </p:sp>
    </p:spTree>
    <p:extLst>
      <p:ext uri="{BB962C8B-B14F-4D97-AF65-F5344CB8AC3E}">
        <p14:creationId xmlns:p14="http://schemas.microsoft.com/office/powerpoint/2010/main" val="161611044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436EFD3-0551-47BB-8881-C52E01B1C2DC}"/>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M05复盘：如何验证库存策略有效？</a:t>
            </a:r>
          </a:p>
        </p:txBody>
      </p:sp>
      <p:sp>
        <p:nvSpPr>
          <p:cNvPr id="2" name="">
            <a:extLst xmlns:a="http://schemas.openxmlformats.org/drawingml/2006/main">
              <a:ext uri="{FF2B5EF4-FFF2-40B4-BE49-F238E27FC236}">
                <a16:creationId xmlns:a16="http://schemas.microsoft.com/office/drawing/2014/main" id="{BBA0BCD0-C54C-4EBB-AC42-FF58C948241F}"/>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成本变化是可计算项，真实保障效果需要持续验证</a:t>
            </a:r>
          </a:p>
        </p:txBody>
      </p:sp>
      <p:sp>
        <p:nvSpPr>
          <p:cNvPr id="3" name="">
            <a:extLst xmlns:a="http://schemas.openxmlformats.org/drawingml/2006/main">
              <a:ext uri="{FF2B5EF4-FFF2-40B4-BE49-F238E27FC236}">
                <a16:creationId xmlns:a16="http://schemas.microsoft.com/office/drawing/2014/main" id="{2E43D6D7-F47E-4F4F-9015-E988588E9971}"/>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库存管理与数学优化  8分钟</a:t>
            </a:r>
          </a:p>
        </p:txBody>
      </p:sp>
      <p:sp>
        <p:nvSpPr>
          <p:cNvPr id="4" name="">
            <a:extLst xmlns:a="http://schemas.openxmlformats.org/drawingml/2006/main">
              <a:ext uri="{FF2B5EF4-FFF2-40B4-BE49-F238E27FC236}">
                <a16:creationId xmlns:a16="http://schemas.microsoft.com/office/drawing/2014/main" id="{AFCE0B05-1B96-477A-B6DB-B0642E413708}"/>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68 / 94</a:t>
            </a:r>
          </a:p>
        </p:txBody>
      </p:sp>
      <p:graphicFrame>
        <p:nvGraphicFramePr>
          <p:cNvPr id="5" name="">
            <a:extLst xmlns:a="http://schemas.openxmlformats.org/drawingml/2006/main">
              <a:ext uri="{FF2B5EF4-FFF2-40B4-BE49-F238E27FC236}">
                <a16:creationId xmlns:a16="http://schemas.microsoft.com/office/drawing/2014/main" id="{89013EFF-FE89-4BED-9A6A-9D5B8C111EF1}"/>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571750"/>
                <a:gridCol w="4191000"/>
                <a:gridCol w="4210050"/>
              </a:tblGrid>
              <a:tr h="800100">
                <a:tc>
                  <a:txBody>
                    <a:bodyPr lIns="114300" tIns="114300" rIns="114300" bIns="114300"/>
                    <a:lstStyle/>
                    <a:p>
                      <a:r>
                        <a:rPr sz="1725" b="1">
                          <a:solidFill>
                            <a:srgbClr val="477FA8"/>
                          </a:solidFill>
                          <a:latin typeface="PingFang SC"/>
                          <a:ea typeface="PingFang SC"/>
                          <a:cs typeface="PingFang SC"/>
                        </a:rPr>
                        <a:t>验证内容</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建议口径</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需要控制</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服务结果</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按期可用需求满足率</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固定需求行或数量分母</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缺料情况</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缺料行数与持续时间</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区分数据缺失与真实缺口</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资金与成本</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库存金额与持有成本</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不把金额释放与费用节省相加</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适用边界</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需求和交期假设是否成立</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异常、间歇与参数漂移</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2007847099"/>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7DF3F1-6BB8-48E4-AF56-132E72E15F57}"/>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AOG保障：最快方案为什么可能不可用？</a:t>
            </a:r>
          </a:p>
        </p:txBody>
      </p:sp>
      <p:sp>
        <p:nvSpPr>
          <p:cNvPr id="2" name="">
            <a:extLst xmlns:a="http://schemas.openxmlformats.org/drawingml/2006/main">
              <a:ext uri="{FF2B5EF4-FFF2-40B4-BE49-F238E27FC236}">
                <a16:creationId xmlns:a16="http://schemas.microsoft.com/office/drawing/2014/main" id="{C38C7977-24A9-487C-AF44-EB623598EE13}"/>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专题目标：在时间约束内组织可核实的候选保障方式</a:t>
            </a:r>
          </a:p>
        </p:txBody>
      </p:sp>
      <p:sp>
        <p:nvSpPr>
          <p:cNvPr id="3" name="">
            <a:extLst xmlns:a="http://schemas.openxmlformats.org/drawingml/2006/main">
              <a:ext uri="{FF2B5EF4-FFF2-40B4-BE49-F238E27FC236}">
                <a16:creationId xmlns:a16="http://schemas.microsoft.com/office/drawing/2014/main" id="{4DBED450-903C-4D3B-8509-07BDF869A5BF}"/>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AOG紧急采购与智能体  3分钟</a:t>
            </a:r>
          </a:p>
        </p:txBody>
      </p:sp>
      <p:sp>
        <p:nvSpPr>
          <p:cNvPr id="4" name="">
            <a:extLst xmlns:a="http://schemas.openxmlformats.org/drawingml/2006/main">
              <a:ext uri="{FF2B5EF4-FFF2-40B4-BE49-F238E27FC236}">
                <a16:creationId xmlns:a16="http://schemas.microsoft.com/office/drawing/2014/main" id="{BA7A1A2F-6E1D-4AB8-9878-E03CEB97AE20}"/>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69 / 94</a:t>
            </a:r>
          </a:p>
        </p:txBody>
      </p:sp>
      <p:sp>
        <p:nvSpPr>
          <p:cNvPr id="5" name="">
            <a:extLst xmlns:a="http://schemas.openxmlformats.org/drawingml/2006/main">
              <a:ext uri="{FF2B5EF4-FFF2-40B4-BE49-F238E27FC236}">
                <a16:creationId xmlns:a16="http://schemas.microsoft.com/office/drawing/2014/main" id="{13A70B84-5BDD-4C73-848C-15EC16E18428}"/>
              </a:ext>
            </a:extLst>
          </p:cNvPr>
          <p:cNvSpPr>
            <a:spLocks xmlns:a="http://schemas.openxmlformats.org/drawingml/2006/main" noGrp="1"/>
          </p:cNvSpPr>
          <p:nvPr/>
        </p:nvSpPr>
        <p:spPr>
          <a:xfrm xmlns:a="http://schemas.openxmlformats.org/drawingml/2006/main">
            <a:off x="609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待分析的问题</a:t>
            </a:r>
          </a:p>
        </p:txBody>
      </p:sp>
      <p:sp>
        <p:nvSpPr>
          <p:cNvPr id="6" name="">
            <a:extLst xmlns:a="http://schemas.openxmlformats.org/drawingml/2006/main">
              <a:ext uri="{FF2B5EF4-FFF2-40B4-BE49-F238E27FC236}">
                <a16:creationId xmlns:a16="http://schemas.microsoft.com/office/drawing/2014/main" id="{371CFB81-C01A-4EA0-A3DF-2491FC296553}"/>
              </a:ext>
            </a:extLst>
          </p:cNvPr>
          <p:cNvSpPr>
            <a:spLocks xmlns:a="http://schemas.openxmlformats.org/drawingml/2006/main" noGrp="1"/>
          </p:cNvSpPr>
          <p:nvPr/>
        </p:nvSpPr>
        <p:spPr>
          <a:xfrm xmlns:a="http://schemas.openxmlformats.org/drawingml/2006/main">
            <a:off x="609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跨时区信息与到达时点不同步</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证书与适用性尚未确认</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运输和清关时间具有不确定性</a:t>
            </a:r>
          </a:p>
        </p:txBody>
      </p:sp>
      <p:sp>
        <p:nvSpPr>
          <p:cNvPr id="7" name="">
            <a:extLst xmlns:a="http://schemas.openxmlformats.org/drawingml/2006/main">
              <a:ext uri="{FF2B5EF4-FFF2-40B4-BE49-F238E27FC236}">
                <a16:creationId xmlns:a16="http://schemas.microsoft.com/office/drawing/2014/main" id="{CFDCDEF8-100A-435E-8792-2EF5FFA59BE8}"/>
              </a:ext>
            </a:extLst>
          </p:cNvPr>
          <p:cNvSpPr>
            <a:spLocks xmlns:a="http://schemas.openxmlformats.org/drawingml/2006/main" noGrp="1"/>
          </p:cNvSpPr>
          <p:nvPr/>
        </p:nvSpPr>
        <p:spPr>
          <a:xfrm xmlns:a="http://schemas.openxmlformats.org/drawingml/2006/main">
            <a:off x="6324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本专题输出</a:t>
            </a:r>
          </a:p>
        </p:txBody>
      </p:sp>
      <p:sp>
        <p:nvSpPr>
          <p:cNvPr id="8" name="">
            <a:extLst xmlns:a="http://schemas.openxmlformats.org/drawingml/2006/main">
              <a:ext uri="{FF2B5EF4-FFF2-40B4-BE49-F238E27FC236}">
                <a16:creationId xmlns:a16="http://schemas.microsoft.com/office/drawing/2014/main" id="{AE2B362F-6DB9-4CA1-A912-5F0E55B31238}"/>
              </a:ext>
            </a:extLst>
          </p:cNvPr>
          <p:cNvSpPr>
            <a:spLocks xmlns:a="http://schemas.openxmlformats.org/drawingml/2006/main" noGrp="1"/>
          </p:cNvSpPr>
          <p:nvPr/>
        </p:nvSpPr>
        <p:spPr>
          <a:xfrm xmlns:a="http://schemas.openxmlformats.org/drawingml/2006/main">
            <a:off x="6324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可行方案与排除依据</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时间优先的成本取舍</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人工确认与异常升级路径</a:t>
            </a:r>
          </a:p>
        </p:txBody>
      </p:sp>
    </p:spTree>
    <p:extLst>
      <p:ext uri="{BB962C8B-B14F-4D97-AF65-F5344CB8AC3E}">
        <p14:creationId xmlns:p14="http://schemas.microsoft.com/office/powerpoint/2010/main" val="1578979219"/>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5D04B315-F419-4F28-8231-4F28607CEBC3}"/>
              </a:ext>
            </a:extLst>
          </p:cNvPr>
          <p:cNvCxnSpPr>
            <a:stCxn xmlns:a="http://schemas.openxmlformats.org/drawingml/2006/main" id="10" idx="3"/>
            <a:endCxn xmlns:a="http://schemas.openxmlformats.org/drawingml/2006/main" id="13" idx="1"/>
          </p:cNvCxnSpPr>
          <p:nvPr/>
        </p:nvCxnSpPr>
        <p:spPr>
          <a:xfrm xmlns:a="http://schemas.openxmlformats.org/drawingml/2006/main">
            <a:off x="87439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11" name="">
            <a:extLst xmlns:a="http://schemas.openxmlformats.org/drawingml/2006/main">
              <a:ext uri="{FF2B5EF4-FFF2-40B4-BE49-F238E27FC236}">
                <a16:creationId xmlns:a16="http://schemas.microsoft.com/office/drawing/2014/main" id="{F1D2C91E-494E-4647-B04A-643DE5F8BF9A}"/>
              </a:ext>
            </a:extLst>
          </p:cNvPr>
          <p:cNvCxnSpPr>
            <a:stCxn xmlns:a="http://schemas.openxmlformats.org/drawingml/2006/main" id="7" idx="3"/>
            <a:endCxn xmlns:a="http://schemas.openxmlformats.org/drawingml/2006/main" id="10" idx="1"/>
          </p:cNvCxnSpPr>
          <p:nvPr/>
        </p:nvCxnSpPr>
        <p:spPr>
          <a:xfrm xmlns:a="http://schemas.openxmlformats.org/drawingml/2006/main">
            <a:off x="59055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0CFA6B0A-03D5-46B9-AABF-4C05A1A49884}"/>
              </a:ext>
            </a:extLst>
          </p:cNvPr>
          <p:cNvCxnSpPr>
            <a:stCxn xmlns:a="http://schemas.openxmlformats.org/drawingml/2006/main" id="5" idx="3"/>
            <a:endCxn xmlns:a="http://schemas.openxmlformats.org/drawingml/2006/main" id="7" idx="1"/>
          </p:cNvCxnSpPr>
          <p:nvPr/>
        </p:nvCxnSpPr>
        <p:spPr>
          <a:xfrm xmlns:a="http://schemas.openxmlformats.org/drawingml/2006/main">
            <a:off x="30670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7" name="">
            <a:extLst xmlns:a="http://schemas.openxmlformats.org/drawingml/2006/main">
              <a:ext uri="{FF2B5EF4-FFF2-40B4-BE49-F238E27FC236}">
                <a16:creationId xmlns:a16="http://schemas.microsoft.com/office/drawing/2014/main" id="{5764D720-3845-46B3-87BB-E5547F3045E1}"/>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AOG从接报到可用的确认链</a:t>
            </a:r>
          </a:p>
        </p:txBody>
      </p:sp>
      <p:sp>
        <p:nvSpPr>
          <p:cNvPr id="2" name="">
            <a:extLst xmlns:a="http://schemas.openxmlformats.org/drawingml/2006/main">
              <a:ext uri="{FF2B5EF4-FFF2-40B4-BE49-F238E27FC236}">
                <a16:creationId xmlns:a16="http://schemas.microsoft.com/office/drawing/2014/main" id="{2139BEBF-CBA1-4BAC-9B42-4731564FD126}"/>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每一步都要有责任岗位与证据时间</a:t>
            </a:r>
          </a:p>
        </p:txBody>
      </p:sp>
      <p:sp>
        <p:nvSpPr>
          <p:cNvPr id="3" name="">
            <a:extLst xmlns:a="http://schemas.openxmlformats.org/drawingml/2006/main">
              <a:ext uri="{FF2B5EF4-FFF2-40B4-BE49-F238E27FC236}">
                <a16:creationId xmlns:a16="http://schemas.microsoft.com/office/drawing/2014/main" id="{957FAAD0-E962-41F5-88F6-125D5B7B4E4E}"/>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AOG紧急采购与智能体  5分钟</a:t>
            </a:r>
          </a:p>
        </p:txBody>
      </p:sp>
      <p:sp>
        <p:nvSpPr>
          <p:cNvPr id="4" name="">
            <a:extLst xmlns:a="http://schemas.openxmlformats.org/drawingml/2006/main">
              <a:ext uri="{FF2B5EF4-FFF2-40B4-BE49-F238E27FC236}">
                <a16:creationId xmlns:a16="http://schemas.microsoft.com/office/drawing/2014/main" id="{B952769F-52A8-4B96-A40C-C40F93254F79}"/>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70 / 94</a:t>
            </a:r>
          </a:p>
        </p:txBody>
      </p:sp>
      <p:sp>
        <p:nvSpPr>
          <p:cNvPr id="5" name="">
            <a:extLst xmlns:a="http://schemas.openxmlformats.org/drawingml/2006/main">
              <a:ext uri="{FF2B5EF4-FFF2-40B4-BE49-F238E27FC236}">
                <a16:creationId xmlns:a16="http://schemas.microsoft.com/office/drawing/2014/main" id="{72338374-0B0E-45AB-9E11-DB34176F52FD}"/>
              </a:ext>
            </a:extLst>
          </p:cNvPr>
          <p:cNvSpPr>
            <a:spLocks xmlns:a="http://schemas.openxmlformats.org/drawingml/2006/main" noGrp="1"/>
          </p:cNvSpPr>
          <p:nvPr/>
        </p:nvSpPr>
        <p:spPr>
          <a:xfrm xmlns:a="http://schemas.openxmlformats.org/drawingml/2006/main">
            <a:off x="6096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确认真实需求</a:t>
            </a:r>
          </a:p>
        </p:txBody>
      </p:sp>
      <p:sp>
        <p:nvSpPr>
          <p:cNvPr id="6" name="">
            <a:extLst xmlns:a="http://schemas.openxmlformats.org/drawingml/2006/main">
              <a:ext uri="{FF2B5EF4-FFF2-40B4-BE49-F238E27FC236}">
                <a16:creationId xmlns:a16="http://schemas.microsoft.com/office/drawing/2014/main" id="{780F0273-1651-43A8-A525-42097D676B38}"/>
              </a:ext>
            </a:extLst>
          </p:cNvPr>
          <p:cNvSpPr>
            <a:spLocks xmlns:a="http://schemas.openxmlformats.org/drawingml/2006/main" noGrp="1"/>
          </p:cNvSpPr>
          <p:nvPr/>
        </p:nvSpPr>
        <p:spPr>
          <a:xfrm xmlns:a="http://schemas.openxmlformats.org/drawingml/2006/main">
            <a:off x="5715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件号、适用性、时限</a:t>
            </a:r>
          </a:p>
        </p:txBody>
      </p:sp>
      <p:sp>
        <p:nvSpPr>
          <p:cNvPr id="7" name="">
            <a:extLst xmlns:a="http://schemas.openxmlformats.org/drawingml/2006/main">
              <a:ext uri="{FF2B5EF4-FFF2-40B4-BE49-F238E27FC236}">
                <a16:creationId xmlns:a16="http://schemas.microsoft.com/office/drawing/2014/main" id="{89048344-6CC7-4566-AE62-B3AB727C1F13}"/>
              </a:ext>
            </a:extLst>
          </p:cNvPr>
          <p:cNvSpPr>
            <a:spLocks xmlns:a="http://schemas.openxmlformats.org/drawingml/2006/main" noGrp="1"/>
          </p:cNvSpPr>
          <p:nvPr/>
        </p:nvSpPr>
        <p:spPr>
          <a:xfrm xmlns:a="http://schemas.openxmlformats.org/drawingml/2006/main">
            <a:off x="34480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并行收集候选</a:t>
            </a:r>
          </a:p>
        </p:txBody>
      </p:sp>
      <p:sp>
        <p:nvSpPr>
          <p:cNvPr id="9" name="">
            <a:extLst xmlns:a="http://schemas.openxmlformats.org/drawingml/2006/main">
              <a:ext uri="{FF2B5EF4-FFF2-40B4-BE49-F238E27FC236}">
                <a16:creationId xmlns:a16="http://schemas.microsoft.com/office/drawing/2014/main" id="{6581933B-E40D-4DE0-AB07-6E15F5461FF4}"/>
              </a:ext>
            </a:extLst>
          </p:cNvPr>
          <p:cNvSpPr>
            <a:spLocks xmlns:a="http://schemas.openxmlformats.org/drawingml/2006/main" noGrp="1"/>
          </p:cNvSpPr>
          <p:nvPr/>
        </p:nvSpPr>
        <p:spPr>
          <a:xfrm xmlns:a="http://schemas.openxmlformats.org/drawingml/2006/main">
            <a:off x="34099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购买、借件</a:t>
            </a:r>
          </a:p>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交换与调拨</a:t>
            </a:r>
          </a:p>
        </p:txBody>
      </p:sp>
      <p:sp>
        <p:nvSpPr>
          <p:cNvPr id="10" name="">
            <a:extLst xmlns:a="http://schemas.openxmlformats.org/drawingml/2006/main">
              <a:ext uri="{FF2B5EF4-FFF2-40B4-BE49-F238E27FC236}">
                <a16:creationId xmlns:a16="http://schemas.microsoft.com/office/drawing/2014/main" id="{895B274B-4685-472B-8675-A4DE9A6CF061}"/>
              </a:ext>
            </a:extLst>
          </p:cNvPr>
          <p:cNvSpPr>
            <a:spLocks xmlns:a="http://schemas.openxmlformats.org/drawingml/2006/main" noGrp="1"/>
          </p:cNvSpPr>
          <p:nvPr/>
        </p:nvSpPr>
        <p:spPr>
          <a:xfrm xmlns:a="http://schemas.openxmlformats.org/drawingml/2006/main">
            <a:off x="62865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核对到达与文件</a:t>
            </a:r>
          </a:p>
        </p:txBody>
      </p:sp>
      <p:sp>
        <p:nvSpPr>
          <p:cNvPr id="12" name="">
            <a:extLst xmlns:a="http://schemas.openxmlformats.org/drawingml/2006/main">
              <a:ext uri="{FF2B5EF4-FFF2-40B4-BE49-F238E27FC236}">
                <a16:creationId xmlns:a16="http://schemas.microsoft.com/office/drawing/2014/main" id="{952D543D-B9AF-4746-A9D4-EFEBC0455C38}"/>
              </a:ext>
            </a:extLst>
          </p:cNvPr>
          <p:cNvSpPr>
            <a:spLocks xmlns:a="http://schemas.openxmlformats.org/drawingml/2006/main" noGrp="1"/>
          </p:cNvSpPr>
          <p:nvPr/>
        </p:nvSpPr>
        <p:spPr>
          <a:xfrm xmlns:a="http://schemas.openxmlformats.org/drawingml/2006/main">
            <a:off x="62484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运输与清关</a:t>
            </a:r>
          </a:p>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证据及可用性</a:t>
            </a:r>
          </a:p>
        </p:txBody>
      </p:sp>
      <p:sp>
        <p:nvSpPr>
          <p:cNvPr id="13" name="">
            <a:extLst xmlns:a="http://schemas.openxmlformats.org/drawingml/2006/main">
              <a:ext uri="{FF2B5EF4-FFF2-40B4-BE49-F238E27FC236}">
                <a16:creationId xmlns:a16="http://schemas.microsoft.com/office/drawing/2014/main" id="{D24EB4F0-373D-4104-94A2-0838A5A39AAC}"/>
              </a:ext>
            </a:extLst>
          </p:cNvPr>
          <p:cNvSpPr>
            <a:spLocks xmlns:a="http://schemas.openxmlformats.org/drawingml/2006/main" noGrp="1"/>
          </p:cNvSpPr>
          <p:nvPr/>
        </p:nvSpPr>
        <p:spPr>
          <a:xfrm xmlns:a="http://schemas.openxmlformats.org/drawingml/2006/main">
            <a:off x="91249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授权与持续跟踪</a:t>
            </a:r>
          </a:p>
        </p:txBody>
      </p:sp>
      <p:sp>
        <p:nvSpPr>
          <p:cNvPr id="15" name="">
            <a:extLst xmlns:a="http://schemas.openxmlformats.org/drawingml/2006/main">
              <a:ext uri="{FF2B5EF4-FFF2-40B4-BE49-F238E27FC236}">
                <a16:creationId xmlns:a16="http://schemas.microsoft.com/office/drawing/2014/main" id="{696D43E1-5FF9-4EA4-967C-2534287D7883}"/>
              </a:ext>
            </a:extLst>
          </p:cNvPr>
          <p:cNvSpPr>
            <a:spLocks xmlns:a="http://schemas.openxmlformats.org/drawingml/2006/main" noGrp="1"/>
          </p:cNvSpPr>
          <p:nvPr/>
        </p:nvSpPr>
        <p:spPr>
          <a:xfrm xmlns:a="http://schemas.openxmlformats.org/drawingml/2006/main">
            <a:off x="90868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批准、执行与异常处置</a:t>
            </a:r>
          </a:p>
        </p:txBody>
      </p:sp>
      <p:sp>
        <p:nvSpPr>
          <p:cNvPr id="16" name="">
            <a:extLst xmlns:a="http://schemas.openxmlformats.org/drawingml/2006/main">
              <a:ext uri="{FF2B5EF4-FFF2-40B4-BE49-F238E27FC236}">
                <a16:creationId xmlns:a16="http://schemas.microsoft.com/office/drawing/2014/main" id="{F570B0F0-6297-45BA-A293-B6137AFEE11C}"/>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候选方案可以并行寻找，执行前必须完成必要核对</a:t>
            </a:r>
          </a:p>
        </p:txBody>
      </p:sp>
    </p:spTree>
    <p:extLst>
      <p:ext uri="{BB962C8B-B14F-4D97-AF65-F5344CB8AC3E}">
        <p14:creationId xmlns:p14="http://schemas.microsoft.com/office/powerpoint/2010/main" val="616066329"/>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9D8BB5-5B8D-409E-98BB-5E708AFF7EF6}"/>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四种保障方式的完整比较</a:t>
            </a:r>
          </a:p>
        </p:txBody>
      </p:sp>
      <p:sp>
        <p:nvSpPr>
          <p:cNvPr id="2" name="">
            <a:extLst xmlns:a="http://schemas.openxmlformats.org/drawingml/2006/main">
              <a:ext uri="{FF2B5EF4-FFF2-40B4-BE49-F238E27FC236}">
                <a16:creationId xmlns:a16="http://schemas.microsoft.com/office/drawing/2014/main" id="{B4F5EE34-EC8D-43BB-B29A-66EFF3AFF008}"/>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M06教学数据：最迟12小时到达</a:t>
            </a:r>
          </a:p>
        </p:txBody>
      </p:sp>
      <p:sp>
        <p:nvSpPr>
          <p:cNvPr id="3" name="">
            <a:extLst xmlns:a="http://schemas.openxmlformats.org/drawingml/2006/main">
              <a:ext uri="{FF2B5EF4-FFF2-40B4-BE49-F238E27FC236}">
                <a16:creationId xmlns:a16="http://schemas.microsoft.com/office/drawing/2014/main" id="{53489DF7-4BD4-4668-88AF-F53DEC5B9519}"/>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AOG紧急采购与智能体  6分钟</a:t>
            </a:r>
          </a:p>
        </p:txBody>
      </p:sp>
      <p:sp>
        <p:nvSpPr>
          <p:cNvPr id="4" name="">
            <a:extLst xmlns:a="http://schemas.openxmlformats.org/drawingml/2006/main">
              <a:ext uri="{FF2B5EF4-FFF2-40B4-BE49-F238E27FC236}">
                <a16:creationId xmlns:a16="http://schemas.microsoft.com/office/drawing/2014/main" id="{2A6DEA05-B035-414B-938E-B15DDE9E3561}"/>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71 / 94</a:t>
            </a:r>
          </a:p>
        </p:txBody>
      </p:sp>
      <p:graphicFrame>
        <p:nvGraphicFramePr>
          <p:cNvPr id="5" name="">
            <a:extLst xmlns:a="http://schemas.openxmlformats.org/drawingml/2006/main">
              <a:ext uri="{FF2B5EF4-FFF2-40B4-BE49-F238E27FC236}">
                <a16:creationId xmlns:a16="http://schemas.microsoft.com/office/drawing/2014/main" id="{AC085203-F35B-4CB3-A474-2D19BC1E859B}"/>
              </a:ext>
            </a:extLst>
          </p:cNvPr>
          <p:cNvGraphicFramePr/>
          <p:nvPr/>
        </p:nvGraphicFramePr>
        <p:xfrm>
          <a:off xmlns:a="http://schemas.openxmlformats.org/drawingml/2006/main" x="609600" y="1695450"/>
          <a:ext xmlns:a="http://schemas.openxmlformats.org/drawingml/2006/main" cx="10972800" cy="3333750"/>
        </p:xfrm>
        <a:graphic xmlns:a="http://schemas.openxmlformats.org/drawingml/2006/main">
          <a:graphicData uri="http://schemas.openxmlformats.org/drawingml/2006/table">
            <a:tbl>
              <a:tblPr/>
              <a:tblGrid>
                <a:gridCol w="2952750"/>
                <a:gridCol w="2857500"/>
                <a:gridCol w="2286000"/>
                <a:gridCol w="2876550"/>
              </a:tblGrid>
              <a:tr h="666750">
                <a:tc>
                  <a:txBody>
                    <a:bodyPr lIns="114300" tIns="114300" rIns="114300" bIns="114300"/>
                    <a:lstStyle/>
                    <a:p>
                      <a:r>
                        <a:rPr sz="1725" b="1">
                          <a:solidFill>
                            <a:srgbClr val="477FA8"/>
                          </a:solidFill>
                          <a:latin typeface="PingFang SC"/>
                          <a:ea typeface="PingFang SC"/>
                          <a:cs typeface="PingFang SC"/>
                        </a:rPr>
                        <a:t>方案</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运输＋清关</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总成本</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证书／适用性</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666750">
                <a:tc>
                  <a:txBody>
                    <a:bodyPr lIns="114300" tIns="114300" rIns="114300" bIns="114300"/>
                    <a:lstStyle/>
                    <a:p>
                      <a:r>
                        <a:rPr sz="1875" b="1">
                          <a:solidFill>
                            <a:srgbClr val="477FA8"/>
                          </a:solidFill>
                          <a:latin typeface="PingFang SC"/>
                          <a:ea typeface="PingFang SC"/>
                          <a:cs typeface="PingFang SC"/>
                        </a:rPr>
                        <a:t>购买 BUY</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6＋4＝10小时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45,000元</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通过／通过</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借件 BORROW</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4＋1＝5小时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17,000元</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通过／通过</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交换 EXCHANGE</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3＋1＝4小时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20,500元</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未通过／通过</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调拨 TRANSFER</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5＋0＝5小时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13,000元</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通过／通过</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CC7B47D-34FE-4D73-A09A-FD783E92A8FC}"/>
              </a:ext>
            </a:extLst>
          </p:cNvPr>
          <p:cNvSpPr>
            <a:spLocks xmlns:a="http://schemas.openxmlformats.org/drawingml/2006/main" noGrp="1"/>
          </p:cNvSpPr>
          <p:nvPr/>
        </p:nvSpPr>
        <p:spPr>
          <a:xfrm xmlns:a="http://schemas.openxmlformats.org/drawingml/2006/main">
            <a:off x="628650" y="5391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讨论：4小时的交换方案为什么不能直接采用？</a:t>
            </a:r>
          </a:p>
        </p:txBody>
      </p:sp>
    </p:spTree>
    <p:extLst>
      <p:ext uri="{BB962C8B-B14F-4D97-AF65-F5344CB8AC3E}">
        <p14:creationId xmlns:p14="http://schemas.microsoft.com/office/powerpoint/2010/main" val="775641000"/>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A45D64C0-8D66-4862-B7FF-CD5B8451BC27}"/>
              </a:ext>
            </a:extLst>
          </p:cNvPr>
          <p:cNvCxnSpPr>
            <a:stCxn xmlns:a="http://schemas.openxmlformats.org/drawingml/2006/main" id="10" idx="3"/>
            <a:endCxn xmlns:a="http://schemas.openxmlformats.org/drawingml/2006/main" id="13" idx="1"/>
          </p:cNvCxnSpPr>
          <p:nvPr/>
        </p:nvCxnSpPr>
        <p:spPr>
          <a:xfrm xmlns:a="http://schemas.openxmlformats.org/drawingml/2006/main">
            <a:off x="87439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11" name="">
            <a:extLst xmlns:a="http://schemas.openxmlformats.org/drawingml/2006/main">
              <a:ext uri="{FF2B5EF4-FFF2-40B4-BE49-F238E27FC236}">
                <a16:creationId xmlns:a16="http://schemas.microsoft.com/office/drawing/2014/main" id="{36C78BEE-B678-4947-B178-A6555070637F}"/>
              </a:ext>
            </a:extLst>
          </p:cNvPr>
          <p:cNvCxnSpPr>
            <a:stCxn xmlns:a="http://schemas.openxmlformats.org/drawingml/2006/main" id="7" idx="3"/>
            <a:endCxn xmlns:a="http://schemas.openxmlformats.org/drawingml/2006/main" id="10" idx="1"/>
          </p:cNvCxnSpPr>
          <p:nvPr/>
        </p:nvCxnSpPr>
        <p:spPr>
          <a:xfrm xmlns:a="http://schemas.openxmlformats.org/drawingml/2006/main">
            <a:off x="59055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7557961A-3F97-4D5D-AF6C-99897675DF71}"/>
              </a:ext>
            </a:extLst>
          </p:cNvPr>
          <p:cNvCxnSpPr>
            <a:stCxn xmlns:a="http://schemas.openxmlformats.org/drawingml/2006/main" id="5" idx="3"/>
            <a:endCxn xmlns:a="http://schemas.openxmlformats.org/drawingml/2006/main" id="7" idx="1"/>
          </p:cNvCxnSpPr>
          <p:nvPr/>
        </p:nvCxnSpPr>
        <p:spPr>
          <a:xfrm xmlns:a="http://schemas.openxmlformats.org/drawingml/2006/main">
            <a:off x="30670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7" name="">
            <a:extLst xmlns:a="http://schemas.openxmlformats.org/drawingml/2006/main">
              <a:ext uri="{FF2B5EF4-FFF2-40B4-BE49-F238E27FC236}">
                <a16:creationId xmlns:a16="http://schemas.microsoft.com/office/drawing/2014/main" id="{504EB784-3397-4A09-8F40-5D15ADC25DF2}"/>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紧急方案的判断顺序</a:t>
            </a:r>
          </a:p>
        </p:txBody>
      </p:sp>
      <p:sp>
        <p:nvSpPr>
          <p:cNvPr id="2" name="">
            <a:extLst xmlns:a="http://schemas.openxmlformats.org/drawingml/2006/main">
              <a:ext uri="{FF2B5EF4-FFF2-40B4-BE49-F238E27FC236}">
                <a16:creationId xmlns:a16="http://schemas.microsoft.com/office/drawing/2014/main" id="{7ED70A3E-78BB-4CD0-BABE-DDB84FD78B2D}"/>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先确认可用性，再比较总到达时间与成本</a:t>
            </a:r>
          </a:p>
        </p:txBody>
      </p:sp>
      <p:sp>
        <p:nvSpPr>
          <p:cNvPr id="3" name="">
            <a:extLst xmlns:a="http://schemas.openxmlformats.org/drawingml/2006/main">
              <a:ext uri="{FF2B5EF4-FFF2-40B4-BE49-F238E27FC236}">
                <a16:creationId xmlns:a16="http://schemas.microsoft.com/office/drawing/2014/main" id="{F3DC9616-73BD-4E54-A0C7-07C14C66C418}"/>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AOG紧急采购与智能体  6分钟</a:t>
            </a:r>
          </a:p>
        </p:txBody>
      </p:sp>
      <p:sp>
        <p:nvSpPr>
          <p:cNvPr id="4" name="">
            <a:extLst xmlns:a="http://schemas.openxmlformats.org/drawingml/2006/main">
              <a:ext uri="{FF2B5EF4-FFF2-40B4-BE49-F238E27FC236}">
                <a16:creationId xmlns:a16="http://schemas.microsoft.com/office/drawing/2014/main" id="{007F7980-4CF3-47D7-AACB-08F7220AF22A}"/>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72 / 94</a:t>
            </a:r>
          </a:p>
        </p:txBody>
      </p:sp>
      <p:sp>
        <p:nvSpPr>
          <p:cNvPr id="5" name="">
            <a:extLst xmlns:a="http://schemas.openxmlformats.org/drawingml/2006/main">
              <a:ext uri="{FF2B5EF4-FFF2-40B4-BE49-F238E27FC236}">
                <a16:creationId xmlns:a16="http://schemas.microsoft.com/office/drawing/2014/main" id="{DBB3FF1C-1F2B-4847-87CD-CA7C96EF777B}"/>
              </a:ext>
            </a:extLst>
          </p:cNvPr>
          <p:cNvSpPr>
            <a:spLocks xmlns:a="http://schemas.openxmlformats.org/drawingml/2006/main" noGrp="1"/>
          </p:cNvSpPr>
          <p:nvPr/>
        </p:nvSpPr>
        <p:spPr>
          <a:xfrm xmlns:a="http://schemas.openxmlformats.org/drawingml/2006/main">
            <a:off x="6096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证书与适用性</a:t>
            </a:r>
          </a:p>
        </p:txBody>
      </p:sp>
      <p:sp>
        <p:nvSpPr>
          <p:cNvPr id="6" name="">
            <a:extLst xmlns:a="http://schemas.openxmlformats.org/drawingml/2006/main">
              <a:ext uri="{FF2B5EF4-FFF2-40B4-BE49-F238E27FC236}">
                <a16:creationId xmlns:a16="http://schemas.microsoft.com/office/drawing/2014/main" id="{ACBC831A-5089-4394-8CC7-94FED4F88E87}"/>
              </a:ext>
            </a:extLst>
          </p:cNvPr>
          <p:cNvSpPr>
            <a:spLocks xmlns:a="http://schemas.openxmlformats.org/drawingml/2006/main" noGrp="1"/>
          </p:cNvSpPr>
          <p:nvPr/>
        </p:nvSpPr>
        <p:spPr>
          <a:xfrm xmlns:a="http://schemas.openxmlformats.org/drawingml/2006/main">
            <a:off x="5715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未通过的方案先排除</a:t>
            </a:r>
          </a:p>
        </p:txBody>
      </p:sp>
      <p:sp>
        <p:nvSpPr>
          <p:cNvPr id="7" name="">
            <a:extLst xmlns:a="http://schemas.openxmlformats.org/drawingml/2006/main">
              <a:ext uri="{FF2B5EF4-FFF2-40B4-BE49-F238E27FC236}">
                <a16:creationId xmlns:a16="http://schemas.microsoft.com/office/drawing/2014/main" id="{AB3855F0-6183-40F0-AD7A-4783FCFB85D0}"/>
              </a:ext>
            </a:extLst>
          </p:cNvPr>
          <p:cNvSpPr>
            <a:spLocks xmlns:a="http://schemas.openxmlformats.org/drawingml/2006/main" noGrp="1"/>
          </p:cNvSpPr>
          <p:nvPr/>
        </p:nvSpPr>
        <p:spPr>
          <a:xfrm xmlns:a="http://schemas.openxmlformats.org/drawingml/2006/main">
            <a:off x="34480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最迟到达时限</a:t>
            </a:r>
          </a:p>
        </p:txBody>
      </p:sp>
      <p:sp>
        <p:nvSpPr>
          <p:cNvPr id="9" name="">
            <a:extLst xmlns:a="http://schemas.openxmlformats.org/drawingml/2006/main">
              <a:ext uri="{FF2B5EF4-FFF2-40B4-BE49-F238E27FC236}">
                <a16:creationId xmlns:a16="http://schemas.microsoft.com/office/drawing/2014/main" id="{686FFDE1-942A-4A38-B269-C80B83297EC8}"/>
              </a:ext>
            </a:extLst>
          </p:cNvPr>
          <p:cNvSpPr>
            <a:spLocks xmlns:a="http://schemas.openxmlformats.org/drawingml/2006/main" noGrp="1"/>
          </p:cNvSpPr>
          <p:nvPr/>
        </p:nvSpPr>
        <p:spPr>
          <a:xfrm xmlns:a="http://schemas.openxmlformats.org/drawingml/2006/main">
            <a:off x="34099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运输加清关须满足要求</a:t>
            </a:r>
          </a:p>
        </p:txBody>
      </p:sp>
      <p:sp>
        <p:nvSpPr>
          <p:cNvPr id="10" name="">
            <a:extLst xmlns:a="http://schemas.openxmlformats.org/drawingml/2006/main">
              <a:ext uri="{FF2B5EF4-FFF2-40B4-BE49-F238E27FC236}">
                <a16:creationId xmlns:a16="http://schemas.microsoft.com/office/drawing/2014/main" id="{72F59290-4A17-4660-989F-0956F474D6E0}"/>
              </a:ext>
            </a:extLst>
          </p:cNvPr>
          <p:cNvSpPr>
            <a:spLocks xmlns:a="http://schemas.openxmlformats.org/drawingml/2006/main" noGrp="1"/>
          </p:cNvSpPr>
          <p:nvPr/>
        </p:nvSpPr>
        <p:spPr>
          <a:xfrm xmlns:a="http://schemas.openxmlformats.org/drawingml/2006/main">
            <a:off x="62865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总到达时间</a:t>
            </a:r>
          </a:p>
        </p:txBody>
      </p:sp>
      <p:sp>
        <p:nvSpPr>
          <p:cNvPr id="12" name="">
            <a:extLst xmlns:a="http://schemas.openxmlformats.org/drawingml/2006/main">
              <a:ext uri="{FF2B5EF4-FFF2-40B4-BE49-F238E27FC236}">
                <a16:creationId xmlns:a16="http://schemas.microsoft.com/office/drawing/2014/main" id="{93293FFA-DEA0-45CA-B7DB-E316AA3EEFFB}"/>
              </a:ext>
            </a:extLst>
          </p:cNvPr>
          <p:cNvSpPr>
            <a:spLocks xmlns:a="http://schemas.openxmlformats.org/drawingml/2006/main" noGrp="1"/>
          </p:cNvSpPr>
          <p:nvPr/>
        </p:nvSpPr>
        <p:spPr>
          <a:xfrm xmlns:a="http://schemas.openxmlformats.org/drawingml/2006/main">
            <a:off x="62484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按案例规则，越短优先</a:t>
            </a:r>
          </a:p>
        </p:txBody>
      </p:sp>
      <p:sp>
        <p:nvSpPr>
          <p:cNvPr id="13" name="">
            <a:extLst xmlns:a="http://schemas.openxmlformats.org/drawingml/2006/main">
              <a:ext uri="{FF2B5EF4-FFF2-40B4-BE49-F238E27FC236}">
                <a16:creationId xmlns:a16="http://schemas.microsoft.com/office/drawing/2014/main" id="{9EAE6B14-28EE-4EB6-BAF2-62A5F84CDFD1}"/>
              </a:ext>
            </a:extLst>
          </p:cNvPr>
          <p:cNvSpPr>
            <a:spLocks xmlns:a="http://schemas.openxmlformats.org/drawingml/2006/main" noGrp="1"/>
          </p:cNvSpPr>
          <p:nvPr/>
        </p:nvSpPr>
        <p:spPr>
          <a:xfrm xmlns:a="http://schemas.openxmlformats.org/drawingml/2006/main">
            <a:off x="91249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同等时间比较成本</a:t>
            </a:r>
          </a:p>
        </p:txBody>
      </p:sp>
      <p:sp>
        <p:nvSpPr>
          <p:cNvPr id="15" name="">
            <a:extLst xmlns:a="http://schemas.openxmlformats.org/drawingml/2006/main">
              <a:ext uri="{FF2B5EF4-FFF2-40B4-BE49-F238E27FC236}">
                <a16:creationId xmlns:a16="http://schemas.microsoft.com/office/drawing/2014/main" id="{66D4F965-634D-4339-BD83-91ED90F71360}"/>
              </a:ext>
            </a:extLst>
          </p:cNvPr>
          <p:cNvSpPr>
            <a:spLocks xmlns:a="http://schemas.openxmlformats.org/drawingml/2006/main" noGrp="1"/>
          </p:cNvSpPr>
          <p:nvPr/>
        </p:nvSpPr>
        <p:spPr>
          <a:xfrm xmlns:a="http://schemas.openxmlformats.org/drawingml/2006/main">
            <a:off x="90868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在可行方案中解释取舍</a:t>
            </a:r>
          </a:p>
        </p:txBody>
      </p:sp>
      <p:sp>
        <p:nvSpPr>
          <p:cNvPr id="16" name="">
            <a:extLst xmlns:a="http://schemas.openxmlformats.org/drawingml/2006/main">
              <a:ext uri="{FF2B5EF4-FFF2-40B4-BE49-F238E27FC236}">
                <a16:creationId xmlns:a16="http://schemas.microsoft.com/office/drawing/2014/main" id="{4B091C2D-BA94-4DD8-8231-212F1DF48A1A}"/>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最便宜与最快都不能代替可用性审核</a:t>
            </a:r>
          </a:p>
        </p:txBody>
      </p:sp>
    </p:spTree>
    <p:extLst>
      <p:ext uri="{BB962C8B-B14F-4D97-AF65-F5344CB8AC3E}">
        <p14:creationId xmlns:p14="http://schemas.microsoft.com/office/powerpoint/2010/main" val="1804748225"/>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F069F5-482B-4EBC-946D-DCFD01303C10}"/>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最快候选与最低可行成本</a:t>
            </a:r>
          </a:p>
        </p:txBody>
      </p:sp>
      <p:sp>
        <p:nvSpPr>
          <p:cNvPr id="2" name="">
            <a:extLst xmlns:a="http://schemas.openxmlformats.org/drawingml/2006/main">
              <a:ext uri="{FF2B5EF4-FFF2-40B4-BE49-F238E27FC236}">
                <a16:creationId xmlns:a16="http://schemas.microsoft.com/office/drawing/2014/main" id="{CD2C0548-FA1C-4BB5-9240-D00CE647AFDF}"/>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运输与清关时间合计，排除证书未通过的交换方案</a:t>
            </a:r>
          </a:p>
        </p:txBody>
      </p:sp>
      <p:sp>
        <p:nvSpPr>
          <p:cNvPr id="3" name="">
            <a:extLst xmlns:a="http://schemas.openxmlformats.org/drawingml/2006/main">
              <a:ext uri="{FF2B5EF4-FFF2-40B4-BE49-F238E27FC236}">
                <a16:creationId xmlns:a16="http://schemas.microsoft.com/office/drawing/2014/main" id="{0803DB5D-03FF-433D-829B-0E735F0D4043}"/>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AOG紧急采购与智能体  6分钟</a:t>
            </a:r>
          </a:p>
        </p:txBody>
      </p:sp>
      <p:sp>
        <p:nvSpPr>
          <p:cNvPr id="4" name="">
            <a:extLst xmlns:a="http://schemas.openxmlformats.org/drawingml/2006/main">
              <a:ext uri="{FF2B5EF4-FFF2-40B4-BE49-F238E27FC236}">
                <a16:creationId xmlns:a16="http://schemas.microsoft.com/office/drawing/2014/main" id="{AA313CE4-94DC-40D1-ACD4-718FD74D7D89}"/>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73 / 94</a:t>
            </a:r>
          </a:p>
        </p:txBody>
      </p:sp>
      <p:graphicFrame>
        <p:nvGraphicFramePr>
          <p:cNvPr id="5" name="Chart">
            <a:extLst xmlns:a="http://schemas.openxmlformats.org/drawingml/2006/main">
              <a:ext uri="{FF2B5EF4-FFF2-40B4-BE49-F238E27FC236}">
                <a16:creationId xmlns:a16="http://schemas.microsoft.com/office/drawing/2014/main" id="{6E4EFE16-C4D6-47D6-BDA9-12AB37F9312A}"/>
              </a:ext>
            </a:extLst>
          </p:cNvPr>
          <p:cNvGraphicFramePr/>
          <p:nvPr/>
        </p:nvGraphicFramePr>
        <p:xfrm>
          <a:off xmlns:a="http://schemas.openxmlformats.org/drawingml/2006/main" x="609600" y="191452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d1c51b7a7c41470c"/>
          </a:graphicData>
        </a:graphic>
      </p:graphicFrame>
      <p:sp>
        <p:nvSpPr>
          <p:cNvPr id="6" name="">
            <a:extLst xmlns:a="http://schemas.openxmlformats.org/drawingml/2006/main">
              <a:ext uri="{FF2B5EF4-FFF2-40B4-BE49-F238E27FC236}">
                <a16:creationId xmlns:a16="http://schemas.microsoft.com/office/drawing/2014/main" id="{F51D6A96-DD8A-4A51-8DDD-455D333DEA76}"/>
              </a:ext>
            </a:extLst>
          </p:cNvPr>
          <p:cNvSpPr>
            <a:spLocks xmlns:a="http://schemas.openxmlformats.org/drawingml/2006/main" noGrp="1"/>
          </p:cNvSpPr>
          <p:nvPr/>
        </p:nvSpPr>
        <p:spPr>
          <a:xfrm xmlns:a="http://schemas.openxmlformats.org/drawingml/2006/main">
            <a:off x="619125" y="15621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教学总到达时间（小时）</a:t>
            </a:r>
          </a:p>
        </p:txBody>
      </p:sp>
      <p:sp>
        <p:nvSpPr>
          <p:cNvPr id="7" name="">
            <a:extLst xmlns:a="http://schemas.openxmlformats.org/drawingml/2006/main">
              <a:ext uri="{FF2B5EF4-FFF2-40B4-BE49-F238E27FC236}">
                <a16:creationId xmlns:a16="http://schemas.microsoft.com/office/drawing/2014/main" id="{D7550181-72B9-438B-ADEF-57F09C0C9258}"/>
              </a:ext>
            </a:extLst>
          </p:cNvPr>
          <p:cNvSpPr>
            <a:spLocks xmlns:a="http://schemas.openxmlformats.org/drawingml/2006/main" noGrp="1"/>
          </p:cNvSpPr>
          <p:nvPr/>
        </p:nvSpPr>
        <p:spPr>
          <a:xfrm xmlns:a="http://schemas.openxmlformats.org/drawingml/2006/main">
            <a:off x="628650" y="5391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借件与调拨均5小时，本例以13,000元的调拨方案入选</a:t>
            </a:r>
          </a:p>
        </p:txBody>
      </p:sp>
    </p:spTree>
    <p:extLst>
      <p:ext uri="{BB962C8B-B14F-4D97-AF65-F5344CB8AC3E}">
        <p14:creationId xmlns:p14="http://schemas.microsoft.com/office/powerpoint/2010/main" val="1195655941"/>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4E0686-1D35-4C79-93C0-374201BF022C}"/>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信息变化后，原推荐还能用吗？</a:t>
            </a:r>
          </a:p>
        </p:txBody>
      </p:sp>
      <p:sp>
        <p:nvSpPr>
          <p:cNvPr id="2" name="">
            <a:extLst xmlns:a="http://schemas.openxmlformats.org/drawingml/2006/main">
              <a:ext uri="{FF2B5EF4-FFF2-40B4-BE49-F238E27FC236}">
                <a16:creationId xmlns:a16="http://schemas.microsoft.com/office/drawing/2014/main" id="{028C4EDB-E1DB-450B-90CA-4886B74F3A92}"/>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只改变一个条件，重新检查全部候选方案</a:t>
            </a:r>
          </a:p>
        </p:txBody>
      </p:sp>
      <p:sp>
        <p:nvSpPr>
          <p:cNvPr id="3" name="">
            <a:extLst xmlns:a="http://schemas.openxmlformats.org/drawingml/2006/main">
              <a:ext uri="{FF2B5EF4-FFF2-40B4-BE49-F238E27FC236}">
                <a16:creationId xmlns:a16="http://schemas.microsoft.com/office/drawing/2014/main" id="{9AEA3A8D-7676-4769-B6AB-D21E2B1F0160}"/>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AOG紧急采购与智能体  6分钟</a:t>
            </a:r>
          </a:p>
        </p:txBody>
      </p:sp>
      <p:sp>
        <p:nvSpPr>
          <p:cNvPr id="4" name="">
            <a:extLst xmlns:a="http://schemas.openxmlformats.org/drawingml/2006/main">
              <a:ext uri="{FF2B5EF4-FFF2-40B4-BE49-F238E27FC236}">
                <a16:creationId xmlns:a16="http://schemas.microsoft.com/office/drawing/2014/main" id="{2D727CE3-E750-4A24-B29A-83243BB6D389}"/>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74 / 94</a:t>
            </a:r>
          </a:p>
        </p:txBody>
      </p:sp>
      <p:graphicFrame>
        <p:nvGraphicFramePr>
          <p:cNvPr id="5" name="">
            <a:extLst xmlns:a="http://schemas.openxmlformats.org/drawingml/2006/main">
              <a:ext uri="{FF2B5EF4-FFF2-40B4-BE49-F238E27FC236}">
                <a16:creationId xmlns:a16="http://schemas.microsoft.com/office/drawing/2014/main" id="{F2C0CC76-5CCE-4AFA-8D70-2B83B61B7FB9}"/>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3429000"/>
                <a:gridCol w="3619500"/>
                <a:gridCol w="3924300"/>
              </a:tblGrid>
              <a:tr h="800100">
                <a:tc>
                  <a:txBody>
                    <a:bodyPr lIns="114300" tIns="114300" rIns="114300" bIns="114300"/>
                    <a:lstStyle/>
                    <a:p>
                      <a:r>
                        <a:rPr sz="1725" b="1">
                          <a:solidFill>
                            <a:srgbClr val="477FA8"/>
                          </a:solidFill>
                          <a:latin typeface="PingFang SC"/>
                          <a:ea typeface="PingFang SC"/>
                          <a:cs typeface="PingFang SC"/>
                        </a:rPr>
                        <a:t>变化情景</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规则下的结果</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业务需要补充</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最迟时限缩短为4小时</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无可行方案</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升级协调，继续寻找保障</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调拨运输增加至7小时</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借件5小时优先</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确认库存、路线和费用</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交换证书由待核变为通过</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才可重新进入比较</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由获授权岗位核实，不自行改真</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到达时间仍无法确认</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结论保留不确定性</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设定再次确认时点与责任</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736321038"/>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7C6E97E-A863-4786-B751-05094DFD7BD5}"/>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AOG智能体的权限边界</a:t>
            </a:r>
          </a:p>
        </p:txBody>
      </p:sp>
      <p:sp>
        <p:nvSpPr>
          <p:cNvPr id="2" name="">
            <a:extLst xmlns:a="http://schemas.openxmlformats.org/drawingml/2006/main">
              <a:ext uri="{FF2B5EF4-FFF2-40B4-BE49-F238E27FC236}">
                <a16:creationId xmlns:a16="http://schemas.microsoft.com/office/drawing/2014/main" id="{6C825292-E60F-41B0-ABA5-AD289DDEBC1F}"/>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自动整理线索与对外执行采用不同权限</a:t>
            </a:r>
          </a:p>
        </p:txBody>
      </p:sp>
      <p:sp>
        <p:nvSpPr>
          <p:cNvPr id="3" name="">
            <a:extLst xmlns:a="http://schemas.openxmlformats.org/drawingml/2006/main">
              <a:ext uri="{FF2B5EF4-FFF2-40B4-BE49-F238E27FC236}">
                <a16:creationId xmlns:a16="http://schemas.microsoft.com/office/drawing/2014/main" id="{BA989FC6-CDC9-486B-9131-47AE5BDE4733}"/>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AOG紧急采购与智能体  6分钟</a:t>
            </a:r>
          </a:p>
        </p:txBody>
      </p:sp>
      <p:sp>
        <p:nvSpPr>
          <p:cNvPr id="4" name="">
            <a:extLst xmlns:a="http://schemas.openxmlformats.org/drawingml/2006/main">
              <a:ext uri="{FF2B5EF4-FFF2-40B4-BE49-F238E27FC236}">
                <a16:creationId xmlns:a16="http://schemas.microsoft.com/office/drawing/2014/main" id="{E64B3E35-6989-4585-AE33-231F9F6D997A}"/>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75 / 94</a:t>
            </a:r>
          </a:p>
        </p:txBody>
      </p:sp>
      <p:sp>
        <p:nvSpPr>
          <p:cNvPr id="5" name="">
            <a:extLst xmlns:a="http://schemas.openxmlformats.org/drawingml/2006/main">
              <a:ext uri="{FF2B5EF4-FFF2-40B4-BE49-F238E27FC236}">
                <a16:creationId xmlns:a16="http://schemas.microsoft.com/office/drawing/2014/main" id="{69D0B9A2-7E1E-49FB-A123-58E8E99254E1}"/>
              </a:ext>
            </a:extLst>
          </p:cNvPr>
          <p:cNvSpPr>
            <a:spLocks xmlns:a="http://schemas.openxmlformats.org/drawingml/2006/main" noGrp="1"/>
          </p:cNvSpPr>
          <p:nvPr/>
        </p:nvSpPr>
        <p:spPr>
          <a:xfrm xmlns:a="http://schemas.openxmlformats.org/drawingml/2006/main">
            <a:off x="609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可设计的辅助能力</a:t>
            </a:r>
          </a:p>
        </p:txBody>
      </p:sp>
      <p:sp>
        <p:nvSpPr>
          <p:cNvPr id="6" name="">
            <a:extLst xmlns:a="http://schemas.openxmlformats.org/drawingml/2006/main">
              <a:ext uri="{FF2B5EF4-FFF2-40B4-BE49-F238E27FC236}">
                <a16:creationId xmlns:a16="http://schemas.microsoft.com/office/drawing/2014/main" id="{EF1FFD10-DED2-47A7-8200-149D366FF673}"/>
              </a:ext>
            </a:extLst>
          </p:cNvPr>
          <p:cNvSpPr>
            <a:spLocks xmlns:a="http://schemas.openxmlformats.org/drawingml/2006/main" noGrp="1"/>
          </p:cNvSpPr>
          <p:nvPr/>
        </p:nvSpPr>
        <p:spPr>
          <a:xfrm xmlns:a="http://schemas.openxmlformats.org/drawingml/2006/main">
            <a:off x="609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整理候选报价和可用性线索</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核对时间、成本和缺失证据</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草拟追问与异常摘要</a:t>
            </a:r>
          </a:p>
        </p:txBody>
      </p:sp>
      <p:sp>
        <p:nvSpPr>
          <p:cNvPr id="7" name="">
            <a:extLst xmlns:a="http://schemas.openxmlformats.org/drawingml/2006/main">
              <a:ext uri="{FF2B5EF4-FFF2-40B4-BE49-F238E27FC236}">
                <a16:creationId xmlns:a16="http://schemas.microsoft.com/office/drawing/2014/main" id="{EB15F27E-F085-43B7-8776-075313258130}"/>
              </a:ext>
            </a:extLst>
          </p:cNvPr>
          <p:cNvSpPr>
            <a:spLocks xmlns:a="http://schemas.openxmlformats.org/drawingml/2006/main" noGrp="1"/>
          </p:cNvSpPr>
          <p:nvPr/>
        </p:nvSpPr>
        <p:spPr>
          <a:xfrm xmlns:a="http://schemas.openxmlformats.org/drawingml/2006/main">
            <a:off x="6324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应由人工授权的事项</a:t>
            </a:r>
          </a:p>
        </p:txBody>
      </p:sp>
      <p:sp>
        <p:nvSpPr>
          <p:cNvPr id="8" name="">
            <a:extLst xmlns:a="http://schemas.openxmlformats.org/drawingml/2006/main">
              <a:ext uri="{FF2B5EF4-FFF2-40B4-BE49-F238E27FC236}">
                <a16:creationId xmlns:a16="http://schemas.microsoft.com/office/drawing/2014/main" id="{5BE672BB-B515-4313-9E0F-E516D2B4E696}"/>
              </a:ext>
            </a:extLst>
          </p:cNvPr>
          <p:cNvSpPr>
            <a:spLocks xmlns:a="http://schemas.openxmlformats.org/drawingml/2006/main" noGrp="1"/>
          </p:cNvSpPr>
          <p:nvPr/>
        </p:nvSpPr>
        <p:spPr>
          <a:xfrm xmlns:a="http://schemas.openxmlformats.org/drawingml/2006/main">
            <a:off x="6324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质量和工程确认</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采购、借件、交换与付款</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对外承诺及跨系统写入</a:t>
            </a:r>
          </a:p>
        </p:txBody>
      </p:sp>
    </p:spTree>
    <p:extLst>
      <p:ext uri="{BB962C8B-B14F-4D97-AF65-F5344CB8AC3E}">
        <p14:creationId xmlns:p14="http://schemas.microsoft.com/office/powerpoint/2010/main" val="2004240694"/>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61C74D5-3F88-4C0D-8114-EAD155483004}"/>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实训核对：为什么选择调拨？</a:t>
            </a:r>
          </a:p>
        </p:txBody>
      </p:sp>
      <p:sp>
        <p:nvSpPr>
          <p:cNvPr id="2" name="">
            <a:extLst xmlns:a="http://schemas.openxmlformats.org/drawingml/2006/main">
              <a:ext uri="{FF2B5EF4-FFF2-40B4-BE49-F238E27FC236}">
                <a16:creationId xmlns:a16="http://schemas.microsoft.com/office/drawing/2014/main" id="{78E12CA6-FF09-499B-95AB-D89F91658747}"/>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所有排除与选择都要对应案例约束</a:t>
            </a:r>
          </a:p>
        </p:txBody>
      </p:sp>
      <p:sp>
        <p:nvSpPr>
          <p:cNvPr id="3" name="">
            <a:extLst xmlns:a="http://schemas.openxmlformats.org/drawingml/2006/main">
              <a:ext uri="{FF2B5EF4-FFF2-40B4-BE49-F238E27FC236}">
                <a16:creationId xmlns:a16="http://schemas.microsoft.com/office/drawing/2014/main" id="{DDAAEA28-D68E-42A9-A20B-8A80A8A5859B}"/>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AOG紧急采购与智能体  5分钟</a:t>
            </a:r>
          </a:p>
        </p:txBody>
      </p:sp>
      <p:sp>
        <p:nvSpPr>
          <p:cNvPr id="4" name="">
            <a:extLst xmlns:a="http://schemas.openxmlformats.org/drawingml/2006/main">
              <a:ext uri="{FF2B5EF4-FFF2-40B4-BE49-F238E27FC236}">
                <a16:creationId xmlns:a16="http://schemas.microsoft.com/office/drawing/2014/main" id="{62BD72CD-7B43-4A22-B761-0E61DE5379F9}"/>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76 / 94</a:t>
            </a:r>
          </a:p>
        </p:txBody>
      </p:sp>
      <p:pic>
        <p:nvPicPr>
          <p:cNvPr id="5" name="">
            <a:extLst xmlns:a="http://schemas.openxmlformats.org/drawingml/2006/main">
              <a:ext uri="{FF2B5EF4-FFF2-40B4-BE49-F238E27FC236}">
                <a16:creationId xmlns:a16="http://schemas.microsoft.com/office/drawing/2014/main" id="{325A1D7E-4BE6-41EA-8002-6B42310C4E66}"/>
              </a:ext>
            </a:extLst>
          </p:cNvPr>
          <p:cNvPicPr>
            <a:picLocks xmlns:a="http://schemas.openxmlformats.org/drawingml/2006/main" noChangeAspect="1"/>
          </p:cNvPicPr>
          <p:nvPr/>
        </p:nvPicPr>
        <p:blipFill>
          <a:blip xmlns:r="http://schemas.openxmlformats.org/officeDocument/2006/relationships" xmlns:a="http://schemas.openxmlformats.org/drawingml/2006/main" r:embed="Re97296fe15174a91"/>
          <a:stretch xmlns:a="http://schemas.openxmlformats.org/drawingml/2006/main"/>
        </p:blipFill>
        <p:spPr>
          <a:xfrm xmlns:a="http://schemas.openxmlformats.org/drawingml/2006/main">
            <a:off x="609600" y="2757488"/>
            <a:ext cx="7715250" cy="16287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951A246-3A96-428A-824E-0729BA40737D}"/>
              </a:ext>
            </a:extLst>
          </p:cNvPr>
          <p:cNvSpPr>
            <a:spLocks xmlns:a="http://schemas.openxmlformats.org/drawingml/2006/main" noGrp="1"/>
          </p:cNvSpPr>
          <p:nvPr/>
        </p:nvSpPr>
        <p:spPr>
          <a:xfrm xmlns:a="http://schemas.openxmlformats.org/drawingml/2006/main">
            <a:off x="8858250" y="1809750"/>
            <a:ext cx="2724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业务核对</a:t>
            </a:r>
          </a:p>
        </p:txBody>
      </p:sp>
      <p:sp>
        <p:nvSpPr>
          <p:cNvPr id="7" name="">
            <a:extLst xmlns:a="http://schemas.openxmlformats.org/drawingml/2006/main">
              <a:ext uri="{FF2B5EF4-FFF2-40B4-BE49-F238E27FC236}">
                <a16:creationId xmlns:a16="http://schemas.microsoft.com/office/drawing/2014/main" id="{5A1136F8-6E3D-42D0-8CB6-137F45203163}"/>
              </a:ext>
            </a:extLst>
          </p:cNvPr>
          <p:cNvSpPr>
            <a:spLocks xmlns:a="http://schemas.openxmlformats.org/drawingml/2006/main" noGrp="1"/>
          </p:cNvSpPr>
          <p:nvPr/>
        </p:nvSpPr>
        <p:spPr>
          <a:xfrm xmlns:a="http://schemas.openxmlformats.org/drawingml/2006/main">
            <a:off x="8858250" y="25622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01</a:t>
            </a:r>
          </a:p>
        </p:txBody>
      </p:sp>
      <p:sp>
        <p:nvSpPr>
          <p:cNvPr id="8" name="">
            <a:extLst xmlns:a="http://schemas.openxmlformats.org/drawingml/2006/main">
              <a:ext uri="{FF2B5EF4-FFF2-40B4-BE49-F238E27FC236}">
                <a16:creationId xmlns:a16="http://schemas.microsoft.com/office/drawing/2014/main" id="{C3659B8B-13E3-46DD-9257-680A9421262A}"/>
              </a:ext>
            </a:extLst>
          </p:cNvPr>
          <p:cNvSpPr>
            <a:spLocks xmlns:a="http://schemas.openxmlformats.org/drawingml/2006/main" noGrp="1"/>
          </p:cNvSpPr>
          <p:nvPr/>
        </p:nvSpPr>
        <p:spPr>
          <a:xfrm xmlns:a="http://schemas.openxmlformats.org/drawingml/2006/main">
            <a:off x="8858250" y="29432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交换最快，但证书未通过</a:t>
            </a:r>
          </a:p>
        </p:txBody>
      </p:sp>
      <p:sp>
        <p:nvSpPr>
          <p:cNvPr id="9" name="">
            <a:extLst xmlns:a="http://schemas.openxmlformats.org/drawingml/2006/main">
              <a:ext uri="{FF2B5EF4-FFF2-40B4-BE49-F238E27FC236}">
                <a16:creationId xmlns:a16="http://schemas.microsoft.com/office/drawing/2014/main" id="{BAD55314-F538-4F8B-BCDD-54FFC6B2E744}"/>
              </a:ext>
            </a:extLst>
          </p:cNvPr>
          <p:cNvSpPr>
            <a:spLocks xmlns:a="http://schemas.openxmlformats.org/drawingml/2006/main" noGrp="1"/>
          </p:cNvSpPr>
          <p:nvPr/>
        </p:nvSpPr>
        <p:spPr>
          <a:xfrm xmlns:a="http://schemas.openxmlformats.org/drawingml/2006/main">
            <a:off x="8858250" y="36290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02</a:t>
            </a:r>
          </a:p>
        </p:txBody>
      </p:sp>
      <p:sp>
        <p:nvSpPr>
          <p:cNvPr id="10" name="">
            <a:extLst xmlns:a="http://schemas.openxmlformats.org/drawingml/2006/main">
              <a:ext uri="{FF2B5EF4-FFF2-40B4-BE49-F238E27FC236}">
                <a16:creationId xmlns:a16="http://schemas.microsoft.com/office/drawing/2014/main" id="{397A4A20-EDA1-47B0-A8BA-7817FF8DAD62}"/>
              </a:ext>
            </a:extLst>
          </p:cNvPr>
          <p:cNvSpPr>
            <a:spLocks xmlns:a="http://schemas.openxmlformats.org/drawingml/2006/main" noGrp="1"/>
          </p:cNvSpPr>
          <p:nvPr/>
        </p:nvSpPr>
        <p:spPr>
          <a:xfrm xmlns:a="http://schemas.openxmlformats.org/drawingml/2006/main">
            <a:off x="8858250" y="40100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借件与调拨均为5小时</a:t>
            </a:r>
          </a:p>
        </p:txBody>
      </p:sp>
      <p:sp>
        <p:nvSpPr>
          <p:cNvPr id="11" name="">
            <a:extLst xmlns:a="http://schemas.openxmlformats.org/drawingml/2006/main">
              <a:ext uri="{FF2B5EF4-FFF2-40B4-BE49-F238E27FC236}">
                <a16:creationId xmlns:a16="http://schemas.microsoft.com/office/drawing/2014/main" id="{E3CB9AD4-BD1C-4CA9-ACF9-399C23957849}"/>
              </a:ext>
            </a:extLst>
          </p:cNvPr>
          <p:cNvSpPr>
            <a:spLocks xmlns:a="http://schemas.openxmlformats.org/drawingml/2006/main" noGrp="1"/>
          </p:cNvSpPr>
          <p:nvPr/>
        </p:nvSpPr>
        <p:spPr>
          <a:xfrm xmlns:a="http://schemas.openxmlformats.org/drawingml/2006/main">
            <a:off x="8858250" y="46958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477FA8"/>
                </a:solidFill>
                <a:latin typeface="PingFang SC"/>
                <a:ea typeface="PingFang SC"/>
                <a:cs typeface="PingFang SC"/>
              </a:defRPr>
            </a:defPPr>
            <a:lvl1pPr algn="l">
              <a:defRPr sz="1800" b="1">
                <a:solidFill>
                  <a:srgbClr val="477FA8"/>
                </a:solidFill>
                <a:latin typeface="PingFang SC"/>
                <a:ea typeface="PingFang SC"/>
                <a:cs typeface="PingFang SC"/>
              </a:defRPr>
            </a:lvl1pPr>
            <a:lvl2pPr algn="l">
              <a:defRPr sz="1800" b="1">
                <a:solidFill>
                  <a:srgbClr val="477FA8"/>
                </a:solidFill>
                <a:latin typeface="PingFang SC"/>
                <a:ea typeface="PingFang SC"/>
                <a:cs typeface="PingFang SC"/>
              </a:defRPr>
            </a:lvl2pPr>
            <a:lvl3pPr algn="l">
              <a:defRPr sz="1800" b="1">
                <a:solidFill>
                  <a:srgbClr val="477FA8"/>
                </a:solidFill>
                <a:latin typeface="PingFang SC"/>
                <a:ea typeface="PingFang SC"/>
                <a:cs typeface="PingFang SC"/>
              </a:defRPr>
            </a:lvl3pPr>
            <a:lvl4pPr algn="l">
              <a:defRPr sz="1800" b="1">
                <a:solidFill>
                  <a:srgbClr val="477FA8"/>
                </a:solidFill>
                <a:latin typeface="PingFang SC"/>
                <a:ea typeface="PingFang SC"/>
                <a:cs typeface="PingFang SC"/>
              </a:defRPr>
            </a:lvl4pPr>
            <a:lvl5pPr algn="l">
              <a:defRPr sz="1800" b="1">
                <a:solidFill>
                  <a:srgbClr val="477FA8"/>
                </a:solidFill>
                <a:latin typeface="PingFang SC"/>
                <a:ea typeface="PingFang SC"/>
                <a:cs typeface="PingFang SC"/>
              </a:defRPr>
            </a:lvl5pPr>
            <a:lvl6pPr algn="l">
              <a:defRPr sz="1800" b="1">
                <a:solidFill>
                  <a:srgbClr val="477FA8"/>
                </a:solidFill>
                <a:latin typeface="PingFang SC"/>
                <a:ea typeface="PingFang SC"/>
                <a:cs typeface="PingFang SC"/>
              </a:defRPr>
            </a:lvl6pPr>
            <a:lvl7pPr algn="l">
              <a:defRPr sz="1800" b="1">
                <a:solidFill>
                  <a:srgbClr val="477FA8"/>
                </a:solidFill>
                <a:latin typeface="PingFang SC"/>
                <a:ea typeface="PingFang SC"/>
                <a:cs typeface="PingFang SC"/>
              </a:defRPr>
            </a:lvl7pPr>
            <a:lvl8pPr algn="l">
              <a:defRPr sz="1800" b="1">
                <a:solidFill>
                  <a:srgbClr val="477FA8"/>
                </a:solidFill>
                <a:latin typeface="PingFang SC"/>
                <a:ea typeface="PingFang SC"/>
                <a:cs typeface="PingFang SC"/>
              </a:defRPr>
            </a:lvl8pPr>
            <a:lvl9pPr algn="l">
              <a:defRPr sz="1800" b="1">
                <a:solidFill>
                  <a:srgbClr val="477FA8"/>
                </a:solidFill>
                <a:latin typeface="PingFang SC"/>
                <a:ea typeface="PingFang SC"/>
                <a:cs typeface="PingFang SC"/>
              </a:defRPr>
            </a:lvl9pPr>
          </a:lstStyle>
          <a:p xmlns:a="http://schemas.openxmlformats.org/drawingml/2006/main">
            <a:pPr algn="l">
              <a:defRPr sz="1800" b="1">
                <a:solidFill>
                  <a:srgbClr val="477FA8"/>
                </a:solidFill>
                <a:latin typeface="PingFang SC"/>
                <a:ea typeface="PingFang SC"/>
                <a:cs typeface="PingFang SC"/>
              </a:defRPr>
            </a:pPr>
            <a:r>
              <a:rPr sz="1800" b="1">
                <a:solidFill>
                  <a:srgbClr val="477FA8"/>
                </a:solidFill>
                <a:latin typeface="PingFang SC"/>
                <a:ea typeface="PingFang SC"/>
                <a:cs typeface="PingFang SC"/>
              </a:rPr>
              <a:t>03</a:t>
            </a:r>
          </a:p>
        </p:txBody>
      </p:sp>
      <p:sp>
        <p:nvSpPr>
          <p:cNvPr id="12" name="">
            <a:extLst xmlns:a="http://schemas.openxmlformats.org/drawingml/2006/main">
              <a:ext uri="{FF2B5EF4-FFF2-40B4-BE49-F238E27FC236}">
                <a16:creationId xmlns:a16="http://schemas.microsoft.com/office/drawing/2014/main" id="{C639AD26-FA34-48D0-B325-1F8EFB91B956}"/>
              </a:ext>
            </a:extLst>
          </p:cNvPr>
          <p:cNvSpPr>
            <a:spLocks xmlns:a="http://schemas.openxmlformats.org/drawingml/2006/main" noGrp="1"/>
          </p:cNvSpPr>
          <p:nvPr/>
        </p:nvSpPr>
        <p:spPr>
          <a:xfrm xmlns:a="http://schemas.openxmlformats.org/drawingml/2006/main">
            <a:off x="8858250" y="5076825"/>
            <a:ext cx="272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1">
                <a:solidFill>
                  <a:srgbClr val="17334D"/>
                </a:solidFill>
                <a:latin typeface="PingFang SC"/>
                <a:ea typeface="PingFang SC"/>
                <a:cs typeface="PingFang SC"/>
              </a:defRPr>
            </a:defPPr>
            <a:lvl1pPr algn="l">
              <a:defRPr sz="1800" b="1">
                <a:solidFill>
                  <a:srgbClr val="17334D"/>
                </a:solidFill>
                <a:latin typeface="PingFang SC"/>
                <a:ea typeface="PingFang SC"/>
                <a:cs typeface="PingFang SC"/>
              </a:defRPr>
            </a:lvl1pPr>
            <a:lvl2pPr algn="l">
              <a:defRPr sz="1800" b="1">
                <a:solidFill>
                  <a:srgbClr val="17334D"/>
                </a:solidFill>
                <a:latin typeface="PingFang SC"/>
                <a:ea typeface="PingFang SC"/>
                <a:cs typeface="PingFang SC"/>
              </a:defRPr>
            </a:lvl2pPr>
            <a:lvl3pPr algn="l">
              <a:defRPr sz="1800" b="1">
                <a:solidFill>
                  <a:srgbClr val="17334D"/>
                </a:solidFill>
                <a:latin typeface="PingFang SC"/>
                <a:ea typeface="PingFang SC"/>
                <a:cs typeface="PingFang SC"/>
              </a:defRPr>
            </a:lvl3pPr>
            <a:lvl4pPr algn="l">
              <a:defRPr sz="1800" b="1">
                <a:solidFill>
                  <a:srgbClr val="17334D"/>
                </a:solidFill>
                <a:latin typeface="PingFang SC"/>
                <a:ea typeface="PingFang SC"/>
                <a:cs typeface="PingFang SC"/>
              </a:defRPr>
            </a:lvl4pPr>
            <a:lvl5pPr algn="l">
              <a:defRPr sz="1800" b="1">
                <a:solidFill>
                  <a:srgbClr val="17334D"/>
                </a:solidFill>
                <a:latin typeface="PingFang SC"/>
                <a:ea typeface="PingFang SC"/>
                <a:cs typeface="PingFang SC"/>
              </a:defRPr>
            </a:lvl5pPr>
            <a:lvl6pPr algn="l">
              <a:defRPr sz="1800" b="1">
                <a:solidFill>
                  <a:srgbClr val="17334D"/>
                </a:solidFill>
                <a:latin typeface="PingFang SC"/>
                <a:ea typeface="PingFang SC"/>
                <a:cs typeface="PingFang SC"/>
              </a:defRPr>
            </a:lvl6pPr>
            <a:lvl7pPr algn="l">
              <a:defRPr sz="1800" b="1">
                <a:solidFill>
                  <a:srgbClr val="17334D"/>
                </a:solidFill>
                <a:latin typeface="PingFang SC"/>
                <a:ea typeface="PingFang SC"/>
                <a:cs typeface="PingFang SC"/>
              </a:defRPr>
            </a:lvl7pPr>
            <a:lvl8pPr algn="l">
              <a:defRPr sz="1800" b="1">
                <a:solidFill>
                  <a:srgbClr val="17334D"/>
                </a:solidFill>
                <a:latin typeface="PingFang SC"/>
                <a:ea typeface="PingFang SC"/>
                <a:cs typeface="PingFang SC"/>
              </a:defRPr>
            </a:lvl8pPr>
            <a:lvl9pPr algn="l">
              <a:defRPr sz="1800" b="1">
                <a:solidFill>
                  <a:srgbClr val="17334D"/>
                </a:solidFill>
                <a:latin typeface="PingFang SC"/>
                <a:ea typeface="PingFang SC"/>
                <a:cs typeface="PingFang SC"/>
              </a:defRPr>
            </a:lvl9pPr>
          </a:lstStyle>
          <a:p xmlns:a="http://schemas.openxmlformats.org/drawingml/2006/main">
            <a:pPr algn="l">
              <a:defRPr sz="1800" b="1">
                <a:solidFill>
                  <a:srgbClr val="17334D"/>
                </a:solidFill>
                <a:latin typeface="PingFang SC"/>
                <a:ea typeface="PingFang SC"/>
                <a:cs typeface="PingFang SC"/>
              </a:defRPr>
            </a:pPr>
            <a:r>
              <a:rPr sz="1800" b="1">
                <a:solidFill>
                  <a:srgbClr val="17334D"/>
                </a:solidFill>
                <a:latin typeface="PingFang SC"/>
                <a:ea typeface="PingFang SC"/>
                <a:cs typeface="PingFang SC"/>
              </a:rPr>
              <a:t>同等时间下比较成本</a:t>
            </a:r>
          </a:p>
        </p:txBody>
      </p:sp>
      <p:sp>
        <p:nvSpPr>
          <p:cNvPr id="13" name="">
            <a:extLst xmlns:a="http://schemas.openxmlformats.org/drawingml/2006/main">
              <a:ext uri="{FF2B5EF4-FFF2-40B4-BE49-F238E27FC236}">
                <a16:creationId xmlns:a16="http://schemas.microsoft.com/office/drawing/2014/main" id="{FF840E30-5A7B-4057-93CE-24429DE25DA7}"/>
              </a:ext>
            </a:extLst>
          </p:cNvPr>
          <p:cNvSpPr>
            <a:spLocks xmlns:a="http://schemas.openxmlformats.org/drawingml/2006/main" noGrp="1"/>
          </p:cNvSpPr>
          <p:nvPr/>
        </p:nvSpPr>
        <p:spPr>
          <a:xfrm xmlns:a="http://schemas.openxmlformats.org/drawingml/2006/main">
            <a:off x="628650" y="5810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培训系统实际界面，数据为模拟。计算之后仍需业务复核</a:t>
            </a:r>
          </a:p>
        </p:txBody>
      </p:sp>
    </p:spTree>
    <p:extLst>
      <p:ext uri="{BB962C8B-B14F-4D97-AF65-F5344CB8AC3E}">
        <p14:creationId xmlns:p14="http://schemas.microsoft.com/office/powerpoint/2010/main" val="111766098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D02AF6D-643E-4325-A89C-0A52DBC3B57C}"/>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M06实训：形成AOG保障建议</a:t>
            </a:r>
          </a:p>
        </p:txBody>
      </p:sp>
      <p:sp>
        <p:nvSpPr>
          <p:cNvPr id="2" name="">
            <a:extLst xmlns:a="http://schemas.openxmlformats.org/drawingml/2006/main">
              <a:ext uri="{FF2B5EF4-FFF2-40B4-BE49-F238E27FC236}">
                <a16:creationId xmlns:a16="http://schemas.microsoft.com/office/drawing/2014/main" id="{007893F7-EF02-438F-B642-EF9D453EAD4C}"/>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20分钟，从候选到行动保留证据与升级条件</a:t>
            </a:r>
          </a:p>
        </p:txBody>
      </p:sp>
      <p:sp>
        <p:nvSpPr>
          <p:cNvPr id="3" name="">
            <a:extLst xmlns:a="http://schemas.openxmlformats.org/drawingml/2006/main">
              <a:ext uri="{FF2B5EF4-FFF2-40B4-BE49-F238E27FC236}">
                <a16:creationId xmlns:a16="http://schemas.microsoft.com/office/drawing/2014/main" id="{ADBEE65A-0BCA-4400-B23F-6665ABD3466C}"/>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AOG紧急采购与智能体  20分钟</a:t>
            </a:r>
          </a:p>
        </p:txBody>
      </p:sp>
      <p:sp>
        <p:nvSpPr>
          <p:cNvPr id="4" name="">
            <a:extLst xmlns:a="http://schemas.openxmlformats.org/drawingml/2006/main">
              <a:ext uri="{FF2B5EF4-FFF2-40B4-BE49-F238E27FC236}">
                <a16:creationId xmlns:a16="http://schemas.microsoft.com/office/drawing/2014/main" id="{D3FC0BEE-45EA-4A44-BB7A-E6B8AC56CE61}"/>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77 / 94</a:t>
            </a:r>
          </a:p>
        </p:txBody>
      </p:sp>
      <p:sp>
        <p:nvSpPr>
          <p:cNvPr id="5" name="">
            <a:extLst xmlns:a="http://schemas.openxmlformats.org/drawingml/2006/main">
              <a:ext uri="{FF2B5EF4-FFF2-40B4-BE49-F238E27FC236}">
                <a16:creationId xmlns:a16="http://schemas.microsoft.com/office/drawing/2014/main" id="{C1816F6A-7348-41C9-B348-D8070950C740}"/>
              </a:ext>
            </a:extLst>
          </p:cNvPr>
          <p:cNvSpPr>
            <a:spLocks xmlns:a="http://schemas.openxmlformats.org/drawingml/2006/main" noGrp="1"/>
          </p:cNvSpPr>
          <p:nvPr/>
        </p:nvSpPr>
        <p:spPr>
          <a:xfrm xmlns:a="http://schemas.openxmlformats.org/drawingml/2006/main">
            <a:off x="609600" y="17526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讨论与操作</a:t>
            </a:r>
          </a:p>
        </p:txBody>
      </p:sp>
      <p:sp>
        <p:nvSpPr>
          <p:cNvPr id="6" name="">
            <a:extLst xmlns:a="http://schemas.openxmlformats.org/drawingml/2006/main">
              <a:ext uri="{FF2B5EF4-FFF2-40B4-BE49-F238E27FC236}">
                <a16:creationId xmlns:a16="http://schemas.microsoft.com/office/drawing/2014/main" id="{209BAF43-92C8-413A-B420-43E6A3B44D82}"/>
              </a:ext>
            </a:extLst>
          </p:cNvPr>
          <p:cNvSpPr>
            <a:spLocks xmlns:a="http://schemas.openxmlformats.org/drawingml/2006/main" noGrp="1"/>
          </p:cNvSpPr>
          <p:nvPr/>
        </p:nvSpPr>
        <p:spPr>
          <a:xfrm xmlns:a="http://schemas.openxmlformats.org/drawingml/2006/main">
            <a:off x="609600" y="2476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01</a:t>
            </a:r>
          </a:p>
        </p:txBody>
      </p:sp>
      <p:sp>
        <p:nvSpPr>
          <p:cNvPr id="7" name="">
            <a:extLst xmlns:a="http://schemas.openxmlformats.org/drawingml/2006/main">
              <a:ext uri="{FF2B5EF4-FFF2-40B4-BE49-F238E27FC236}">
                <a16:creationId xmlns:a16="http://schemas.microsoft.com/office/drawing/2014/main" id="{E633A6D5-2CD3-43D3-BF35-82B3E8F51781}"/>
              </a:ext>
            </a:extLst>
          </p:cNvPr>
          <p:cNvSpPr>
            <a:spLocks xmlns:a="http://schemas.openxmlformats.org/drawingml/2006/main" noGrp="1"/>
          </p:cNvSpPr>
          <p:nvPr/>
        </p:nvSpPr>
        <p:spPr>
          <a:xfrm xmlns:a="http://schemas.openxmlformats.org/drawingml/2006/main">
            <a:off x="1476375" y="23526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复核四种方式的到达时间与成本</a:t>
            </a:r>
          </a:p>
        </p:txBody>
      </p:sp>
      <p:sp>
        <p:nvSpPr>
          <p:cNvPr id="8" name="">
            <a:extLst xmlns:a="http://schemas.openxmlformats.org/drawingml/2006/main">
              <a:ext uri="{FF2B5EF4-FFF2-40B4-BE49-F238E27FC236}">
                <a16:creationId xmlns:a16="http://schemas.microsoft.com/office/drawing/2014/main" id="{1EA293AC-BFDE-4A03-89FA-F088DA42DE31}"/>
              </a:ext>
            </a:extLst>
          </p:cNvPr>
          <p:cNvSpPr>
            <a:spLocks xmlns:a="http://schemas.openxmlformats.org/drawingml/2006/main" noGrp="1"/>
          </p:cNvSpPr>
          <p:nvPr/>
        </p:nvSpPr>
        <p:spPr>
          <a:xfrm xmlns:a="http://schemas.openxmlformats.org/drawingml/2006/main">
            <a:off x="609600" y="35814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02</a:t>
            </a:r>
          </a:p>
        </p:txBody>
      </p:sp>
      <p:sp>
        <p:nvSpPr>
          <p:cNvPr id="9" name="">
            <a:extLst xmlns:a="http://schemas.openxmlformats.org/drawingml/2006/main">
              <a:ext uri="{FF2B5EF4-FFF2-40B4-BE49-F238E27FC236}">
                <a16:creationId xmlns:a16="http://schemas.microsoft.com/office/drawing/2014/main" id="{D950292E-1781-4035-A020-640AC95E6F51}"/>
              </a:ext>
            </a:extLst>
          </p:cNvPr>
          <p:cNvSpPr>
            <a:spLocks xmlns:a="http://schemas.openxmlformats.org/drawingml/2006/main" noGrp="1"/>
          </p:cNvSpPr>
          <p:nvPr/>
        </p:nvSpPr>
        <p:spPr>
          <a:xfrm xmlns:a="http://schemas.openxmlformats.org/drawingml/2006/main">
            <a:off x="1476375" y="34575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将时限改为4小时并重新判断</a:t>
            </a:r>
          </a:p>
        </p:txBody>
      </p:sp>
      <p:sp>
        <p:nvSpPr>
          <p:cNvPr id="10" name="">
            <a:extLst xmlns:a="http://schemas.openxmlformats.org/drawingml/2006/main">
              <a:ext uri="{FF2B5EF4-FFF2-40B4-BE49-F238E27FC236}">
                <a16:creationId xmlns:a16="http://schemas.microsoft.com/office/drawing/2014/main" id="{9412B5FA-7CF4-4624-9B90-04B1CDF6A44D}"/>
              </a:ext>
            </a:extLst>
          </p:cNvPr>
          <p:cNvSpPr>
            <a:spLocks xmlns:a="http://schemas.openxmlformats.org/drawingml/2006/main" noGrp="1"/>
          </p:cNvSpPr>
          <p:nvPr/>
        </p:nvSpPr>
        <p:spPr>
          <a:xfrm xmlns:a="http://schemas.openxmlformats.org/drawingml/2006/main">
            <a:off x="609600" y="4686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03</a:t>
            </a:r>
          </a:p>
        </p:txBody>
      </p:sp>
      <p:sp>
        <p:nvSpPr>
          <p:cNvPr id="11" name="">
            <a:extLst xmlns:a="http://schemas.openxmlformats.org/drawingml/2006/main">
              <a:ext uri="{FF2B5EF4-FFF2-40B4-BE49-F238E27FC236}">
                <a16:creationId xmlns:a16="http://schemas.microsoft.com/office/drawing/2014/main" id="{0B7207C0-4592-484C-A261-5C98E3625689}"/>
              </a:ext>
            </a:extLst>
          </p:cNvPr>
          <p:cNvSpPr>
            <a:spLocks xmlns:a="http://schemas.openxmlformats.org/drawingml/2006/main" noGrp="1"/>
          </p:cNvSpPr>
          <p:nvPr/>
        </p:nvSpPr>
        <p:spPr>
          <a:xfrm xmlns:a="http://schemas.openxmlformats.org/drawingml/2006/main">
            <a:off x="1476375" y="45624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提出无可行方案时的升级事项</a:t>
            </a:r>
          </a:p>
        </p:txBody>
      </p:sp>
      <p:sp>
        <p:nvSpPr>
          <p:cNvPr id="12" name="">
            <a:extLst xmlns:a="http://schemas.openxmlformats.org/drawingml/2006/main">
              <a:ext uri="{FF2B5EF4-FFF2-40B4-BE49-F238E27FC236}">
                <a16:creationId xmlns:a16="http://schemas.microsoft.com/office/drawing/2014/main" id="{8194B6B8-26ED-4B2E-B685-228108BC964E}"/>
              </a:ext>
            </a:extLst>
          </p:cNvPr>
          <p:cNvSpPr>
            <a:spLocks xmlns:a="http://schemas.openxmlformats.org/drawingml/2006/main" noGrp="1"/>
          </p:cNvSpPr>
          <p:nvPr/>
        </p:nvSpPr>
        <p:spPr>
          <a:xfrm xmlns:a="http://schemas.openxmlformats.org/drawingml/2006/main">
            <a:off x="7943850" y="17526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本次输出</a:t>
            </a:r>
          </a:p>
        </p:txBody>
      </p:sp>
      <p:sp>
        <p:nvSpPr>
          <p:cNvPr id="13" name="">
            <a:extLst xmlns:a="http://schemas.openxmlformats.org/drawingml/2006/main">
              <a:ext uri="{FF2B5EF4-FFF2-40B4-BE49-F238E27FC236}">
                <a16:creationId xmlns:a16="http://schemas.microsoft.com/office/drawing/2014/main" id="{8C85EBF2-43FE-4EBE-9A15-92C1E90AABD8}"/>
              </a:ext>
            </a:extLst>
          </p:cNvPr>
          <p:cNvSpPr>
            <a:spLocks xmlns:a="http://schemas.openxmlformats.org/drawingml/2006/main" noGrp="1"/>
          </p:cNvSpPr>
          <p:nvPr/>
        </p:nvSpPr>
        <p:spPr>
          <a:xfrm xmlns:a="http://schemas.openxmlformats.org/drawingml/2006/main">
            <a:off x="7943850" y="24574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可行与排除方案表</a:t>
            </a:r>
          </a:p>
        </p:txBody>
      </p:sp>
      <p:sp>
        <p:nvSpPr>
          <p:cNvPr id="14" name="">
            <a:extLst xmlns:a="http://schemas.openxmlformats.org/drawingml/2006/main">
              <a:ext uri="{FF2B5EF4-FFF2-40B4-BE49-F238E27FC236}">
                <a16:creationId xmlns:a16="http://schemas.microsoft.com/office/drawing/2014/main" id="{8CC15B21-6D35-44B6-8861-CBCF5EBB3C96}"/>
              </a:ext>
            </a:extLst>
          </p:cNvPr>
          <p:cNvSpPr>
            <a:spLocks xmlns:a="http://schemas.openxmlformats.org/drawingml/2006/main" noGrp="1"/>
          </p:cNvSpPr>
          <p:nvPr/>
        </p:nvSpPr>
        <p:spPr>
          <a:xfrm xmlns:a="http://schemas.openxmlformats.org/drawingml/2006/main">
            <a:off x="7943850" y="35623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建议、限制与成本口径</a:t>
            </a:r>
          </a:p>
        </p:txBody>
      </p:sp>
      <p:sp>
        <p:nvSpPr>
          <p:cNvPr id="15" name="">
            <a:extLst xmlns:a="http://schemas.openxmlformats.org/drawingml/2006/main">
              <a:ext uri="{FF2B5EF4-FFF2-40B4-BE49-F238E27FC236}">
                <a16:creationId xmlns:a16="http://schemas.microsoft.com/office/drawing/2014/main" id="{5AD1101D-4D32-49E7-BFFE-1F43FE262C3F}"/>
              </a:ext>
            </a:extLst>
          </p:cNvPr>
          <p:cNvSpPr>
            <a:spLocks xmlns:a="http://schemas.openxmlformats.org/drawingml/2006/main" noGrp="1"/>
          </p:cNvSpPr>
          <p:nvPr/>
        </p:nvSpPr>
        <p:spPr>
          <a:xfrm xmlns:a="http://schemas.openxmlformats.org/drawingml/2006/main">
            <a:off x="7943850" y="46672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负责确认的岗位及下一时点</a:t>
            </a:r>
          </a:p>
        </p:txBody>
      </p:sp>
    </p:spTree>
    <p:extLst>
      <p:ext uri="{BB962C8B-B14F-4D97-AF65-F5344CB8AC3E}">
        <p14:creationId xmlns:p14="http://schemas.microsoft.com/office/powerpoint/2010/main" val="1332549620"/>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BE635C-3A7E-4D03-92E1-C8E0F00B75DA}"/>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M06复盘：紧急响应怎样接受检验？</a:t>
            </a:r>
          </a:p>
        </p:txBody>
      </p:sp>
      <p:sp>
        <p:nvSpPr>
          <p:cNvPr id="2" name="">
            <a:extLst xmlns:a="http://schemas.openxmlformats.org/drawingml/2006/main">
              <a:ext uri="{FF2B5EF4-FFF2-40B4-BE49-F238E27FC236}">
                <a16:creationId xmlns:a16="http://schemas.microsoft.com/office/drawing/2014/main" id="{6366E799-E797-4738-8757-E2458D8026B3}"/>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发现得早、核对得准和执行有效需要分别评价</a:t>
            </a:r>
          </a:p>
        </p:txBody>
      </p:sp>
      <p:sp>
        <p:nvSpPr>
          <p:cNvPr id="3" name="">
            <a:extLst xmlns:a="http://schemas.openxmlformats.org/drawingml/2006/main">
              <a:ext uri="{FF2B5EF4-FFF2-40B4-BE49-F238E27FC236}">
                <a16:creationId xmlns:a16="http://schemas.microsoft.com/office/drawing/2014/main" id="{7C59E7C2-1A00-4B64-8B0A-381601C67FE7}"/>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AOG紧急采购与智能体  7分钟</a:t>
            </a:r>
          </a:p>
        </p:txBody>
      </p:sp>
      <p:sp>
        <p:nvSpPr>
          <p:cNvPr id="4" name="">
            <a:extLst xmlns:a="http://schemas.openxmlformats.org/drawingml/2006/main">
              <a:ext uri="{FF2B5EF4-FFF2-40B4-BE49-F238E27FC236}">
                <a16:creationId xmlns:a16="http://schemas.microsoft.com/office/drawing/2014/main" id="{99116DC6-96A6-4C98-A5F8-18076D994062}"/>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78 / 94</a:t>
            </a:r>
          </a:p>
        </p:txBody>
      </p:sp>
      <p:graphicFrame>
        <p:nvGraphicFramePr>
          <p:cNvPr id="5" name="">
            <a:extLst xmlns:a="http://schemas.openxmlformats.org/drawingml/2006/main">
              <a:ext uri="{FF2B5EF4-FFF2-40B4-BE49-F238E27FC236}">
                <a16:creationId xmlns:a16="http://schemas.microsoft.com/office/drawing/2014/main" id="{DAA25DB6-548A-4F96-B00A-7FBFD167BBDC}"/>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476500"/>
                <a:gridCol w="4476750"/>
                <a:gridCol w="4019550"/>
              </a:tblGrid>
              <a:tr h="800100">
                <a:tc>
                  <a:txBody>
                    <a:bodyPr lIns="114300" tIns="114300" rIns="114300" bIns="114300"/>
                    <a:lstStyle/>
                    <a:p>
                      <a:r>
                        <a:rPr sz="1725" b="1">
                          <a:solidFill>
                            <a:srgbClr val="477FA8"/>
                          </a:solidFill>
                          <a:latin typeface="PingFang SC"/>
                          <a:ea typeface="PingFang SC"/>
                          <a:cs typeface="PingFang SC"/>
                        </a:rPr>
                        <a:t>评价内容</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应保留的证据</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常见误判</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需求与时限</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需求确认及最后更新时间</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把估计当正式时限</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可行性</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证书、适用性与真实可获得性</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只看运输最快</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成本与条件</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费用组成、物权与商业条件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遗漏借件归还或交换条件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响应与升级</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责任、确认时点、例外处置</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无方案时仍强行下结论</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751190338"/>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2E446D-9B54-42C8-B877-FA4AD598DC0A}"/>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工具选型：先补哪一种能力？</a:t>
            </a:r>
          </a:p>
        </p:txBody>
      </p:sp>
      <p:sp>
        <p:nvSpPr>
          <p:cNvPr id="2" name="">
            <a:extLst xmlns:a="http://schemas.openxmlformats.org/drawingml/2006/main">
              <a:ext uri="{FF2B5EF4-FFF2-40B4-BE49-F238E27FC236}">
                <a16:creationId xmlns:a16="http://schemas.microsoft.com/office/drawing/2014/main" id="{D06A15AD-CFEA-4789-8949-DE9B84E567E1}"/>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从六个专题的问题与证据出发选择试点范围</a:t>
            </a:r>
          </a:p>
        </p:txBody>
      </p:sp>
      <p:sp>
        <p:nvSpPr>
          <p:cNvPr id="3" name="">
            <a:extLst xmlns:a="http://schemas.openxmlformats.org/drawingml/2006/main">
              <a:ext uri="{FF2B5EF4-FFF2-40B4-BE49-F238E27FC236}">
                <a16:creationId xmlns:a16="http://schemas.microsoft.com/office/drawing/2014/main" id="{239C65C8-48DC-4121-B043-763FFC938034}"/>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工具综合评价与选型  5分钟</a:t>
            </a:r>
          </a:p>
        </p:txBody>
      </p:sp>
      <p:sp>
        <p:nvSpPr>
          <p:cNvPr id="4" name="">
            <a:extLst xmlns:a="http://schemas.openxmlformats.org/drawingml/2006/main">
              <a:ext uri="{FF2B5EF4-FFF2-40B4-BE49-F238E27FC236}">
                <a16:creationId xmlns:a16="http://schemas.microsoft.com/office/drawing/2014/main" id="{88E2DB5A-7995-4A84-BE27-E7062C095909}"/>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79 / 94</a:t>
            </a:r>
          </a:p>
        </p:txBody>
      </p:sp>
      <p:sp>
        <p:nvSpPr>
          <p:cNvPr id="5" name="">
            <a:extLst xmlns:a="http://schemas.openxmlformats.org/drawingml/2006/main">
              <a:ext uri="{FF2B5EF4-FFF2-40B4-BE49-F238E27FC236}">
                <a16:creationId xmlns:a16="http://schemas.microsoft.com/office/drawing/2014/main" id="{9046E30C-2267-4122-8EA1-75C3F405B188}"/>
              </a:ext>
            </a:extLst>
          </p:cNvPr>
          <p:cNvSpPr>
            <a:spLocks xmlns:a="http://schemas.openxmlformats.org/drawingml/2006/main" noGrp="1"/>
          </p:cNvSpPr>
          <p:nvPr/>
        </p:nvSpPr>
        <p:spPr>
          <a:xfrm xmlns:a="http://schemas.openxmlformats.org/drawingml/2006/main">
            <a:off x="609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需求从业务中来</a:t>
            </a:r>
          </a:p>
        </p:txBody>
      </p:sp>
      <p:sp>
        <p:nvSpPr>
          <p:cNvPr id="6" name="">
            <a:extLst xmlns:a="http://schemas.openxmlformats.org/drawingml/2006/main">
              <a:ext uri="{FF2B5EF4-FFF2-40B4-BE49-F238E27FC236}">
                <a16:creationId xmlns:a16="http://schemas.microsoft.com/office/drawing/2014/main" id="{9A4667A5-1F88-4791-93E4-265B86E64A10}"/>
              </a:ext>
            </a:extLst>
          </p:cNvPr>
          <p:cNvSpPr>
            <a:spLocks xmlns:a="http://schemas.openxmlformats.org/drawingml/2006/main" noGrp="1"/>
          </p:cNvSpPr>
          <p:nvPr/>
        </p:nvSpPr>
        <p:spPr>
          <a:xfrm xmlns:a="http://schemas.openxmlformats.org/drawingml/2006/main">
            <a:off x="609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重复整理还是复杂判断？</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缺少数据还是缺少关联？</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现有平台能否先通过规则改善？</a:t>
            </a:r>
          </a:p>
        </p:txBody>
      </p:sp>
      <p:sp>
        <p:nvSpPr>
          <p:cNvPr id="7" name="">
            <a:extLst xmlns:a="http://schemas.openxmlformats.org/drawingml/2006/main">
              <a:ext uri="{FF2B5EF4-FFF2-40B4-BE49-F238E27FC236}">
                <a16:creationId xmlns:a16="http://schemas.microsoft.com/office/drawing/2014/main" id="{7775CEE0-CC9C-497B-A62D-857F32B6961B}"/>
              </a:ext>
            </a:extLst>
          </p:cNvPr>
          <p:cNvSpPr>
            <a:spLocks xmlns:a="http://schemas.openxmlformats.org/drawingml/2006/main" noGrp="1"/>
          </p:cNvSpPr>
          <p:nvPr/>
        </p:nvSpPr>
        <p:spPr>
          <a:xfrm xmlns:a="http://schemas.openxmlformats.org/drawingml/2006/main">
            <a:off x="6324600" y="1943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477FA8"/>
                </a:solidFill>
                <a:latin typeface="PingFang SC"/>
                <a:ea typeface="PingFang SC"/>
                <a:cs typeface="PingFang SC"/>
              </a:defRPr>
            </a:defPPr>
            <a:lvl1pPr algn="l">
              <a:defRPr sz="2475" b="1">
                <a:solidFill>
                  <a:srgbClr val="477FA8"/>
                </a:solidFill>
                <a:latin typeface="PingFang SC"/>
                <a:ea typeface="PingFang SC"/>
                <a:cs typeface="PingFang SC"/>
              </a:defRPr>
            </a:lvl1pPr>
            <a:lvl2pPr algn="l">
              <a:defRPr sz="2475" b="1">
                <a:solidFill>
                  <a:srgbClr val="477FA8"/>
                </a:solidFill>
                <a:latin typeface="PingFang SC"/>
                <a:ea typeface="PingFang SC"/>
                <a:cs typeface="PingFang SC"/>
              </a:defRPr>
            </a:lvl2pPr>
            <a:lvl3pPr algn="l">
              <a:defRPr sz="2475" b="1">
                <a:solidFill>
                  <a:srgbClr val="477FA8"/>
                </a:solidFill>
                <a:latin typeface="PingFang SC"/>
                <a:ea typeface="PingFang SC"/>
                <a:cs typeface="PingFang SC"/>
              </a:defRPr>
            </a:lvl3pPr>
            <a:lvl4pPr algn="l">
              <a:defRPr sz="2475" b="1">
                <a:solidFill>
                  <a:srgbClr val="477FA8"/>
                </a:solidFill>
                <a:latin typeface="PingFang SC"/>
                <a:ea typeface="PingFang SC"/>
                <a:cs typeface="PingFang SC"/>
              </a:defRPr>
            </a:lvl4pPr>
            <a:lvl5pPr algn="l">
              <a:defRPr sz="2475" b="1">
                <a:solidFill>
                  <a:srgbClr val="477FA8"/>
                </a:solidFill>
                <a:latin typeface="PingFang SC"/>
                <a:ea typeface="PingFang SC"/>
                <a:cs typeface="PingFang SC"/>
              </a:defRPr>
            </a:lvl5pPr>
            <a:lvl6pPr algn="l">
              <a:defRPr sz="2475" b="1">
                <a:solidFill>
                  <a:srgbClr val="477FA8"/>
                </a:solidFill>
                <a:latin typeface="PingFang SC"/>
                <a:ea typeface="PingFang SC"/>
                <a:cs typeface="PingFang SC"/>
              </a:defRPr>
            </a:lvl6pPr>
            <a:lvl7pPr algn="l">
              <a:defRPr sz="2475" b="1">
                <a:solidFill>
                  <a:srgbClr val="477FA8"/>
                </a:solidFill>
                <a:latin typeface="PingFang SC"/>
                <a:ea typeface="PingFang SC"/>
                <a:cs typeface="PingFang SC"/>
              </a:defRPr>
            </a:lvl7pPr>
            <a:lvl8pPr algn="l">
              <a:defRPr sz="2475" b="1">
                <a:solidFill>
                  <a:srgbClr val="477FA8"/>
                </a:solidFill>
                <a:latin typeface="PingFang SC"/>
                <a:ea typeface="PingFang SC"/>
                <a:cs typeface="PingFang SC"/>
              </a:defRPr>
            </a:lvl8pPr>
            <a:lvl9pPr algn="l">
              <a:defRPr sz="2475" b="1">
                <a:solidFill>
                  <a:srgbClr val="477FA8"/>
                </a:solidFill>
                <a:latin typeface="PingFang SC"/>
                <a:ea typeface="PingFang SC"/>
                <a:cs typeface="PingFang SC"/>
              </a:defRPr>
            </a:lvl9pPr>
          </a:lstStyle>
          <a:p xmlns:a="http://schemas.openxmlformats.org/drawingml/2006/main">
            <a:pPr algn="l">
              <a:defRPr sz="2475" b="1">
                <a:solidFill>
                  <a:srgbClr val="477FA8"/>
                </a:solidFill>
                <a:latin typeface="PingFang SC"/>
                <a:ea typeface="PingFang SC"/>
                <a:cs typeface="PingFang SC"/>
              </a:defRPr>
            </a:pPr>
            <a:r>
              <a:rPr sz="2475" b="1">
                <a:solidFill>
                  <a:srgbClr val="477FA8"/>
                </a:solidFill>
                <a:latin typeface="PingFang SC"/>
                <a:ea typeface="PingFang SC"/>
                <a:cs typeface="PingFang SC"/>
              </a:rPr>
              <a:t>选型从证据中来</a:t>
            </a:r>
          </a:p>
        </p:txBody>
      </p:sp>
      <p:sp>
        <p:nvSpPr>
          <p:cNvPr id="8" name="">
            <a:extLst xmlns:a="http://schemas.openxmlformats.org/drawingml/2006/main">
              <a:ext uri="{FF2B5EF4-FFF2-40B4-BE49-F238E27FC236}">
                <a16:creationId xmlns:a16="http://schemas.microsoft.com/office/drawing/2014/main" id="{34564A52-5E06-45FF-99BD-3830CF862844}"/>
              </a:ext>
            </a:extLst>
          </p:cNvPr>
          <p:cNvSpPr>
            <a:spLocks xmlns:a="http://schemas.openxmlformats.org/drawingml/2006/main" noGrp="1"/>
          </p:cNvSpPr>
          <p:nvPr/>
        </p:nvSpPr>
        <p:spPr>
          <a:xfrm xmlns:a="http://schemas.openxmlformats.org/drawingml/2006/main">
            <a:off x="6324600" y="2857500"/>
            <a:ext cx="519112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17334D"/>
                </a:solidFill>
                <a:latin typeface="PingFang SC"/>
                <a:ea typeface="PingFang SC"/>
                <a:cs typeface="PingFang SC"/>
              </a:defRPr>
            </a:defPPr>
            <a:lvl1pPr algn="l">
              <a:defRPr sz="2250" b="0">
                <a:solidFill>
                  <a:srgbClr val="17334D"/>
                </a:solidFill>
                <a:latin typeface="PingFang SC"/>
                <a:ea typeface="PingFang SC"/>
                <a:cs typeface="PingFang SC"/>
              </a:defRPr>
            </a:lvl1pPr>
            <a:lvl2pPr algn="l">
              <a:defRPr sz="2250" b="0">
                <a:solidFill>
                  <a:srgbClr val="17334D"/>
                </a:solidFill>
                <a:latin typeface="PingFang SC"/>
                <a:ea typeface="PingFang SC"/>
                <a:cs typeface="PingFang SC"/>
              </a:defRPr>
            </a:lvl2pPr>
            <a:lvl3pPr algn="l">
              <a:defRPr sz="2250" b="0">
                <a:solidFill>
                  <a:srgbClr val="17334D"/>
                </a:solidFill>
                <a:latin typeface="PingFang SC"/>
                <a:ea typeface="PingFang SC"/>
                <a:cs typeface="PingFang SC"/>
              </a:defRPr>
            </a:lvl3pPr>
            <a:lvl4pPr algn="l">
              <a:defRPr sz="2250" b="0">
                <a:solidFill>
                  <a:srgbClr val="17334D"/>
                </a:solidFill>
                <a:latin typeface="PingFang SC"/>
                <a:ea typeface="PingFang SC"/>
                <a:cs typeface="PingFang SC"/>
              </a:defRPr>
            </a:lvl4pPr>
            <a:lvl5pPr algn="l">
              <a:defRPr sz="2250" b="0">
                <a:solidFill>
                  <a:srgbClr val="17334D"/>
                </a:solidFill>
                <a:latin typeface="PingFang SC"/>
                <a:ea typeface="PingFang SC"/>
                <a:cs typeface="PingFang SC"/>
              </a:defRPr>
            </a:lvl5pPr>
            <a:lvl6pPr algn="l">
              <a:defRPr sz="2250" b="0">
                <a:solidFill>
                  <a:srgbClr val="17334D"/>
                </a:solidFill>
                <a:latin typeface="PingFang SC"/>
                <a:ea typeface="PingFang SC"/>
                <a:cs typeface="PingFang SC"/>
              </a:defRPr>
            </a:lvl6pPr>
            <a:lvl7pPr algn="l">
              <a:defRPr sz="2250" b="0">
                <a:solidFill>
                  <a:srgbClr val="17334D"/>
                </a:solidFill>
                <a:latin typeface="PingFang SC"/>
                <a:ea typeface="PingFang SC"/>
                <a:cs typeface="PingFang SC"/>
              </a:defRPr>
            </a:lvl7pPr>
            <a:lvl8pPr algn="l">
              <a:defRPr sz="2250" b="0">
                <a:solidFill>
                  <a:srgbClr val="17334D"/>
                </a:solidFill>
                <a:latin typeface="PingFang SC"/>
                <a:ea typeface="PingFang SC"/>
                <a:cs typeface="PingFang SC"/>
              </a:defRPr>
            </a:lvl8pPr>
            <a:lvl9pPr algn="l">
              <a:defRPr sz="2250" b="0">
                <a:solidFill>
                  <a:srgbClr val="17334D"/>
                </a:solidFill>
                <a:latin typeface="PingFang SC"/>
                <a:ea typeface="PingFang SC"/>
                <a:cs typeface="PingFang SC"/>
              </a:defRPr>
            </a:lvl9pPr>
          </a:lstStyle>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拿相同脱敏案例测试</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确认版本、接口和权限</a:t>
            </a:r>
          </a:p>
          <a:p xmlns:a="http://schemas.openxmlformats.org/drawingml/2006/main">
            <a:pPr algn="l">
              <a:defRPr sz="2250" b="0">
                <a:solidFill>
                  <a:srgbClr val="17334D"/>
                </a:solidFill>
                <a:latin typeface="PingFang SC"/>
                <a:ea typeface="PingFang SC"/>
                <a:cs typeface="PingFang SC"/>
              </a:defRPr>
            </a:pPr>
            <a:r>
              <a:rPr sz="2250" b="0">
                <a:solidFill>
                  <a:srgbClr val="17334D"/>
                </a:solidFill>
                <a:latin typeface="PingFang SC"/>
                <a:ea typeface="PingFang SC"/>
                <a:cs typeface="PingFang SC"/>
              </a:rPr>
              <a:t>核对例外与人工责任</a:t>
            </a:r>
          </a:p>
        </p:txBody>
      </p:sp>
    </p:spTree>
    <p:extLst>
      <p:ext uri="{BB962C8B-B14F-4D97-AF65-F5344CB8AC3E}">
        <p14:creationId xmlns:p14="http://schemas.microsoft.com/office/powerpoint/2010/main" val="1119322433"/>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20E6EA-712A-4094-8067-29A42CF77D3D}"/>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工具类别与待验证能力</a:t>
            </a:r>
          </a:p>
        </p:txBody>
      </p:sp>
      <p:sp>
        <p:nvSpPr>
          <p:cNvPr id="2" name="">
            <a:extLst xmlns:a="http://schemas.openxmlformats.org/drawingml/2006/main">
              <a:ext uri="{FF2B5EF4-FFF2-40B4-BE49-F238E27FC236}">
                <a16:creationId xmlns:a16="http://schemas.microsoft.com/office/drawing/2014/main" id="{DDCD7504-4FA8-440C-A2E2-83B1225460F5}"/>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课程列举的产品是评价对象，不是默认采购建议</a:t>
            </a:r>
          </a:p>
        </p:txBody>
      </p:sp>
      <p:sp>
        <p:nvSpPr>
          <p:cNvPr id="3" name="">
            <a:extLst xmlns:a="http://schemas.openxmlformats.org/drawingml/2006/main">
              <a:ext uri="{FF2B5EF4-FFF2-40B4-BE49-F238E27FC236}">
                <a16:creationId xmlns:a16="http://schemas.microsoft.com/office/drawing/2014/main" id="{778B1650-B5CC-4EAB-9F2F-8B04D171DEA0}"/>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工具综合评价与选型  8分钟</a:t>
            </a:r>
          </a:p>
        </p:txBody>
      </p:sp>
      <p:sp>
        <p:nvSpPr>
          <p:cNvPr id="4" name="">
            <a:extLst xmlns:a="http://schemas.openxmlformats.org/drawingml/2006/main">
              <a:ext uri="{FF2B5EF4-FFF2-40B4-BE49-F238E27FC236}">
                <a16:creationId xmlns:a16="http://schemas.microsoft.com/office/drawing/2014/main" id="{13A06D52-AE4F-45B8-814A-23AEFE5F39DB}"/>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80 / 94</a:t>
            </a:r>
          </a:p>
        </p:txBody>
      </p:sp>
      <p:graphicFrame>
        <p:nvGraphicFramePr>
          <p:cNvPr id="5" name="">
            <a:extLst xmlns:a="http://schemas.openxmlformats.org/drawingml/2006/main">
              <a:ext uri="{FF2B5EF4-FFF2-40B4-BE49-F238E27FC236}">
                <a16:creationId xmlns:a16="http://schemas.microsoft.com/office/drawing/2014/main" id="{7757BC01-E413-4CAA-B051-465E09938ACF}"/>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3524250"/>
                <a:gridCol w="3429000"/>
                <a:gridCol w="4019550"/>
              </a:tblGrid>
              <a:tr h="666750">
                <a:tc>
                  <a:txBody>
                    <a:bodyPr lIns="114300" tIns="114300" rIns="114300" bIns="114300"/>
                    <a:lstStyle/>
                    <a:p>
                      <a:r>
                        <a:rPr sz="1725" b="1">
                          <a:solidFill>
                            <a:srgbClr val="477FA8"/>
                          </a:solidFill>
                          <a:latin typeface="PingFang SC"/>
                          <a:ea typeface="PingFang SC"/>
                          <a:cs typeface="PingFang SC"/>
                        </a:rPr>
                        <a:t>类别与示例</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拟评价的能力</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重点待验证</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666750">
                <a:tc>
                  <a:txBody>
                    <a:bodyPr lIns="114300" tIns="114300" rIns="114300" bIns="114300"/>
                    <a:lstStyle/>
                    <a:p>
                      <a:r>
                        <a:rPr sz="1725" b="1">
                          <a:solidFill>
                            <a:srgbClr val="477FA8"/>
                          </a:solidFill>
                          <a:latin typeface="PingFang SC"/>
                          <a:ea typeface="PingFang SC"/>
                          <a:cs typeface="PingFang SC"/>
                        </a:rPr>
                        <a:t>MRO协同：IFS</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725" b="0">
                          <a:solidFill>
                            <a:srgbClr val="17334D"/>
                          </a:solidFill>
                          <a:latin typeface="PingFang SC"/>
                          <a:ea typeface="PingFang SC"/>
                          <a:cs typeface="PingFang SC"/>
                        </a:rPr>
                        <a:t>维修需求与资源协同</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725" b="0">
                          <a:solidFill>
                            <a:srgbClr val="17334D"/>
                          </a:solidFill>
                          <a:latin typeface="PingFang SC"/>
                          <a:ea typeface="PingFang SC"/>
                          <a:cs typeface="PingFang SC"/>
                        </a:rPr>
                        <a:t>实际业务对象、版本与接口</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725" b="1">
                          <a:solidFill>
                            <a:srgbClr val="477FA8"/>
                          </a:solidFill>
                          <a:latin typeface="PingFang SC"/>
                          <a:ea typeface="PingFang SC"/>
                          <a:cs typeface="PingFang SC"/>
                        </a:rPr>
                        <a:t>库存：IBM Maximo</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725" b="0">
                          <a:solidFill>
                            <a:srgbClr val="17334D"/>
                          </a:solidFill>
                          <a:latin typeface="PingFang SC"/>
                          <a:ea typeface="PingFang SC"/>
                          <a:cs typeface="PingFang SC"/>
                        </a:rPr>
                        <a:t>库存记录及补货工作流</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725" b="0">
                          <a:solidFill>
                            <a:srgbClr val="17334D"/>
                          </a:solidFill>
                          <a:latin typeface="PingFang SC"/>
                          <a:ea typeface="PingFang SC"/>
                          <a:cs typeface="PingFang SC"/>
                        </a:rPr>
                        <a:t>可用量、预留与组织配置</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725" b="1">
                          <a:solidFill>
                            <a:srgbClr val="477FA8"/>
                          </a:solidFill>
                          <a:latin typeface="PingFang SC"/>
                          <a:ea typeface="PingFang SC"/>
                          <a:cs typeface="PingFang SC"/>
                        </a:rPr>
                        <a:t>采购：Ariba／Coupa</a:t>
                      </a:r>
                    </a:p>
                    <a:p>
                      <a:r>
                        <a:rPr sz="1725" b="1">
                          <a:solidFill>
                            <a:srgbClr val="477FA8"/>
                          </a:solidFill>
                          <a:latin typeface="PingFang SC"/>
                          <a:ea typeface="PingFang SC"/>
                          <a:cs typeface="PingFang SC"/>
                        </a:rPr>
                        <a:t>JAGGAER</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725" b="0">
                          <a:solidFill>
                            <a:srgbClr val="17334D"/>
                          </a:solidFill>
                          <a:latin typeface="PingFang SC"/>
                          <a:ea typeface="PingFang SC"/>
                          <a:cs typeface="PingFang SC"/>
                        </a:rPr>
                        <a:t>寻源、响应与供应商管理</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725" b="0">
                          <a:solidFill>
                            <a:srgbClr val="17334D"/>
                          </a:solidFill>
                          <a:latin typeface="PingFang SC"/>
                          <a:ea typeface="PingFang SC"/>
                          <a:cs typeface="PingFang SC"/>
                        </a:rPr>
                        <a:t>航空字段、规则、数据覆盖</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725" b="1">
                          <a:solidFill>
                            <a:srgbClr val="477FA8"/>
                          </a:solidFill>
                          <a:latin typeface="PingFang SC"/>
                          <a:ea typeface="PingFang SC"/>
                          <a:cs typeface="PingFang SC"/>
                        </a:rPr>
                        <a:t>行业数据：MRO SmartHub</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725" b="0">
                          <a:solidFill>
                            <a:srgbClr val="17334D"/>
                          </a:solidFill>
                          <a:latin typeface="PingFang SC"/>
                          <a:ea typeface="PingFang SC"/>
                          <a:cs typeface="PingFang SC"/>
                        </a:rPr>
                        <a:t>市场信息与估值参考</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725" b="0">
                          <a:solidFill>
                            <a:srgbClr val="17334D"/>
                          </a:solidFill>
                          <a:latin typeface="PingFang SC"/>
                          <a:ea typeface="PingFang SC"/>
                          <a:cs typeface="PingFang SC"/>
                        </a:rPr>
                        <a:t>件号件况、时效与使用授权</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725" b="1">
                          <a:solidFill>
                            <a:srgbClr val="477FA8"/>
                          </a:solidFill>
                          <a:latin typeface="PingFang SC"/>
                          <a:ea typeface="PingFang SC"/>
                          <a:cs typeface="PingFang SC"/>
                        </a:rPr>
                        <a:t>国内ERP／SRM及大模型</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725" b="0">
                          <a:solidFill>
                            <a:srgbClr val="17334D"/>
                          </a:solidFill>
                          <a:latin typeface="PingFang SC"/>
                          <a:ea typeface="PingFang SC"/>
                          <a:cs typeface="PingFang SC"/>
                        </a:rPr>
                        <a:t>现有流程、解析与集成组合</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725" b="0">
                          <a:solidFill>
                            <a:srgbClr val="17334D"/>
                          </a:solidFill>
                          <a:latin typeface="PingFang SC"/>
                          <a:ea typeface="PingFang SC"/>
                          <a:cs typeface="PingFang SC"/>
                        </a:rPr>
                        <a:t>真实接口、部署与总成本</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1267522635"/>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D0C0AA-9EE3-4427-862B-C3CB459C53DA}"/>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使用同一案例验证工具适配</a:t>
            </a:r>
          </a:p>
        </p:txBody>
      </p:sp>
      <p:sp>
        <p:nvSpPr>
          <p:cNvPr id="2" name="">
            <a:extLst xmlns:a="http://schemas.openxmlformats.org/drawingml/2006/main">
              <a:ext uri="{FF2B5EF4-FFF2-40B4-BE49-F238E27FC236}">
                <a16:creationId xmlns:a16="http://schemas.microsoft.com/office/drawing/2014/main" id="{3AA47B6A-CB2B-4A9E-AC02-EC55C8CEC4F3}"/>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功能演示之外，记录限制和失败情形</a:t>
            </a:r>
          </a:p>
        </p:txBody>
      </p:sp>
      <p:sp>
        <p:nvSpPr>
          <p:cNvPr id="3" name="">
            <a:extLst xmlns:a="http://schemas.openxmlformats.org/drawingml/2006/main">
              <a:ext uri="{FF2B5EF4-FFF2-40B4-BE49-F238E27FC236}">
                <a16:creationId xmlns:a16="http://schemas.microsoft.com/office/drawing/2014/main" id="{9FE157EB-A533-43A7-86B6-323B90219323}"/>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工具综合评价与选型  10分钟</a:t>
            </a:r>
          </a:p>
        </p:txBody>
      </p:sp>
      <p:sp>
        <p:nvSpPr>
          <p:cNvPr id="4" name="">
            <a:extLst xmlns:a="http://schemas.openxmlformats.org/drawingml/2006/main">
              <a:ext uri="{FF2B5EF4-FFF2-40B4-BE49-F238E27FC236}">
                <a16:creationId xmlns:a16="http://schemas.microsoft.com/office/drawing/2014/main" id="{8346CE16-6B30-4F61-B2DB-883E89CE1EAC}"/>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81 / 94</a:t>
            </a:r>
          </a:p>
        </p:txBody>
      </p:sp>
      <p:graphicFrame>
        <p:nvGraphicFramePr>
          <p:cNvPr id="5" name="">
            <a:extLst xmlns:a="http://schemas.openxmlformats.org/drawingml/2006/main">
              <a:ext uri="{FF2B5EF4-FFF2-40B4-BE49-F238E27FC236}">
                <a16:creationId xmlns:a16="http://schemas.microsoft.com/office/drawing/2014/main" id="{9A6369D8-6EAB-403C-9863-17F8CC78995B}"/>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571750"/>
                <a:gridCol w="4191000"/>
                <a:gridCol w="4210050"/>
              </a:tblGrid>
              <a:tr h="666750">
                <a:tc>
                  <a:txBody>
                    <a:bodyPr lIns="114300" tIns="114300" rIns="114300" bIns="114300"/>
                    <a:lstStyle/>
                    <a:p>
                      <a:r>
                        <a:rPr sz="1725" b="1">
                          <a:solidFill>
                            <a:srgbClr val="477FA8"/>
                          </a:solidFill>
                          <a:latin typeface="PingFang SC"/>
                          <a:ea typeface="PingFang SC"/>
                          <a:cs typeface="PingFang SC"/>
                        </a:rPr>
                        <a:t>评价维度</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测试问题</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接受证据</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666750">
                <a:tc>
                  <a:txBody>
                    <a:bodyPr lIns="114300" tIns="114300" rIns="114300" bIns="114300"/>
                    <a:lstStyle/>
                    <a:p>
                      <a:r>
                        <a:rPr sz="1875" b="1">
                          <a:solidFill>
                            <a:srgbClr val="477FA8"/>
                          </a:solidFill>
                          <a:latin typeface="PingFang SC"/>
                          <a:ea typeface="PingFang SC"/>
                          <a:cs typeface="PingFang SC"/>
                        </a:rPr>
                        <a:t>业务覆盖</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六类问题中能支持哪一步？</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实际字段、流程与异常演示</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专业适配</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证书、件况、适用性如何处理？</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可配置规则与责任说明</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数据与接口</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是否能取得获授权的数据？</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导出/API规范及样本核验</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安全与权限</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谁能查看、修改和对外执行？</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权限配置及审计记录</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投入与运维</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许可、集成、人工复核需多少？</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报价、工作量和持续支持方案</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2069720803"/>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7B89190-194A-46E0-A7F9-B7E0E54A25CA}"/>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小组选型：一个问题，两种组合方案</a:t>
            </a:r>
          </a:p>
        </p:txBody>
      </p:sp>
      <p:sp>
        <p:nvSpPr>
          <p:cNvPr id="2" name="">
            <a:extLst xmlns:a="http://schemas.openxmlformats.org/drawingml/2006/main">
              <a:ext uri="{FF2B5EF4-FFF2-40B4-BE49-F238E27FC236}">
                <a16:creationId xmlns:a16="http://schemas.microsoft.com/office/drawing/2014/main" id="{86B4B2AB-4349-484A-A6A8-7615853795C6}"/>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12分钟，用实际约束比较收益与局限</a:t>
            </a:r>
          </a:p>
        </p:txBody>
      </p:sp>
      <p:sp>
        <p:nvSpPr>
          <p:cNvPr id="3" name="">
            <a:extLst xmlns:a="http://schemas.openxmlformats.org/drawingml/2006/main">
              <a:ext uri="{FF2B5EF4-FFF2-40B4-BE49-F238E27FC236}">
                <a16:creationId xmlns:a16="http://schemas.microsoft.com/office/drawing/2014/main" id="{8E76B5B9-9E30-4C55-9D7A-B4A5F7669A2F}"/>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工具综合评价与选型  12分钟</a:t>
            </a:r>
          </a:p>
        </p:txBody>
      </p:sp>
      <p:sp>
        <p:nvSpPr>
          <p:cNvPr id="4" name="">
            <a:extLst xmlns:a="http://schemas.openxmlformats.org/drawingml/2006/main">
              <a:ext uri="{FF2B5EF4-FFF2-40B4-BE49-F238E27FC236}">
                <a16:creationId xmlns:a16="http://schemas.microsoft.com/office/drawing/2014/main" id="{9C859E20-D97B-4ABF-AD73-9DEC6F8D608E}"/>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82 / 94</a:t>
            </a:r>
          </a:p>
        </p:txBody>
      </p:sp>
      <p:sp>
        <p:nvSpPr>
          <p:cNvPr id="5" name="">
            <a:extLst xmlns:a="http://schemas.openxmlformats.org/drawingml/2006/main">
              <a:ext uri="{FF2B5EF4-FFF2-40B4-BE49-F238E27FC236}">
                <a16:creationId xmlns:a16="http://schemas.microsoft.com/office/drawing/2014/main" id="{9DAA913E-2331-4A94-B655-781F205DA1C4}"/>
              </a:ext>
            </a:extLst>
          </p:cNvPr>
          <p:cNvSpPr>
            <a:spLocks xmlns:a="http://schemas.openxmlformats.org/drawingml/2006/main" noGrp="1"/>
          </p:cNvSpPr>
          <p:nvPr/>
        </p:nvSpPr>
        <p:spPr>
          <a:xfrm xmlns:a="http://schemas.openxmlformats.org/drawingml/2006/main">
            <a:off x="609600" y="17526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讨论与操作</a:t>
            </a:r>
          </a:p>
        </p:txBody>
      </p:sp>
      <p:sp>
        <p:nvSpPr>
          <p:cNvPr id="6" name="">
            <a:extLst xmlns:a="http://schemas.openxmlformats.org/drawingml/2006/main">
              <a:ext uri="{FF2B5EF4-FFF2-40B4-BE49-F238E27FC236}">
                <a16:creationId xmlns:a16="http://schemas.microsoft.com/office/drawing/2014/main" id="{72C76DFE-C057-49CF-B7E4-6B24B14AF0BC}"/>
              </a:ext>
            </a:extLst>
          </p:cNvPr>
          <p:cNvSpPr>
            <a:spLocks xmlns:a="http://schemas.openxmlformats.org/drawingml/2006/main" noGrp="1"/>
          </p:cNvSpPr>
          <p:nvPr/>
        </p:nvSpPr>
        <p:spPr>
          <a:xfrm xmlns:a="http://schemas.openxmlformats.org/drawingml/2006/main">
            <a:off x="609600" y="2476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01</a:t>
            </a:r>
          </a:p>
        </p:txBody>
      </p:sp>
      <p:sp>
        <p:nvSpPr>
          <p:cNvPr id="7" name="">
            <a:extLst xmlns:a="http://schemas.openxmlformats.org/drawingml/2006/main">
              <a:ext uri="{FF2B5EF4-FFF2-40B4-BE49-F238E27FC236}">
                <a16:creationId xmlns:a16="http://schemas.microsoft.com/office/drawing/2014/main" id="{7FA6CCE2-B8AA-481C-A412-8E61240217D2}"/>
              </a:ext>
            </a:extLst>
          </p:cNvPr>
          <p:cNvSpPr>
            <a:spLocks xmlns:a="http://schemas.openxmlformats.org/drawingml/2006/main" noGrp="1"/>
          </p:cNvSpPr>
          <p:nvPr/>
        </p:nvSpPr>
        <p:spPr>
          <a:xfrm xmlns:a="http://schemas.openxmlformats.org/drawingml/2006/main">
            <a:off x="1476375" y="23526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选择前面一个已描述的问题</a:t>
            </a:r>
          </a:p>
        </p:txBody>
      </p:sp>
      <p:sp>
        <p:nvSpPr>
          <p:cNvPr id="8" name="">
            <a:extLst xmlns:a="http://schemas.openxmlformats.org/drawingml/2006/main">
              <a:ext uri="{FF2B5EF4-FFF2-40B4-BE49-F238E27FC236}">
                <a16:creationId xmlns:a16="http://schemas.microsoft.com/office/drawing/2014/main" id="{A135AA96-FC53-40B3-BE87-EFEC246AFCA1}"/>
              </a:ext>
            </a:extLst>
          </p:cNvPr>
          <p:cNvSpPr>
            <a:spLocks xmlns:a="http://schemas.openxmlformats.org/drawingml/2006/main" noGrp="1"/>
          </p:cNvSpPr>
          <p:nvPr/>
        </p:nvSpPr>
        <p:spPr>
          <a:xfrm xmlns:a="http://schemas.openxmlformats.org/drawingml/2006/main">
            <a:off x="609600" y="35814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02</a:t>
            </a:r>
          </a:p>
        </p:txBody>
      </p:sp>
      <p:sp>
        <p:nvSpPr>
          <p:cNvPr id="9" name="">
            <a:extLst xmlns:a="http://schemas.openxmlformats.org/drawingml/2006/main">
              <a:ext uri="{FF2B5EF4-FFF2-40B4-BE49-F238E27FC236}">
                <a16:creationId xmlns:a16="http://schemas.microsoft.com/office/drawing/2014/main" id="{0A026F5F-DB3A-43B8-86FA-EAA77D006B82}"/>
              </a:ext>
            </a:extLst>
          </p:cNvPr>
          <p:cNvSpPr>
            <a:spLocks xmlns:a="http://schemas.openxmlformats.org/drawingml/2006/main" noGrp="1"/>
          </p:cNvSpPr>
          <p:nvPr/>
        </p:nvSpPr>
        <p:spPr>
          <a:xfrm xmlns:a="http://schemas.openxmlformats.org/drawingml/2006/main">
            <a:off x="1476375" y="34575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比较现有系统改进与新增工具方案</a:t>
            </a:r>
          </a:p>
        </p:txBody>
      </p:sp>
      <p:sp>
        <p:nvSpPr>
          <p:cNvPr id="10" name="">
            <a:extLst xmlns:a="http://schemas.openxmlformats.org/drawingml/2006/main">
              <a:ext uri="{FF2B5EF4-FFF2-40B4-BE49-F238E27FC236}">
                <a16:creationId xmlns:a16="http://schemas.microsoft.com/office/drawing/2014/main" id="{2A9864BC-49B7-429D-8C90-FC6E52ED7DF7}"/>
              </a:ext>
            </a:extLst>
          </p:cNvPr>
          <p:cNvSpPr>
            <a:spLocks xmlns:a="http://schemas.openxmlformats.org/drawingml/2006/main" noGrp="1"/>
          </p:cNvSpPr>
          <p:nvPr/>
        </p:nvSpPr>
        <p:spPr>
          <a:xfrm xmlns:a="http://schemas.openxmlformats.org/drawingml/2006/main">
            <a:off x="609600" y="4686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03</a:t>
            </a:r>
          </a:p>
        </p:txBody>
      </p:sp>
      <p:sp>
        <p:nvSpPr>
          <p:cNvPr id="11" name="">
            <a:extLst xmlns:a="http://schemas.openxmlformats.org/drawingml/2006/main">
              <a:ext uri="{FF2B5EF4-FFF2-40B4-BE49-F238E27FC236}">
                <a16:creationId xmlns:a16="http://schemas.microsoft.com/office/drawing/2014/main" id="{BB7C3E35-1634-4D9F-8586-6FB0A5BCBCCE}"/>
              </a:ext>
            </a:extLst>
          </p:cNvPr>
          <p:cNvSpPr>
            <a:spLocks xmlns:a="http://schemas.openxmlformats.org/drawingml/2006/main" noGrp="1"/>
          </p:cNvSpPr>
          <p:nvPr/>
        </p:nvSpPr>
        <p:spPr>
          <a:xfrm xmlns:a="http://schemas.openxmlformats.org/drawingml/2006/main">
            <a:off x="1476375" y="45624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分别列出数据、接口、人员和成本前提</a:t>
            </a:r>
          </a:p>
        </p:txBody>
      </p:sp>
      <p:sp>
        <p:nvSpPr>
          <p:cNvPr id="12" name="">
            <a:extLst xmlns:a="http://schemas.openxmlformats.org/drawingml/2006/main">
              <a:ext uri="{FF2B5EF4-FFF2-40B4-BE49-F238E27FC236}">
                <a16:creationId xmlns:a16="http://schemas.microsoft.com/office/drawing/2014/main" id="{C3C6F9AD-F71E-42BC-8230-4AF0397DFAF3}"/>
              </a:ext>
            </a:extLst>
          </p:cNvPr>
          <p:cNvSpPr>
            <a:spLocks xmlns:a="http://schemas.openxmlformats.org/drawingml/2006/main" noGrp="1"/>
          </p:cNvSpPr>
          <p:nvPr/>
        </p:nvSpPr>
        <p:spPr>
          <a:xfrm xmlns:a="http://schemas.openxmlformats.org/drawingml/2006/main">
            <a:off x="7943850" y="17526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本次输出</a:t>
            </a:r>
          </a:p>
        </p:txBody>
      </p:sp>
      <p:sp>
        <p:nvSpPr>
          <p:cNvPr id="13" name="">
            <a:extLst xmlns:a="http://schemas.openxmlformats.org/drawingml/2006/main">
              <a:ext uri="{FF2B5EF4-FFF2-40B4-BE49-F238E27FC236}">
                <a16:creationId xmlns:a16="http://schemas.microsoft.com/office/drawing/2014/main" id="{6D2422BA-E2C2-46AE-BD49-1688D93C581A}"/>
              </a:ext>
            </a:extLst>
          </p:cNvPr>
          <p:cNvSpPr>
            <a:spLocks xmlns:a="http://schemas.openxmlformats.org/drawingml/2006/main" noGrp="1"/>
          </p:cNvSpPr>
          <p:nvPr/>
        </p:nvSpPr>
        <p:spPr>
          <a:xfrm xmlns:a="http://schemas.openxmlformats.org/drawingml/2006/main">
            <a:off x="7943850" y="24574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两方案的能力与边界</a:t>
            </a:r>
          </a:p>
        </p:txBody>
      </p:sp>
      <p:sp>
        <p:nvSpPr>
          <p:cNvPr id="14" name="">
            <a:extLst xmlns:a="http://schemas.openxmlformats.org/drawingml/2006/main">
              <a:ext uri="{FF2B5EF4-FFF2-40B4-BE49-F238E27FC236}">
                <a16:creationId xmlns:a16="http://schemas.microsoft.com/office/drawing/2014/main" id="{B5A1CD41-4FB8-4878-84F9-19F70A1E959C}"/>
              </a:ext>
            </a:extLst>
          </p:cNvPr>
          <p:cNvSpPr>
            <a:spLocks xmlns:a="http://schemas.openxmlformats.org/drawingml/2006/main" noGrp="1"/>
          </p:cNvSpPr>
          <p:nvPr/>
        </p:nvSpPr>
        <p:spPr>
          <a:xfrm xmlns:a="http://schemas.openxmlformats.org/drawingml/2006/main">
            <a:off x="7943850" y="35623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一项必须实测的失败情景</a:t>
            </a:r>
          </a:p>
        </p:txBody>
      </p:sp>
      <p:sp>
        <p:nvSpPr>
          <p:cNvPr id="15" name="">
            <a:extLst xmlns:a="http://schemas.openxmlformats.org/drawingml/2006/main">
              <a:ext uri="{FF2B5EF4-FFF2-40B4-BE49-F238E27FC236}">
                <a16:creationId xmlns:a16="http://schemas.microsoft.com/office/drawing/2014/main" id="{7AB4D8D0-28B1-4EEB-8172-7EF450F588FA}"/>
              </a:ext>
            </a:extLst>
          </p:cNvPr>
          <p:cNvSpPr>
            <a:spLocks xmlns:a="http://schemas.openxmlformats.org/drawingml/2006/main" noGrp="1"/>
          </p:cNvSpPr>
          <p:nvPr/>
        </p:nvSpPr>
        <p:spPr>
          <a:xfrm xmlns:a="http://schemas.openxmlformats.org/drawingml/2006/main">
            <a:off x="7943850" y="46672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有条件的选择及暂不选理由</a:t>
            </a:r>
          </a:p>
        </p:txBody>
      </p:sp>
    </p:spTree>
    <p:extLst>
      <p:ext uri="{BB962C8B-B14F-4D97-AF65-F5344CB8AC3E}">
        <p14:creationId xmlns:p14="http://schemas.microsoft.com/office/powerpoint/2010/main" val="341380424"/>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9E0992-8E92-4140-B24E-17614DC33226}"/>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体验渠道怎样用于验证？</a:t>
            </a:r>
          </a:p>
        </p:txBody>
      </p:sp>
      <p:sp>
        <p:nvSpPr>
          <p:cNvPr id="2" name="">
            <a:extLst xmlns:a="http://schemas.openxmlformats.org/drawingml/2006/main">
              <a:ext uri="{FF2B5EF4-FFF2-40B4-BE49-F238E27FC236}">
                <a16:creationId xmlns:a16="http://schemas.microsoft.com/office/drawing/2014/main" id="{A8B3F801-A615-4332-9C96-3272D222ADA2}"/>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账号、期限、范围与数据条款均需开通前核实</a:t>
            </a:r>
          </a:p>
        </p:txBody>
      </p:sp>
      <p:sp>
        <p:nvSpPr>
          <p:cNvPr id="3" name="">
            <a:extLst xmlns:a="http://schemas.openxmlformats.org/drawingml/2006/main">
              <a:ext uri="{FF2B5EF4-FFF2-40B4-BE49-F238E27FC236}">
                <a16:creationId xmlns:a16="http://schemas.microsoft.com/office/drawing/2014/main" id="{01099522-8932-4F2B-AD0B-8B2F282DE38A}"/>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工具综合评价与选型  10分钟</a:t>
            </a:r>
          </a:p>
        </p:txBody>
      </p:sp>
      <p:sp>
        <p:nvSpPr>
          <p:cNvPr id="4" name="">
            <a:extLst xmlns:a="http://schemas.openxmlformats.org/drawingml/2006/main">
              <a:ext uri="{FF2B5EF4-FFF2-40B4-BE49-F238E27FC236}">
                <a16:creationId xmlns:a16="http://schemas.microsoft.com/office/drawing/2014/main" id="{A1EA5DC1-B67A-4785-9414-397C5B7B0DB4}"/>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83 / 94</a:t>
            </a:r>
          </a:p>
        </p:txBody>
      </p:sp>
      <p:graphicFrame>
        <p:nvGraphicFramePr>
          <p:cNvPr id="5" name="">
            <a:extLst xmlns:a="http://schemas.openxmlformats.org/drawingml/2006/main">
              <a:ext uri="{FF2B5EF4-FFF2-40B4-BE49-F238E27FC236}">
                <a16:creationId xmlns:a16="http://schemas.microsoft.com/office/drawing/2014/main" id="{BD904696-61DE-4E3A-B675-022EEE998B6C}"/>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857500"/>
                <a:gridCol w="3810000"/>
                <a:gridCol w="4305300"/>
              </a:tblGrid>
              <a:tr h="800100">
                <a:tc>
                  <a:txBody>
                    <a:bodyPr lIns="114300" tIns="114300" rIns="114300" bIns="114300"/>
                    <a:lstStyle/>
                    <a:p>
                      <a:r>
                        <a:rPr sz="1725" b="1">
                          <a:solidFill>
                            <a:srgbClr val="477FA8"/>
                          </a:solidFill>
                          <a:latin typeface="PingFang SC"/>
                          <a:ea typeface="PingFang SC"/>
                          <a:cs typeface="PingFang SC"/>
                        </a:rPr>
                        <a:t>渠道类型</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可做的验证</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应向提供方确认</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官方试用／体验</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用脱敏案例测试关键步骤</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版本、功能权限、期限与人数</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预约演示</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要求演示特定失败与异常情景</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是否提供后续沙箱和导出</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有限访问账号</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检查可见数据与操作范围</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订阅、数据共享及使用限制</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课堂模拟系统</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验证计算规则与问题表达</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不等同于原厂能力或生产对接</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200912841"/>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252D2B4E-8BED-4AD9-A36D-AB7F8ED0FCE9}"/>
              </a:ext>
            </a:extLst>
          </p:cNvPr>
          <p:cNvCxnSpPr>
            <a:stCxn xmlns:a="http://schemas.openxmlformats.org/drawingml/2006/main" id="10" idx="3"/>
            <a:endCxn xmlns:a="http://schemas.openxmlformats.org/drawingml/2006/main" id="13" idx="1"/>
          </p:cNvCxnSpPr>
          <p:nvPr/>
        </p:nvCxnSpPr>
        <p:spPr>
          <a:xfrm xmlns:a="http://schemas.openxmlformats.org/drawingml/2006/main">
            <a:off x="87439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11" name="">
            <a:extLst xmlns:a="http://schemas.openxmlformats.org/drawingml/2006/main">
              <a:ext uri="{FF2B5EF4-FFF2-40B4-BE49-F238E27FC236}">
                <a16:creationId xmlns:a16="http://schemas.microsoft.com/office/drawing/2014/main" id="{09116AA9-5769-4F78-B7C0-DF5590C97C88}"/>
              </a:ext>
            </a:extLst>
          </p:cNvPr>
          <p:cNvCxnSpPr>
            <a:stCxn xmlns:a="http://schemas.openxmlformats.org/drawingml/2006/main" id="7" idx="3"/>
            <a:endCxn xmlns:a="http://schemas.openxmlformats.org/drawingml/2006/main" id="10" idx="1"/>
          </p:cNvCxnSpPr>
          <p:nvPr/>
        </p:nvCxnSpPr>
        <p:spPr>
          <a:xfrm xmlns:a="http://schemas.openxmlformats.org/drawingml/2006/main">
            <a:off x="59055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C91E8F84-7AF7-430E-BD29-48836FD4469F}"/>
              </a:ext>
            </a:extLst>
          </p:cNvPr>
          <p:cNvCxnSpPr>
            <a:stCxn xmlns:a="http://schemas.openxmlformats.org/drawingml/2006/main" id="5" idx="3"/>
            <a:endCxn xmlns:a="http://schemas.openxmlformats.org/drawingml/2006/main" id="7" idx="1"/>
          </p:cNvCxnSpPr>
          <p:nvPr/>
        </p:nvCxnSpPr>
        <p:spPr>
          <a:xfrm xmlns:a="http://schemas.openxmlformats.org/drawingml/2006/main">
            <a:off x="30670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7" name="">
            <a:extLst xmlns:a="http://schemas.openxmlformats.org/drawingml/2006/main">
              <a:ext uri="{FF2B5EF4-FFF2-40B4-BE49-F238E27FC236}">
                <a16:creationId xmlns:a16="http://schemas.microsoft.com/office/drawing/2014/main" id="{42E7B21F-A16C-4357-B55E-5D310EBBE32F}"/>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采购AI试点的实施顺序</a:t>
            </a:r>
          </a:p>
        </p:txBody>
      </p:sp>
      <p:sp>
        <p:nvSpPr>
          <p:cNvPr id="2" name="">
            <a:extLst xmlns:a="http://schemas.openxmlformats.org/drawingml/2006/main">
              <a:ext uri="{FF2B5EF4-FFF2-40B4-BE49-F238E27FC236}">
                <a16:creationId xmlns:a16="http://schemas.microsoft.com/office/drawing/2014/main" id="{DCF2FCD7-15B3-4EC3-8045-E192327D6840}"/>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从一项可核对的问题开始，逐步扩大范围</a:t>
            </a:r>
          </a:p>
        </p:txBody>
      </p:sp>
      <p:sp>
        <p:nvSpPr>
          <p:cNvPr id="3" name="">
            <a:extLst xmlns:a="http://schemas.openxmlformats.org/drawingml/2006/main">
              <a:ext uri="{FF2B5EF4-FFF2-40B4-BE49-F238E27FC236}">
                <a16:creationId xmlns:a16="http://schemas.microsoft.com/office/drawing/2014/main" id="{9397F05D-8540-49E7-81AE-F3EC349A7C8E}"/>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实施、风险与投资回报  5分钟</a:t>
            </a:r>
          </a:p>
        </p:txBody>
      </p:sp>
      <p:sp>
        <p:nvSpPr>
          <p:cNvPr id="4" name="">
            <a:extLst xmlns:a="http://schemas.openxmlformats.org/drawingml/2006/main">
              <a:ext uri="{FF2B5EF4-FFF2-40B4-BE49-F238E27FC236}">
                <a16:creationId xmlns:a16="http://schemas.microsoft.com/office/drawing/2014/main" id="{24F26A76-585F-4FFE-B70C-CBCF74BB88DD}"/>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84 / 94</a:t>
            </a:r>
          </a:p>
        </p:txBody>
      </p:sp>
      <p:sp>
        <p:nvSpPr>
          <p:cNvPr id="5" name="">
            <a:extLst xmlns:a="http://schemas.openxmlformats.org/drawingml/2006/main">
              <a:ext uri="{FF2B5EF4-FFF2-40B4-BE49-F238E27FC236}">
                <a16:creationId xmlns:a16="http://schemas.microsoft.com/office/drawing/2014/main" id="{942B4D6C-6EC6-4F1E-9A4F-1C73047F3355}"/>
              </a:ext>
            </a:extLst>
          </p:cNvPr>
          <p:cNvSpPr>
            <a:spLocks xmlns:a="http://schemas.openxmlformats.org/drawingml/2006/main" noGrp="1"/>
          </p:cNvSpPr>
          <p:nvPr/>
        </p:nvSpPr>
        <p:spPr>
          <a:xfrm xmlns:a="http://schemas.openxmlformats.org/drawingml/2006/main">
            <a:off x="6096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定义问题</a:t>
            </a:r>
          </a:p>
        </p:txBody>
      </p:sp>
      <p:sp>
        <p:nvSpPr>
          <p:cNvPr id="6" name="">
            <a:extLst xmlns:a="http://schemas.openxmlformats.org/drawingml/2006/main">
              <a:ext uri="{FF2B5EF4-FFF2-40B4-BE49-F238E27FC236}">
                <a16:creationId xmlns:a16="http://schemas.microsoft.com/office/drawing/2014/main" id="{9F0E5E4A-2890-4CCC-842F-D7311CE02DCC}"/>
              </a:ext>
            </a:extLst>
          </p:cNvPr>
          <p:cNvSpPr>
            <a:spLocks xmlns:a="http://schemas.openxmlformats.org/drawingml/2006/main" noGrp="1"/>
          </p:cNvSpPr>
          <p:nvPr/>
        </p:nvSpPr>
        <p:spPr>
          <a:xfrm xmlns:a="http://schemas.openxmlformats.org/drawingml/2006/main">
            <a:off x="5715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范围、影响与责任</a:t>
            </a:r>
          </a:p>
        </p:txBody>
      </p:sp>
      <p:sp>
        <p:nvSpPr>
          <p:cNvPr id="7" name="">
            <a:extLst xmlns:a="http://schemas.openxmlformats.org/drawingml/2006/main">
              <a:ext uri="{FF2B5EF4-FFF2-40B4-BE49-F238E27FC236}">
                <a16:creationId xmlns:a16="http://schemas.microsoft.com/office/drawing/2014/main" id="{FB68F015-A9D2-4207-9783-65B5850401C6}"/>
              </a:ext>
            </a:extLst>
          </p:cNvPr>
          <p:cNvSpPr>
            <a:spLocks xmlns:a="http://schemas.openxmlformats.org/drawingml/2006/main" noGrp="1"/>
          </p:cNvSpPr>
          <p:nvPr/>
        </p:nvSpPr>
        <p:spPr>
          <a:xfrm xmlns:a="http://schemas.openxmlformats.org/drawingml/2006/main">
            <a:off x="34480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准备数据</a:t>
            </a:r>
          </a:p>
        </p:txBody>
      </p:sp>
      <p:sp>
        <p:nvSpPr>
          <p:cNvPr id="9" name="">
            <a:extLst xmlns:a="http://schemas.openxmlformats.org/drawingml/2006/main">
              <a:ext uri="{FF2B5EF4-FFF2-40B4-BE49-F238E27FC236}">
                <a16:creationId xmlns:a16="http://schemas.microsoft.com/office/drawing/2014/main" id="{49C11BC0-6FCE-495F-BEE5-01B0E8B7AE30}"/>
              </a:ext>
            </a:extLst>
          </p:cNvPr>
          <p:cNvSpPr>
            <a:spLocks xmlns:a="http://schemas.openxmlformats.org/drawingml/2006/main" noGrp="1"/>
          </p:cNvSpPr>
          <p:nvPr/>
        </p:nvSpPr>
        <p:spPr>
          <a:xfrm xmlns:a="http://schemas.openxmlformats.org/drawingml/2006/main">
            <a:off x="34099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口径、权限和基线</a:t>
            </a:r>
          </a:p>
        </p:txBody>
      </p:sp>
      <p:sp>
        <p:nvSpPr>
          <p:cNvPr id="10" name="">
            <a:extLst xmlns:a="http://schemas.openxmlformats.org/drawingml/2006/main">
              <a:ext uri="{FF2B5EF4-FFF2-40B4-BE49-F238E27FC236}">
                <a16:creationId xmlns:a16="http://schemas.microsoft.com/office/drawing/2014/main" id="{CFF67D96-A300-47D2-BCD5-2A13B28ECC26}"/>
              </a:ext>
            </a:extLst>
          </p:cNvPr>
          <p:cNvSpPr>
            <a:spLocks xmlns:a="http://schemas.openxmlformats.org/drawingml/2006/main" noGrp="1"/>
          </p:cNvSpPr>
          <p:nvPr/>
        </p:nvSpPr>
        <p:spPr>
          <a:xfrm xmlns:a="http://schemas.openxmlformats.org/drawingml/2006/main">
            <a:off x="62865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小范围验证</a:t>
            </a:r>
          </a:p>
        </p:txBody>
      </p:sp>
      <p:sp>
        <p:nvSpPr>
          <p:cNvPr id="12" name="">
            <a:extLst xmlns:a="http://schemas.openxmlformats.org/drawingml/2006/main">
              <a:ext uri="{FF2B5EF4-FFF2-40B4-BE49-F238E27FC236}">
                <a16:creationId xmlns:a16="http://schemas.microsoft.com/office/drawing/2014/main" id="{261728E2-65D4-4044-91AC-1ED2423FC58C}"/>
              </a:ext>
            </a:extLst>
          </p:cNvPr>
          <p:cNvSpPr>
            <a:spLocks xmlns:a="http://schemas.openxmlformats.org/drawingml/2006/main" noGrp="1"/>
          </p:cNvSpPr>
          <p:nvPr/>
        </p:nvSpPr>
        <p:spPr>
          <a:xfrm xmlns:a="http://schemas.openxmlformats.org/drawingml/2006/main">
            <a:off x="62484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规则、模型与人工复核</a:t>
            </a:r>
          </a:p>
        </p:txBody>
      </p:sp>
      <p:sp>
        <p:nvSpPr>
          <p:cNvPr id="13" name="">
            <a:extLst xmlns:a="http://schemas.openxmlformats.org/drawingml/2006/main">
              <a:ext uri="{FF2B5EF4-FFF2-40B4-BE49-F238E27FC236}">
                <a16:creationId xmlns:a16="http://schemas.microsoft.com/office/drawing/2014/main" id="{F2FC9CCA-AF82-4E46-89EC-D851EE129B88}"/>
              </a:ext>
            </a:extLst>
          </p:cNvPr>
          <p:cNvSpPr>
            <a:spLocks xmlns:a="http://schemas.openxmlformats.org/drawingml/2006/main" noGrp="1"/>
          </p:cNvSpPr>
          <p:nvPr/>
        </p:nvSpPr>
        <p:spPr>
          <a:xfrm xmlns:a="http://schemas.openxmlformats.org/drawingml/2006/main">
            <a:off x="91249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评估再扩展</a:t>
            </a:r>
          </a:p>
        </p:txBody>
      </p:sp>
      <p:sp>
        <p:nvSpPr>
          <p:cNvPr id="15" name="">
            <a:extLst xmlns:a="http://schemas.openxmlformats.org/drawingml/2006/main">
              <a:ext uri="{FF2B5EF4-FFF2-40B4-BE49-F238E27FC236}">
                <a16:creationId xmlns:a16="http://schemas.microsoft.com/office/drawing/2014/main" id="{9A3521D8-A112-455E-8FFF-ECE32AD8AD35}"/>
              </a:ext>
            </a:extLst>
          </p:cNvPr>
          <p:cNvSpPr>
            <a:spLocks xmlns:a="http://schemas.openxmlformats.org/drawingml/2006/main" noGrp="1"/>
          </p:cNvSpPr>
          <p:nvPr/>
        </p:nvSpPr>
        <p:spPr>
          <a:xfrm xmlns:a="http://schemas.openxmlformats.org/drawingml/2006/main">
            <a:off x="90868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效益、风险及停止条件</a:t>
            </a:r>
          </a:p>
        </p:txBody>
      </p:sp>
      <p:sp>
        <p:nvSpPr>
          <p:cNvPr id="16" name="">
            <a:extLst xmlns:a="http://schemas.openxmlformats.org/drawingml/2006/main">
              <a:ext uri="{FF2B5EF4-FFF2-40B4-BE49-F238E27FC236}">
                <a16:creationId xmlns:a16="http://schemas.microsoft.com/office/drawing/2014/main" id="{96280C17-299E-42B0-AB4C-2C86BFA3E3AA}"/>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先有可复核的基线，再讨论是否扩大投入</a:t>
            </a:r>
          </a:p>
        </p:txBody>
      </p:sp>
    </p:spTree>
    <p:extLst>
      <p:ext uri="{BB962C8B-B14F-4D97-AF65-F5344CB8AC3E}">
        <p14:creationId xmlns:p14="http://schemas.microsoft.com/office/powerpoint/2010/main" val="1003393096"/>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D025B4-B513-4210-A609-DF16894212CC}"/>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数据治理：谁对哪个字段负责？</a:t>
            </a:r>
          </a:p>
        </p:txBody>
      </p:sp>
      <p:sp>
        <p:nvSpPr>
          <p:cNvPr id="2" name="">
            <a:extLst xmlns:a="http://schemas.openxmlformats.org/drawingml/2006/main">
              <a:ext uri="{FF2B5EF4-FFF2-40B4-BE49-F238E27FC236}">
                <a16:creationId xmlns:a16="http://schemas.microsoft.com/office/drawing/2014/main" id="{022ACE2A-36DA-4B02-B413-2DD77AF03FD7}"/>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字段字典、关联规则和质量检查一起准备</a:t>
            </a:r>
          </a:p>
        </p:txBody>
      </p:sp>
      <p:sp>
        <p:nvSpPr>
          <p:cNvPr id="3" name="">
            <a:extLst xmlns:a="http://schemas.openxmlformats.org/drawingml/2006/main">
              <a:ext uri="{FF2B5EF4-FFF2-40B4-BE49-F238E27FC236}">
                <a16:creationId xmlns:a16="http://schemas.microsoft.com/office/drawing/2014/main" id="{DC001F31-914E-41E2-B422-63E4EF5A95CE}"/>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实施、风险与投资回报  8分钟</a:t>
            </a:r>
          </a:p>
        </p:txBody>
      </p:sp>
      <p:sp>
        <p:nvSpPr>
          <p:cNvPr id="4" name="">
            <a:extLst xmlns:a="http://schemas.openxmlformats.org/drawingml/2006/main">
              <a:ext uri="{FF2B5EF4-FFF2-40B4-BE49-F238E27FC236}">
                <a16:creationId xmlns:a16="http://schemas.microsoft.com/office/drawing/2014/main" id="{E6F028C1-E2D7-4DE6-B1E8-C1BF3EF83347}"/>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85 / 94</a:t>
            </a:r>
          </a:p>
        </p:txBody>
      </p:sp>
      <p:graphicFrame>
        <p:nvGraphicFramePr>
          <p:cNvPr id="5" name="">
            <a:extLst xmlns:a="http://schemas.openxmlformats.org/drawingml/2006/main">
              <a:ext uri="{FF2B5EF4-FFF2-40B4-BE49-F238E27FC236}">
                <a16:creationId xmlns:a16="http://schemas.microsoft.com/office/drawing/2014/main" id="{673AC808-2DDB-4330-BC6F-639FAAD9C1EE}"/>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381250"/>
                <a:gridCol w="4714875"/>
                <a:gridCol w="3876675"/>
              </a:tblGrid>
              <a:tr h="666750">
                <a:tc>
                  <a:txBody>
                    <a:bodyPr lIns="114300" tIns="114300" rIns="114300" bIns="114300"/>
                    <a:lstStyle/>
                    <a:p>
                      <a:r>
                        <a:rPr sz="1725" b="1">
                          <a:solidFill>
                            <a:srgbClr val="477FA8"/>
                          </a:solidFill>
                          <a:latin typeface="PingFang SC"/>
                          <a:ea typeface="PingFang SC"/>
                          <a:cs typeface="PingFang SC"/>
                        </a:rPr>
                        <a:t>对象</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最小治理内容</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建议确认岗位</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666750">
                <a:tc>
                  <a:txBody>
                    <a:bodyPr lIns="114300" tIns="114300" rIns="114300" bIns="114300"/>
                    <a:lstStyle/>
                    <a:p>
                      <a:r>
                        <a:rPr sz="1875" b="1">
                          <a:solidFill>
                            <a:srgbClr val="477FA8"/>
                          </a:solidFill>
                          <a:latin typeface="PingFang SC"/>
                          <a:ea typeface="PingFang SC"/>
                          <a:cs typeface="PingFang SC"/>
                        </a:rPr>
                        <a:t>件号与单位</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别名、件况、物权与库位口径</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物料／工程／仓储</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需求与工作包</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版本、数量、需求日及取消状态</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维修计划</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供应与订单</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承诺、状态、供应商与关联行</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采购／物流</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证据与资格</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文档版本、核对状态及有效性</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质量／工程</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价值与费用</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币种、汇率、金额与成本边界</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财务／采购</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17873061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53934889-4C37-4FBA-B2AB-D4D8A76FF434}"/>
              </a:ext>
            </a:extLst>
          </p:cNvPr>
          <p:cNvCxnSpPr>
            <a:stCxn xmlns:a="http://schemas.openxmlformats.org/drawingml/2006/main" id="10" idx="3"/>
            <a:endCxn xmlns:a="http://schemas.openxmlformats.org/drawingml/2006/main" id="13" idx="1"/>
          </p:cNvCxnSpPr>
          <p:nvPr/>
        </p:nvCxnSpPr>
        <p:spPr>
          <a:xfrm xmlns:a="http://schemas.openxmlformats.org/drawingml/2006/main">
            <a:off x="87439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11" name="">
            <a:extLst xmlns:a="http://schemas.openxmlformats.org/drawingml/2006/main">
              <a:ext uri="{FF2B5EF4-FFF2-40B4-BE49-F238E27FC236}">
                <a16:creationId xmlns:a16="http://schemas.microsoft.com/office/drawing/2014/main" id="{38830718-3236-4C5F-8DFB-22ECBACE672D}"/>
              </a:ext>
            </a:extLst>
          </p:cNvPr>
          <p:cNvCxnSpPr>
            <a:stCxn xmlns:a="http://schemas.openxmlformats.org/drawingml/2006/main" id="7" idx="3"/>
            <a:endCxn xmlns:a="http://schemas.openxmlformats.org/drawingml/2006/main" id="10" idx="1"/>
          </p:cNvCxnSpPr>
          <p:nvPr/>
        </p:nvCxnSpPr>
        <p:spPr>
          <a:xfrm xmlns:a="http://schemas.openxmlformats.org/drawingml/2006/main">
            <a:off x="59055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562980F7-D7CF-4CA2-A4A2-1DAC1C252F7E}"/>
              </a:ext>
            </a:extLst>
          </p:cNvPr>
          <p:cNvCxnSpPr>
            <a:stCxn xmlns:a="http://schemas.openxmlformats.org/drawingml/2006/main" id="5" idx="3"/>
            <a:endCxn xmlns:a="http://schemas.openxmlformats.org/drawingml/2006/main" id="7" idx="1"/>
          </p:cNvCxnSpPr>
          <p:nvPr/>
        </p:nvCxnSpPr>
        <p:spPr>
          <a:xfrm xmlns:a="http://schemas.openxmlformats.org/drawingml/2006/main">
            <a:off x="30670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7" name="">
            <a:extLst xmlns:a="http://schemas.openxmlformats.org/drawingml/2006/main">
              <a:ext uri="{FF2B5EF4-FFF2-40B4-BE49-F238E27FC236}">
                <a16:creationId xmlns:a16="http://schemas.microsoft.com/office/drawing/2014/main" id="{B8A9868D-23C8-47D1-9D24-8E31986A6663}"/>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API、规则、知识与模型的分工</a:t>
            </a:r>
          </a:p>
        </p:txBody>
      </p:sp>
      <p:sp>
        <p:nvSpPr>
          <p:cNvPr id="2" name="">
            <a:extLst xmlns:a="http://schemas.openxmlformats.org/drawingml/2006/main">
              <a:ext uri="{FF2B5EF4-FFF2-40B4-BE49-F238E27FC236}">
                <a16:creationId xmlns:a16="http://schemas.microsoft.com/office/drawing/2014/main" id="{05FE7D41-598A-470F-93F9-0E2D1B4A7D2B}"/>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系统架构服务于问题处理与可追溯</a:t>
            </a:r>
          </a:p>
        </p:txBody>
      </p:sp>
      <p:sp>
        <p:nvSpPr>
          <p:cNvPr id="3" name="">
            <a:extLst xmlns:a="http://schemas.openxmlformats.org/drawingml/2006/main">
              <a:ext uri="{FF2B5EF4-FFF2-40B4-BE49-F238E27FC236}">
                <a16:creationId xmlns:a16="http://schemas.microsoft.com/office/drawing/2014/main" id="{4EFC042B-5269-4FCE-9848-A9B04BC2831A}"/>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实施、风险与投资回报  8分钟</a:t>
            </a:r>
          </a:p>
        </p:txBody>
      </p:sp>
      <p:sp>
        <p:nvSpPr>
          <p:cNvPr id="4" name="">
            <a:extLst xmlns:a="http://schemas.openxmlformats.org/drawingml/2006/main">
              <a:ext uri="{FF2B5EF4-FFF2-40B4-BE49-F238E27FC236}">
                <a16:creationId xmlns:a16="http://schemas.microsoft.com/office/drawing/2014/main" id="{ADE7187C-58B7-4E16-9511-0B9B57206E95}"/>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86 / 94</a:t>
            </a:r>
          </a:p>
        </p:txBody>
      </p:sp>
      <p:sp>
        <p:nvSpPr>
          <p:cNvPr id="5" name="">
            <a:extLst xmlns:a="http://schemas.openxmlformats.org/drawingml/2006/main">
              <a:ext uri="{FF2B5EF4-FFF2-40B4-BE49-F238E27FC236}">
                <a16:creationId xmlns:a16="http://schemas.microsoft.com/office/drawing/2014/main" id="{AC90D0E7-5814-417A-9731-91CDE74E9086}"/>
              </a:ext>
            </a:extLst>
          </p:cNvPr>
          <p:cNvSpPr>
            <a:spLocks xmlns:a="http://schemas.openxmlformats.org/drawingml/2006/main" noGrp="1"/>
          </p:cNvSpPr>
          <p:nvPr/>
        </p:nvSpPr>
        <p:spPr>
          <a:xfrm xmlns:a="http://schemas.openxmlformats.org/drawingml/2006/main">
            <a:off x="6096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获授权数据</a:t>
            </a:r>
          </a:p>
        </p:txBody>
      </p:sp>
      <p:sp>
        <p:nvSpPr>
          <p:cNvPr id="6" name="">
            <a:extLst xmlns:a="http://schemas.openxmlformats.org/drawingml/2006/main">
              <a:ext uri="{FF2B5EF4-FFF2-40B4-BE49-F238E27FC236}">
                <a16:creationId xmlns:a16="http://schemas.microsoft.com/office/drawing/2014/main" id="{4B2E4372-26AD-4D92-BD53-F655344CD2EA}"/>
              </a:ext>
            </a:extLst>
          </p:cNvPr>
          <p:cNvSpPr>
            <a:spLocks xmlns:a="http://schemas.openxmlformats.org/drawingml/2006/main" noGrp="1"/>
          </p:cNvSpPr>
          <p:nvPr/>
        </p:nvSpPr>
        <p:spPr>
          <a:xfrm xmlns:a="http://schemas.openxmlformats.org/drawingml/2006/main">
            <a:off x="5715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只读导出或接口</a:t>
            </a:r>
          </a:p>
        </p:txBody>
      </p:sp>
      <p:sp>
        <p:nvSpPr>
          <p:cNvPr id="7" name="">
            <a:extLst xmlns:a="http://schemas.openxmlformats.org/drawingml/2006/main">
              <a:ext uri="{FF2B5EF4-FFF2-40B4-BE49-F238E27FC236}">
                <a16:creationId xmlns:a16="http://schemas.microsoft.com/office/drawing/2014/main" id="{2BCB768F-7DC1-4102-9419-84BDB504CDFB}"/>
              </a:ext>
            </a:extLst>
          </p:cNvPr>
          <p:cNvSpPr>
            <a:spLocks xmlns:a="http://schemas.openxmlformats.org/drawingml/2006/main" noGrp="1"/>
          </p:cNvSpPr>
          <p:nvPr/>
        </p:nvSpPr>
        <p:spPr>
          <a:xfrm xmlns:a="http://schemas.openxmlformats.org/drawingml/2006/main">
            <a:off x="34480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规则与知识</a:t>
            </a:r>
          </a:p>
        </p:txBody>
      </p:sp>
      <p:sp>
        <p:nvSpPr>
          <p:cNvPr id="9" name="">
            <a:extLst xmlns:a="http://schemas.openxmlformats.org/drawingml/2006/main">
              <a:ext uri="{FF2B5EF4-FFF2-40B4-BE49-F238E27FC236}">
                <a16:creationId xmlns:a16="http://schemas.microsoft.com/office/drawing/2014/main" id="{3E23D5B7-DA4E-4290-A4EF-34BCB89FA6D5}"/>
              </a:ext>
            </a:extLst>
          </p:cNvPr>
          <p:cNvSpPr>
            <a:spLocks xmlns:a="http://schemas.openxmlformats.org/drawingml/2006/main" noGrp="1"/>
          </p:cNvSpPr>
          <p:nvPr/>
        </p:nvSpPr>
        <p:spPr>
          <a:xfrm xmlns:a="http://schemas.openxmlformats.org/drawingml/2006/main">
            <a:off x="34099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字段、约束与依据</a:t>
            </a:r>
          </a:p>
        </p:txBody>
      </p:sp>
      <p:sp>
        <p:nvSpPr>
          <p:cNvPr id="10" name="">
            <a:extLst xmlns:a="http://schemas.openxmlformats.org/drawingml/2006/main">
              <a:ext uri="{FF2B5EF4-FFF2-40B4-BE49-F238E27FC236}">
                <a16:creationId xmlns:a16="http://schemas.microsoft.com/office/drawing/2014/main" id="{832EB77C-1789-4475-B787-8F7FB29204DB}"/>
              </a:ext>
            </a:extLst>
          </p:cNvPr>
          <p:cNvSpPr>
            <a:spLocks xmlns:a="http://schemas.openxmlformats.org/drawingml/2006/main" noGrp="1"/>
          </p:cNvSpPr>
          <p:nvPr/>
        </p:nvSpPr>
        <p:spPr>
          <a:xfrm xmlns:a="http://schemas.openxmlformats.org/drawingml/2006/main">
            <a:off x="62865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模型与计算</a:t>
            </a:r>
          </a:p>
        </p:txBody>
      </p:sp>
      <p:sp>
        <p:nvSpPr>
          <p:cNvPr id="12" name="">
            <a:extLst xmlns:a="http://schemas.openxmlformats.org/drawingml/2006/main">
              <a:ext uri="{FF2B5EF4-FFF2-40B4-BE49-F238E27FC236}">
                <a16:creationId xmlns:a16="http://schemas.microsoft.com/office/drawing/2014/main" id="{32B944EE-5923-493A-AAA2-63249ED91DFD}"/>
              </a:ext>
            </a:extLst>
          </p:cNvPr>
          <p:cNvSpPr>
            <a:spLocks xmlns:a="http://schemas.openxmlformats.org/drawingml/2006/main" noGrp="1"/>
          </p:cNvSpPr>
          <p:nvPr/>
        </p:nvSpPr>
        <p:spPr>
          <a:xfrm xmlns:a="http://schemas.openxmlformats.org/drawingml/2006/main">
            <a:off x="62484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整理、预测与情景</a:t>
            </a:r>
          </a:p>
        </p:txBody>
      </p:sp>
      <p:sp>
        <p:nvSpPr>
          <p:cNvPr id="13" name="">
            <a:extLst xmlns:a="http://schemas.openxmlformats.org/drawingml/2006/main">
              <a:ext uri="{FF2B5EF4-FFF2-40B4-BE49-F238E27FC236}">
                <a16:creationId xmlns:a16="http://schemas.microsoft.com/office/drawing/2014/main" id="{6DF5F008-E44C-4C0E-AB28-E8266B74B87C}"/>
              </a:ext>
            </a:extLst>
          </p:cNvPr>
          <p:cNvSpPr>
            <a:spLocks xmlns:a="http://schemas.openxmlformats.org/drawingml/2006/main" noGrp="1"/>
          </p:cNvSpPr>
          <p:nvPr/>
        </p:nvSpPr>
        <p:spPr>
          <a:xfrm xmlns:a="http://schemas.openxmlformats.org/drawingml/2006/main">
            <a:off x="91249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人工确认</a:t>
            </a:r>
          </a:p>
        </p:txBody>
      </p:sp>
      <p:sp>
        <p:nvSpPr>
          <p:cNvPr id="15" name="">
            <a:extLst xmlns:a="http://schemas.openxmlformats.org/drawingml/2006/main">
              <a:ext uri="{FF2B5EF4-FFF2-40B4-BE49-F238E27FC236}">
                <a16:creationId xmlns:a16="http://schemas.microsoft.com/office/drawing/2014/main" id="{72EF8A7F-9732-4783-A462-FAA5B5FE9C3E}"/>
              </a:ext>
            </a:extLst>
          </p:cNvPr>
          <p:cNvSpPr>
            <a:spLocks xmlns:a="http://schemas.openxmlformats.org/drawingml/2006/main" noGrp="1"/>
          </p:cNvSpPr>
          <p:nvPr/>
        </p:nvSpPr>
        <p:spPr>
          <a:xfrm xmlns:a="http://schemas.openxmlformats.org/drawingml/2006/main">
            <a:off x="90868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决策、执行与回溯</a:t>
            </a:r>
          </a:p>
        </p:txBody>
      </p:sp>
      <p:sp>
        <p:nvSpPr>
          <p:cNvPr id="16" name="">
            <a:extLst xmlns:a="http://schemas.openxmlformats.org/drawingml/2006/main">
              <a:ext uri="{FF2B5EF4-FFF2-40B4-BE49-F238E27FC236}">
                <a16:creationId xmlns:a16="http://schemas.microsoft.com/office/drawing/2014/main" id="{49F8286D-B1CB-4AF6-B365-65885DBC99E0}"/>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读取证据与对外执行分开，输出必须能追溯到来源</a:t>
            </a:r>
          </a:p>
        </p:txBody>
      </p:sp>
    </p:spTree>
    <p:extLst>
      <p:ext uri="{BB962C8B-B14F-4D97-AF65-F5344CB8AC3E}">
        <p14:creationId xmlns:p14="http://schemas.microsoft.com/office/powerpoint/2010/main" val="525866588"/>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09C320-6196-4105-BD05-5D08B78AE906}"/>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模型与流程风险的控制措施</a:t>
            </a:r>
          </a:p>
        </p:txBody>
      </p:sp>
      <p:sp>
        <p:nvSpPr>
          <p:cNvPr id="2" name="">
            <a:extLst xmlns:a="http://schemas.openxmlformats.org/drawingml/2006/main">
              <a:ext uri="{FF2B5EF4-FFF2-40B4-BE49-F238E27FC236}">
                <a16:creationId xmlns:a16="http://schemas.microsoft.com/office/drawing/2014/main" id="{0E2B3D50-2B90-4C56-B2E1-986D89BC2B94}"/>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试点须能发现错误、限制影响并退回人工</a:t>
            </a:r>
          </a:p>
        </p:txBody>
      </p:sp>
      <p:sp>
        <p:nvSpPr>
          <p:cNvPr id="3" name="">
            <a:extLst xmlns:a="http://schemas.openxmlformats.org/drawingml/2006/main">
              <a:ext uri="{FF2B5EF4-FFF2-40B4-BE49-F238E27FC236}">
                <a16:creationId xmlns:a16="http://schemas.microsoft.com/office/drawing/2014/main" id="{5FB3BA67-B30A-4E4B-B48F-B5A1B72A527A}"/>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实施、风险与投资回报  8分钟</a:t>
            </a:r>
          </a:p>
        </p:txBody>
      </p:sp>
      <p:sp>
        <p:nvSpPr>
          <p:cNvPr id="4" name="">
            <a:extLst xmlns:a="http://schemas.openxmlformats.org/drawingml/2006/main">
              <a:ext uri="{FF2B5EF4-FFF2-40B4-BE49-F238E27FC236}">
                <a16:creationId xmlns:a16="http://schemas.microsoft.com/office/drawing/2014/main" id="{D573155C-7DBC-4CAC-ACEF-78D99D29C157}"/>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87 / 94</a:t>
            </a:r>
          </a:p>
        </p:txBody>
      </p:sp>
      <p:graphicFrame>
        <p:nvGraphicFramePr>
          <p:cNvPr id="5" name="">
            <a:extLst xmlns:a="http://schemas.openxmlformats.org/drawingml/2006/main">
              <a:ext uri="{FF2B5EF4-FFF2-40B4-BE49-F238E27FC236}">
                <a16:creationId xmlns:a16="http://schemas.microsoft.com/office/drawing/2014/main" id="{580C2128-4B05-414B-926A-E5313D3577BB}"/>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762250"/>
                <a:gridCol w="4476750"/>
                <a:gridCol w="3733800"/>
              </a:tblGrid>
              <a:tr h="666750">
                <a:tc>
                  <a:txBody>
                    <a:bodyPr lIns="114300" tIns="114300" rIns="114300" bIns="114300"/>
                    <a:lstStyle/>
                    <a:p>
                      <a:r>
                        <a:rPr sz="1725" b="1">
                          <a:solidFill>
                            <a:srgbClr val="477FA8"/>
                          </a:solidFill>
                          <a:latin typeface="PingFang SC"/>
                          <a:ea typeface="PingFang SC"/>
                          <a:cs typeface="PingFang SC"/>
                        </a:rPr>
                        <a:t>风险</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控制方式</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验证证据</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666750">
                <a:tc>
                  <a:txBody>
                    <a:bodyPr lIns="114300" tIns="114300" rIns="114300" bIns="114300"/>
                    <a:lstStyle/>
                    <a:p>
                      <a:r>
                        <a:rPr sz="1875" b="1">
                          <a:solidFill>
                            <a:srgbClr val="477FA8"/>
                          </a:solidFill>
                          <a:latin typeface="PingFang SC"/>
                          <a:ea typeface="PingFang SC"/>
                          <a:cs typeface="PingFang SC"/>
                        </a:rPr>
                        <a:t>事实或抽取错误</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保留原文、字段核对、待确认项</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样本抽检及错漏清单</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模型假设不适用</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分层、回测、异常监控</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偏差、适用范围与例外</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未授权操作</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权限分级、人工批准、只读先行</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角色测试与执行记录</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数据泄露或超范围使用</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脱敏、最小权限与平台条款核对</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授权与数据流记录</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人员不信任或绕行</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解释依据、培训与纠错反馈</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复核记录及改进关闭</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60383370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9F09A9-8F32-4836-897C-82D869C4F3E0}"/>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效率、库存与财务收益怎样区分？</a:t>
            </a:r>
          </a:p>
        </p:txBody>
      </p:sp>
      <p:sp>
        <p:nvSpPr>
          <p:cNvPr id="2" name="">
            <a:extLst xmlns:a="http://schemas.openxmlformats.org/drawingml/2006/main">
              <a:ext uri="{FF2B5EF4-FFF2-40B4-BE49-F238E27FC236}">
                <a16:creationId xmlns:a16="http://schemas.microsoft.com/office/drawing/2014/main" id="{379806F5-0B19-4A56-8BE0-DCEBCDCA0FB0}"/>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先说明口径，避免把不同收益重复相加</a:t>
            </a:r>
          </a:p>
        </p:txBody>
      </p:sp>
      <p:sp>
        <p:nvSpPr>
          <p:cNvPr id="3" name="">
            <a:extLst xmlns:a="http://schemas.openxmlformats.org/drawingml/2006/main">
              <a:ext uri="{FF2B5EF4-FFF2-40B4-BE49-F238E27FC236}">
                <a16:creationId xmlns:a16="http://schemas.microsoft.com/office/drawing/2014/main" id="{90EDC974-572F-447E-9C4B-92E2434FA77B}"/>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实施、风险与投资回报  8分钟</a:t>
            </a:r>
          </a:p>
        </p:txBody>
      </p:sp>
      <p:sp>
        <p:nvSpPr>
          <p:cNvPr id="4" name="">
            <a:extLst xmlns:a="http://schemas.openxmlformats.org/drawingml/2006/main">
              <a:ext uri="{FF2B5EF4-FFF2-40B4-BE49-F238E27FC236}">
                <a16:creationId xmlns:a16="http://schemas.microsoft.com/office/drawing/2014/main" id="{5551A54C-5AD6-4291-9443-95DACEDB3215}"/>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88 / 94</a:t>
            </a:r>
          </a:p>
        </p:txBody>
      </p:sp>
      <p:graphicFrame>
        <p:nvGraphicFramePr>
          <p:cNvPr id="5" name="">
            <a:extLst xmlns:a="http://schemas.openxmlformats.org/drawingml/2006/main">
              <a:ext uri="{FF2B5EF4-FFF2-40B4-BE49-F238E27FC236}">
                <a16:creationId xmlns:a16="http://schemas.microsoft.com/office/drawing/2014/main" id="{5385A496-98D3-47D2-BB33-D6CCA1222672}"/>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428875"/>
                <a:gridCol w="4286250"/>
                <a:gridCol w="4257675"/>
              </a:tblGrid>
              <a:tr h="666750">
                <a:tc>
                  <a:txBody>
                    <a:bodyPr lIns="114300" tIns="114300" rIns="114300" bIns="114300"/>
                    <a:lstStyle/>
                    <a:p>
                      <a:r>
                        <a:rPr sz="1725" b="1">
                          <a:solidFill>
                            <a:srgbClr val="477FA8"/>
                          </a:solidFill>
                          <a:latin typeface="PingFang SC"/>
                          <a:ea typeface="PingFang SC"/>
                          <a:cs typeface="PingFang SC"/>
                        </a:rPr>
                        <a:t>收益类型</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可以怎样衡量</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不能直接等同于</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666750">
                <a:tc>
                  <a:txBody>
                    <a:bodyPr lIns="114300" tIns="114300" rIns="114300" bIns="114300"/>
                    <a:lstStyle/>
                    <a:p>
                      <a:r>
                        <a:rPr sz="1875" b="1">
                          <a:solidFill>
                            <a:srgbClr val="477FA8"/>
                          </a:solidFill>
                          <a:latin typeface="PingFang SC"/>
                          <a:ea typeface="PingFang SC"/>
                          <a:cs typeface="PingFang SC"/>
                        </a:rPr>
                        <a:t>处理效率</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同类任务的净处理工时</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现金费用已经减少</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库存占用</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经确认可释放的库存金额</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当期利润全部增加</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持有成本</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库存金额和认可持有率测算</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全部现金支出都可避免</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交付保障</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缺料、按期可用与异常变化</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未经核实的停场损失</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666750">
                <a:tc>
                  <a:txBody>
                    <a:bodyPr lIns="114300" tIns="114300" rIns="114300" bIns="114300"/>
                    <a:lstStyle/>
                    <a:p>
                      <a:r>
                        <a:rPr sz="1875" b="1">
                          <a:solidFill>
                            <a:srgbClr val="477FA8"/>
                          </a:solidFill>
                          <a:latin typeface="PingFang SC"/>
                          <a:ea typeface="PingFang SC"/>
                          <a:cs typeface="PingFang SC"/>
                        </a:rPr>
                        <a:t>实际财务收益</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财务确认的净收益与费用变化</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模型预估或目标值</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633686066"/>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97CC77-57B3-4F8B-8603-63D284040BE9}"/>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收益算例：复核工时也要计入</a:t>
            </a:r>
          </a:p>
        </p:txBody>
      </p:sp>
      <p:sp>
        <p:nvSpPr>
          <p:cNvPr id="2" name="">
            <a:extLst xmlns:a="http://schemas.openxmlformats.org/drawingml/2006/main">
              <a:ext uri="{FF2B5EF4-FFF2-40B4-BE49-F238E27FC236}">
                <a16:creationId xmlns:a16="http://schemas.microsoft.com/office/drawing/2014/main" id="{B7FF4272-6093-48F7-9556-816F4BEF9A57}"/>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课堂假设：每月100次同类任务，原30分钟，辅助后15分钟</a:t>
            </a:r>
          </a:p>
        </p:txBody>
      </p:sp>
      <p:sp>
        <p:nvSpPr>
          <p:cNvPr id="3" name="">
            <a:extLst xmlns:a="http://schemas.openxmlformats.org/drawingml/2006/main">
              <a:ext uri="{FF2B5EF4-FFF2-40B4-BE49-F238E27FC236}">
                <a16:creationId xmlns:a16="http://schemas.microsoft.com/office/drawing/2014/main" id="{7E138EBE-C0D1-4425-81FC-607833762F06}"/>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实施、风险与投资回报  10分钟</a:t>
            </a:r>
          </a:p>
        </p:txBody>
      </p:sp>
      <p:sp>
        <p:nvSpPr>
          <p:cNvPr id="4" name="">
            <a:extLst xmlns:a="http://schemas.openxmlformats.org/drawingml/2006/main">
              <a:ext uri="{FF2B5EF4-FFF2-40B4-BE49-F238E27FC236}">
                <a16:creationId xmlns:a16="http://schemas.microsoft.com/office/drawing/2014/main" id="{DC071A82-561E-4D2A-BC21-55A4F615FA07}"/>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89 / 94</a:t>
            </a:r>
          </a:p>
        </p:txBody>
      </p:sp>
      <p:graphicFrame>
        <p:nvGraphicFramePr>
          <p:cNvPr id="5" name="Chart">
            <a:extLst xmlns:a="http://schemas.openxmlformats.org/drawingml/2006/main">
              <a:ext uri="{FF2B5EF4-FFF2-40B4-BE49-F238E27FC236}">
                <a16:creationId xmlns:a16="http://schemas.microsoft.com/office/drawing/2014/main" id="{B678E3AE-428F-4984-AE7E-21389A18C626}"/>
              </a:ext>
            </a:extLst>
          </p:cNvPr>
          <p:cNvGraphicFramePr/>
          <p:nvPr/>
        </p:nvGraphicFramePr>
        <p:xfrm>
          <a:off xmlns:a="http://schemas.openxmlformats.org/drawingml/2006/main" x="609600" y="191452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019399e7e0df4627"/>
          </a:graphicData>
        </a:graphic>
      </p:graphicFrame>
      <p:sp>
        <p:nvSpPr>
          <p:cNvPr id="6" name="">
            <a:extLst xmlns:a="http://schemas.openxmlformats.org/drawingml/2006/main">
              <a:ext uri="{FF2B5EF4-FFF2-40B4-BE49-F238E27FC236}">
                <a16:creationId xmlns:a16="http://schemas.microsoft.com/office/drawing/2014/main" id="{2E2F9081-40AA-4592-AFAB-7E9DE4B2B3FC}"/>
              </a:ext>
            </a:extLst>
          </p:cNvPr>
          <p:cNvSpPr>
            <a:spLocks xmlns:a="http://schemas.openxmlformats.org/drawingml/2006/main" noGrp="1"/>
          </p:cNvSpPr>
          <p:nvPr/>
        </p:nvSpPr>
        <p:spPr>
          <a:xfrm xmlns:a="http://schemas.openxmlformats.org/drawingml/2006/main">
            <a:off x="619125" y="15621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667D91"/>
                </a:solidFill>
                <a:latin typeface="PingFang SC"/>
                <a:ea typeface="PingFang SC"/>
                <a:cs typeface="PingFang SC"/>
              </a:defRPr>
            </a:defPPr>
            <a:lvl1pPr algn="l">
              <a:defRPr sz="1575" b="0">
                <a:solidFill>
                  <a:srgbClr val="667D91"/>
                </a:solidFill>
                <a:latin typeface="PingFang SC"/>
                <a:ea typeface="PingFang SC"/>
                <a:cs typeface="PingFang SC"/>
              </a:defRPr>
            </a:lvl1pPr>
            <a:lvl2pPr algn="l">
              <a:defRPr sz="1575" b="0">
                <a:solidFill>
                  <a:srgbClr val="667D91"/>
                </a:solidFill>
                <a:latin typeface="PingFang SC"/>
                <a:ea typeface="PingFang SC"/>
                <a:cs typeface="PingFang SC"/>
              </a:defRPr>
            </a:lvl2pPr>
            <a:lvl3pPr algn="l">
              <a:defRPr sz="1575" b="0">
                <a:solidFill>
                  <a:srgbClr val="667D91"/>
                </a:solidFill>
                <a:latin typeface="PingFang SC"/>
                <a:ea typeface="PingFang SC"/>
                <a:cs typeface="PingFang SC"/>
              </a:defRPr>
            </a:lvl3pPr>
            <a:lvl4pPr algn="l">
              <a:defRPr sz="1575" b="0">
                <a:solidFill>
                  <a:srgbClr val="667D91"/>
                </a:solidFill>
                <a:latin typeface="PingFang SC"/>
                <a:ea typeface="PingFang SC"/>
                <a:cs typeface="PingFang SC"/>
              </a:defRPr>
            </a:lvl4pPr>
            <a:lvl5pPr algn="l">
              <a:defRPr sz="1575" b="0">
                <a:solidFill>
                  <a:srgbClr val="667D91"/>
                </a:solidFill>
                <a:latin typeface="PingFang SC"/>
                <a:ea typeface="PingFang SC"/>
                <a:cs typeface="PingFang SC"/>
              </a:defRPr>
            </a:lvl5pPr>
            <a:lvl6pPr algn="l">
              <a:defRPr sz="1575" b="0">
                <a:solidFill>
                  <a:srgbClr val="667D91"/>
                </a:solidFill>
                <a:latin typeface="PingFang SC"/>
                <a:ea typeface="PingFang SC"/>
                <a:cs typeface="PingFang SC"/>
              </a:defRPr>
            </a:lvl6pPr>
            <a:lvl7pPr algn="l">
              <a:defRPr sz="1575" b="0">
                <a:solidFill>
                  <a:srgbClr val="667D91"/>
                </a:solidFill>
                <a:latin typeface="PingFang SC"/>
                <a:ea typeface="PingFang SC"/>
                <a:cs typeface="PingFang SC"/>
              </a:defRPr>
            </a:lvl7pPr>
            <a:lvl8pPr algn="l">
              <a:defRPr sz="1575" b="0">
                <a:solidFill>
                  <a:srgbClr val="667D91"/>
                </a:solidFill>
                <a:latin typeface="PingFang SC"/>
                <a:ea typeface="PingFang SC"/>
                <a:cs typeface="PingFang SC"/>
              </a:defRPr>
            </a:lvl8pPr>
            <a:lvl9pPr algn="l">
              <a:defRPr sz="1575" b="0">
                <a:solidFill>
                  <a:srgbClr val="667D91"/>
                </a:solidFill>
                <a:latin typeface="PingFang SC"/>
                <a:ea typeface="PingFang SC"/>
                <a:cs typeface="PingFang SC"/>
              </a:defRPr>
            </a:lvl9pPr>
          </a:lstStyle>
          <a:p xmlns:a="http://schemas.openxmlformats.org/drawingml/2006/main">
            <a:pPr algn="l">
              <a:defRPr sz="1575" b="0">
                <a:solidFill>
                  <a:srgbClr val="667D91"/>
                </a:solidFill>
                <a:latin typeface="PingFang SC"/>
                <a:ea typeface="PingFang SC"/>
                <a:cs typeface="PingFang SC"/>
              </a:defRPr>
            </a:pPr>
            <a:r>
              <a:rPr sz="1575" b="0">
                <a:solidFill>
                  <a:srgbClr val="667D91"/>
                </a:solidFill>
                <a:latin typeface="PingFang SC"/>
                <a:ea typeface="PingFang SC"/>
                <a:cs typeface="PingFang SC"/>
              </a:rPr>
              <a:t>教学工时（小时／月）</a:t>
            </a:r>
          </a:p>
        </p:txBody>
      </p:sp>
      <p:sp>
        <p:nvSpPr>
          <p:cNvPr id="7" name="">
            <a:extLst xmlns:a="http://schemas.openxmlformats.org/drawingml/2006/main">
              <a:ext uri="{FF2B5EF4-FFF2-40B4-BE49-F238E27FC236}">
                <a16:creationId xmlns:a16="http://schemas.microsoft.com/office/drawing/2014/main" id="{11CC5648-601F-4190-8799-BEA278DD3E9D}"/>
              </a:ext>
            </a:extLst>
          </p:cNvPr>
          <p:cNvSpPr>
            <a:spLocks xmlns:a="http://schemas.openxmlformats.org/drawingml/2006/main" noGrp="1"/>
          </p:cNvSpPr>
          <p:nvPr/>
        </p:nvSpPr>
        <p:spPr>
          <a:xfrm xmlns:a="http://schemas.openxmlformats.org/drawingml/2006/main">
            <a:off x="628650" y="5391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477FA8"/>
                </a:solidFill>
                <a:latin typeface="PingFang SC"/>
                <a:ea typeface="PingFang SC"/>
                <a:cs typeface="PingFang SC"/>
              </a:defRPr>
            </a:defPPr>
            <a:lvl1pPr algn="l">
              <a:defRPr sz="2175" b="1">
                <a:solidFill>
                  <a:srgbClr val="477FA8"/>
                </a:solidFill>
                <a:latin typeface="PingFang SC"/>
                <a:ea typeface="PingFang SC"/>
                <a:cs typeface="PingFang SC"/>
              </a:defRPr>
            </a:lvl1pPr>
            <a:lvl2pPr algn="l">
              <a:defRPr sz="2175" b="1">
                <a:solidFill>
                  <a:srgbClr val="477FA8"/>
                </a:solidFill>
                <a:latin typeface="PingFang SC"/>
                <a:ea typeface="PingFang SC"/>
                <a:cs typeface="PingFang SC"/>
              </a:defRPr>
            </a:lvl2pPr>
            <a:lvl3pPr algn="l">
              <a:defRPr sz="2175" b="1">
                <a:solidFill>
                  <a:srgbClr val="477FA8"/>
                </a:solidFill>
                <a:latin typeface="PingFang SC"/>
                <a:ea typeface="PingFang SC"/>
                <a:cs typeface="PingFang SC"/>
              </a:defRPr>
            </a:lvl3pPr>
            <a:lvl4pPr algn="l">
              <a:defRPr sz="2175" b="1">
                <a:solidFill>
                  <a:srgbClr val="477FA8"/>
                </a:solidFill>
                <a:latin typeface="PingFang SC"/>
                <a:ea typeface="PingFang SC"/>
                <a:cs typeface="PingFang SC"/>
              </a:defRPr>
            </a:lvl4pPr>
            <a:lvl5pPr algn="l">
              <a:defRPr sz="2175" b="1">
                <a:solidFill>
                  <a:srgbClr val="477FA8"/>
                </a:solidFill>
                <a:latin typeface="PingFang SC"/>
                <a:ea typeface="PingFang SC"/>
                <a:cs typeface="PingFang SC"/>
              </a:defRPr>
            </a:lvl5pPr>
            <a:lvl6pPr algn="l">
              <a:defRPr sz="2175" b="1">
                <a:solidFill>
                  <a:srgbClr val="477FA8"/>
                </a:solidFill>
                <a:latin typeface="PingFang SC"/>
                <a:ea typeface="PingFang SC"/>
                <a:cs typeface="PingFang SC"/>
              </a:defRPr>
            </a:lvl6pPr>
            <a:lvl7pPr algn="l">
              <a:defRPr sz="2175" b="1">
                <a:solidFill>
                  <a:srgbClr val="477FA8"/>
                </a:solidFill>
                <a:latin typeface="PingFang SC"/>
                <a:ea typeface="PingFang SC"/>
                <a:cs typeface="PingFang SC"/>
              </a:defRPr>
            </a:lvl7pPr>
            <a:lvl8pPr algn="l">
              <a:defRPr sz="2175" b="1">
                <a:solidFill>
                  <a:srgbClr val="477FA8"/>
                </a:solidFill>
                <a:latin typeface="PingFang SC"/>
                <a:ea typeface="PingFang SC"/>
                <a:cs typeface="PingFang SC"/>
              </a:defRPr>
            </a:lvl8pPr>
            <a:lvl9pPr algn="l">
              <a:defRPr sz="2175" b="1">
                <a:solidFill>
                  <a:srgbClr val="477FA8"/>
                </a:solidFill>
                <a:latin typeface="PingFang SC"/>
                <a:ea typeface="PingFang SC"/>
                <a:cs typeface="PingFang SC"/>
              </a:defRPr>
            </a:lvl9pPr>
          </a:lstStyle>
          <a:p xmlns:a="http://schemas.openxmlformats.org/drawingml/2006/main">
            <a:pPr algn="l">
              <a:defRPr sz="2175" b="1">
                <a:solidFill>
                  <a:srgbClr val="477FA8"/>
                </a:solidFill>
                <a:latin typeface="PingFang SC"/>
                <a:ea typeface="PingFang SC"/>
                <a:cs typeface="PingFang SC"/>
              </a:defRPr>
            </a:pPr>
            <a:r>
              <a:rPr sz="2175" b="1">
                <a:solidFill>
                  <a:srgbClr val="477FA8"/>
                </a:solidFill>
                <a:latin typeface="PingFang SC"/>
                <a:ea typeface="PingFang SC"/>
                <a:cs typeface="PingFang SC"/>
              </a:rPr>
              <a:t>净效率释放 = 50−25−10 = 15小时／月，尚非现金收益</a:t>
            </a:r>
          </a:p>
        </p:txBody>
      </p:sp>
    </p:spTree>
    <p:extLst>
      <p:ext uri="{BB962C8B-B14F-4D97-AF65-F5344CB8AC3E}">
        <p14:creationId xmlns:p14="http://schemas.microsoft.com/office/powerpoint/2010/main" val="744775508"/>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9E368EB-38C8-4667-B5D6-27C45FE0F824}"/>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形成一页采购AI试点建议</a:t>
            </a:r>
          </a:p>
        </p:txBody>
      </p:sp>
      <p:sp>
        <p:nvSpPr>
          <p:cNvPr id="2" name="">
            <a:extLst xmlns:a="http://schemas.openxmlformats.org/drawingml/2006/main">
              <a:ext uri="{FF2B5EF4-FFF2-40B4-BE49-F238E27FC236}">
                <a16:creationId xmlns:a16="http://schemas.microsoft.com/office/drawing/2014/main" id="{35714715-649C-4FE3-AD8E-6F421C2935A3}"/>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8分钟，把今天的结论转化为可验证行动</a:t>
            </a:r>
          </a:p>
        </p:txBody>
      </p:sp>
      <p:sp>
        <p:nvSpPr>
          <p:cNvPr id="3" name="">
            <a:extLst xmlns:a="http://schemas.openxmlformats.org/drawingml/2006/main">
              <a:ext uri="{FF2B5EF4-FFF2-40B4-BE49-F238E27FC236}">
                <a16:creationId xmlns:a16="http://schemas.microsoft.com/office/drawing/2014/main" id="{F00FA7D3-9C33-4AB4-8C1B-8698E991C5A7}"/>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实施、风险与投资回报  8分钟</a:t>
            </a:r>
          </a:p>
        </p:txBody>
      </p:sp>
      <p:sp>
        <p:nvSpPr>
          <p:cNvPr id="4" name="">
            <a:extLst xmlns:a="http://schemas.openxmlformats.org/drawingml/2006/main">
              <a:ext uri="{FF2B5EF4-FFF2-40B4-BE49-F238E27FC236}">
                <a16:creationId xmlns:a16="http://schemas.microsoft.com/office/drawing/2014/main" id="{F93549B4-55DD-411E-A67F-F706CB20C6B8}"/>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90 / 94</a:t>
            </a:r>
          </a:p>
        </p:txBody>
      </p:sp>
      <p:sp>
        <p:nvSpPr>
          <p:cNvPr id="5" name="">
            <a:extLst xmlns:a="http://schemas.openxmlformats.org/drawingml/2006/main">
              <a:ext uri="{FF2B5EF4-FFF2-40B4-BE49-F238E27FC236}">
                <a16:creationId xmlns:a16="http://schemas.microsoft.com/office/drawing/2014/main" id="{37CC513B-FBF2-4495-8214-46F06DE7E7CD}"/>
              </a:ext>
            </a:extLst>
          </p:cNvPr>
          <p:cNvSpPr>
            <a:spLocks xmlns:a="http://schemas.openxmlformats.org/drawingml/2006/main" noGrp="1"/>
          </p:cNvSpPr>
          <p:nvPr/>
        </p:nvSpPr>
        <p:spPr>
          <a:xfrm xmlns:a="http://schemas.openxmlformats.org/drawingml/2006/main">
            <a:off x="609600" y="17526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讨论与操作</a:t>
            </a:r>
          </a:p>
        </p:txBody>
      </p:sp>
      <p:sp>
        <p:nvSpPr>
          <p:cNvPr id="6" name="">
            <a:extLst xmlns:a="http://schemas.openxmlformats.org/drawingml/2006/main">
              <a:ext uri="{FF2B5EF4-FFF2-40B4-BE49-F238E27FC236}">
                <a16:creationId xmlns:a16="http://schemas.microsoft.com/office/drawing/2014/main" id="{019B1C1E-3B7F-4394-9088-9B6039655F72}"/>
              </a:ext>
            </a:extLst>
          </p:cNvPr>
          <p:cNvSpPr>
            <a:spLocks xmlns:a="http://schemas.openxmlformats.org/drawingml/2006/main" noGrp="1"/>
          </p:cNvSpPr>
          <p:nvPr/>
        </p:nvSpPr>
        <p:spPr>
          <a:xfrm xmlns:a="http://schemas.openxmlformats.org/drawingml/2006/main">
            <a:off x="609600" y="2476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01</a:t>
            </a:r>
          </a:p>
        </p:txBody>
      </p:sp>
      <p:sp>
        <p:nvSpPr>
          <p:cNvPr id="7" name="">
            <a:extLst xmlns:a="http://schemas.openxmlformats.org/drawingml/2006/main">
              <a:ext uri="{FF2B5EF4-FFF2-40B4-BE49-F238E27FC236}">
                <a16:creationId xmlns:a16="http://schemas.microsoft.com/office/drawing/2014/main" id="{06C2C1AA-F168-4E15-A038-DB5577BA603E}"/>
              </a:ext>
            </a:extLst>
          </p:cNvPr>
          <p:cNvSpPr>
            <a:spLocks xmlns:a="http://schemas.openxmlformats.org/drawingml/2006/main" noGrp="1"/>
          </p:cNvSpPr>
          <p:nvPr/>
        </p:nvSpPr>
        <p:spPr>
          <a:xfrm xmlns:a="http://schemas.openxmlformats.org/drawingml/2006/main">
            <a:off x="1476375" y="23526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选一个问题，限定件号／任务与观察窗口</a:t>
            </a:r>
          </a:p>
        </p:txBody>
      </p:sp>
      <p:sp>
        <p:nvSpPr>
          <p:cNvPr id="8" name="">
            <a:extLst xmlns:a="http://schemas.openxmlformats.org/drawingml/2006/main">
              <a:ext uri="{FF2B5EF4-FFF2-40B4-BE49-F238E27FC236}">
                <a16:creationId xmlns:a16="http://schemas.microsoft.com/office/drawing/2014/main" id="{6C1DC8C6-2867-4145-971C-4C3B2B2A5070}"/>
              </a:ext>
            </a:extLst>
          </p:cNvPr>
          <p:cNvSpPr>
            <a:spLocks xmlns:a="http://schemas.openxmlformats.org/drawingml/2006/main" noGrp="1"/>
          </p:cNvSpPr>
          <p:nvPr/>
        </p:nvSpPr>
        <p:spPr>
          <a:xfrm xmlns:a="http://schemas.openxmlformats.org/drawingml/2006/main">
            <a:off x="609600" y="35814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02</a:t>
            </a:r>
          </a:p>
        </p:txBody>
      </p:sp>
      <p:sp>
        <p:nvSpPr>
          <p:cNvPr id="9" name="">
            <a:extLst xmlns:a="http://schemas.openxmlformats.org/drawingml/2006/main">
              <a:ext uri="{FF2B5EF4-FFF2-40B4-BE49-F238E27FC236}">
                <a16:creationId xmlns:a16="http://schemas.microsoft.com/office/drawing/2014/main" id="{D5439F69-42E9-4369-BF6E-1B773AC91D90}"/>
              </a:ext>
            </a:extLst>
          </p:cNvPr>
          <p:cNvSpPr>
            <a:spLocks xmlns:a="http://schemas.openxmlformats.org/drawingml/2006/main" noGrp="1"/>
          </p:cNvSpPr>
          <p:nvPr/>
        </p:nvSpPr>
        <p:spPr>
          <a:xfrm xmlns:a="http://schemas.openxmlformats.org/drawingml/2006/main">
            <a:off x="1476375" y="34575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写明数据、责任人及人工复核条件</a:t>
            </a:r>
          </a:p>
        </p:txBody>
      </p:sp>
      <p:sp>
        <p:nvSpPr>
          <p:cNvPr id="10" name="">
            <a:extLst xmlns:a="http://schemas.openxmlformats.org/drawingml/2006/main">
              <a:ext uri="{FF2B5EF4-FFF2-40B4-BE49-F238E27FC236}">
                <a16:creationId xmlns:a16="http://schemas.microsoft.com/office/drawing/2014/main" id="{58296EDF-492A-4293-9678-7EED2E2FD8BA}"/>
              </a:ext>
            </a:extLst>
          </p:cNvPr>
          <p:cNvSpPr>
            <a:spLocks xmlns:a="http://schemas.openxmlformats.org/drawingml/2006/main" noGrp="1"/>
          </p:cNvSpPr>
          <p:nvPr/>
        </p:nvSpPr>
        <p:spPr>
          <a:xfrm xmlns:a="http://schemas.openxmlformats.org/drawingml/2006/main">
            <a:off x="609600" y="4686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03</a:t>
            </a:r>
          </a:p>
        </p:txBody>
      </p:sp>
      <p:sp>
        <p:nvSpPr>
          <p:cNvPr id="11" name="">
            <a:extLst xmlns:a="http://schemas.openxmlformats.org/drawingml/2006/main">
              <a:ext uri="{FF2B5EF4-FFF2-40B4-BE49-F238E27FC236}">
                <a16:creationId xmlns:a16="http://schemas.microsoft.com/office/drawing/2014/main" id="{FD92DCB4-661E-463B-9C36-CE0BDC24E5F4}"/>
              </a:ext>
            </a:extLst>
          </p:cNvPr>
          <p:cNvSpPr>
            <a:spLocks xmlns:a="http://schemas.openxmlformats.org/drawingml/2006/main" noGrp="1"/>
          </p:cNvSpPr>
          <p:nvPr/>
        </p:nvSpPr>
        <p:spPr>
          <a:xfrm xmlns:a="http://schemas.openxmlformats.org/drawingml/2006/main">
            <a:off x="1476375" y="45624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定义成本上限、评价口径和停止条件</a:t>
            </a:r>
          </a:p>
        </p:txBody>
      </p:sp>
      <p:sp>
        <p:nvSpPr>
          <p:cNvPr id="12" name="">
            <a:extLst xmlns:a="http://schemas.openxmlformats.org/drawingml/2006/main">
              <a:ext uri="{FF2B5EF4-FFF2-40B4-BE49-F238E27FC236}">
                <a16:creationId xmlns:a16="http://schemas.microsoft.com/office/drawing/2014/main" id="{7D8E8FE1-6253-473A-86B2-28FE1C069F34}"/>
              </a:ext>
            </a:extLst>
          </p:cNvPr>
          <p:cNvSpPr>
            <a:spLocks xmlns:a="http://schemas.openxmlformats.org/drawingml/2006/main" noGrp="1"/>
          </p:cNvSpPr>
          <p:nvPr/>
        </p:nvSpPr>
        <p:spPr>
          <a:xfrm xmlns:a="http://schemas.openxmlformats.org/drawingml/2006/main">
            <a:off x="7943850" y="17526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本次输出</a:t>
            </a:r>
          </a:p>
        </p:txBody>
      </p:sp>
      <p:sp>
        <p:nvSpPr>
          <p:cNvPr id="13" name="">
            <a:extLst xmlns:a="http://schemas.openxmlformats.org/drawingml/2006/main">
              <a:ext uri="{FF2B5EF4-FFF2-40B4-BE49-F238E27FC236}">
                <a16:creationId xmlns:a16="http://schemas.microsoft.com/office/drawing/2014/main" id="{0B3465CC-07AB-4555-A906-3666532B7BD1}"/>
              </a:ext>
            </a:extLst>
          </p:cNvPr>
          <p:cNvSpPr>
            <a:spLocks xmlns:a="http://schemas.openxmlformats.org/drawingml/2006/main" noGrp="1"/>
          </p:cNvSpPr>
          <p:nvPr/>
        </p:nvSpPr>
        <p:spPr>
          <a:xfrm xmlns:a="http://schemas.openxmlformats.org/drawingml/2006/main">
            <a:off x="7943850" y="24574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试点范围与待验证假设</a:t>
            </a:r>
          </a:p>
        </p:txBody>
      </p:sp>
      <p:sp>
        <p:nvSpPr>
          <p:cNvPr id="14" name="">
            <a:extLst xmlns:a="http://schemas.openxmlformats.org/drawingml/2006/main">
              <a:ext uri="{FF2B5EF4-FFF2-40B4-BE49-F238E27FC236}">
                <a16:creationId xmlns:a16="http://schemas.microsoft.com/office/drawing/2014/main" id="{332C5BA6-EEBC-44D1-9A69-878B7CDCA2DC}"/>
              </a:ext>
            </a:extLst>
          </p:cNvPr>
          <p:cNvSpPr>
            <a:spLocks xmlns:a="http://schemas.openxmlformats.org/drawingml/2006/main" noGrp="1"/>
          </p:cNvSpPr>
          <p:nvPr/>
        </p:nvSpPr>
        <p:spPr>
          <a:xfrm xmlns:a="http://schemas.openxmlformats.org/drawingml/2006/main">
            <a:off x="7943850" y="35623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基线、目标与来源</a:t>
            </a:r>
          </a:p>
        </p:txBody>
      </p:sp>
      <p:sp>
        <p:nvSpPr>
          <p:cNvPr id="15" name="">
            <a:extLst xmlns:a="http://schemas.openxmlformats.org/drawingml/2006/main">
              <a:ext uri="{FF2B5EF4-FFF2-40B4-BE49-F238E27FC236}">
                <a16:creationId xmlns:a16="http://schemas.microsoft.com/office/drawing/2014/main" id="{60F883D0-F192-4EB8-A8BE-FE67533CB2EF}"/>
              </a:ext>
            </a:extLst>
          </p:cNvPr>
          <p:cNvSpPr>
            <a:spLocks xmlns:a="http://schemas.openxmlformats.org/drawingml/2006/main" noGrp="1"/>
          </p:cNvSpPr>
          <p:nvPr/>
        </p:nvSpPr>
        <p:spPr>
          <a:xfrm xmlns:a="http://schemas.openxmlformats.org/drawingml/2006/main">
            <a:off x="7943850" y="46672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责任、控制与复评时点</a:t>
            </a:r>
          </a:p>
        </p:txBody>
      </p:sp>
    </p:spTree>
    <p:extLst>
      <p:ext uri="{BB962C8B-B14F-4D97-AF65-F5344CB8AC3E}">
        <p14:creationId xmlns:p14="http://schemas.microsoft.com/office/powerpoint/2010/main" val="1021846378"/>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7D0C8F-E376-4A0E-BE1F-A2997CD61532}"/>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第二天结业考试安排</a:t>
            </a:r>
          </a:p>
        </p:txBody>
      </p:sp>
      <p:sp>
        <p:nvSpPr>
          <p:cNvPr id="2" name="">
            <a:extLst xmlns:a="http://schemas.openxmlformats.org/drawingml/2006/main">
              <a:ext uri="{FF2B5EF4-FFF2-40B4-BE49-F238E27FC236}">
                <a16:creationId xmlns:a16="http://schemas.microsoft.com/office/drawing/2014/main" id="{B86FC931-61BA-48A4-BBBD-B38E5CA2E8D8}"/>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建议30分钟：说明5分钟，独立作答25分钟</a:t>
            </a:r>
          </a:p>
        </p:txBody>
      </p:sp>
      <p:sp>
        <p:nvSpPr>
          <p:cNvPr id="3" name="">
            <a:extLst xmlns:a="http://schemas.openxmlformats.org/drawingml/2006/main">
              <a:ext uri="{FF2B5EF4-FFF2-40B4-BE49-F238E27FC236}">
                <a16:creationId xmlns:a16="http://schemas.microsoft.com/office/drawing/2014/main" id="{93B241F3-B3AB-4F41-AED1-632BFFEDBAB9}"/>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第二天结业考试  5分钟</a:t>
            </a:r>
          </a:p>
        </p:txBody>
      </p:sp>
      <p:sp>
        <p:nvSpPr>
          <p:cNvPr id="4" name="">
            <a:extLst xmlns:a="http://schemas.openxmlformats.org/drawingml/2006/main">
              <a:ext uri="{FF2B5EF4-FFF2-40B4-BE49-F238E27FC236}">
                <a16:creationId xmlns:a16="http://schemas.microsoft.com/office/drawing/2014/main" id="{A1930A51-D8C1-4E4E-BC08-B4FFFA5B58C7}"/>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91 / 94</a:t>
            </a:r>
          </a:p>
        </p:txBody>
      </p:sp>
      <p:graphicFrame>
        <p:nvGraphicFramePr>
          <p:cNvPr id="5" name="">
            <a:extLst xmlns:a="http://schemas.openxmlformats.org/drawingml/2006/main">
              <a:ext uri="{FF2B5EF4-FFF2-40B4-BE49-F238E27FC236}">
                <a16:creationId xmlns:a16="http://schemas.microsoft.com/office/drawing/2014/main" id="{C6C4F421-D0F3-404C-AFD5-2CFD3081552B}"/>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476500"/>
                <a:gridCol w="4381500"/>
                <a:gridCol w="4114800"/>
              </a:tblGrid>
              <a:tr h="800100">
                <a:tc>
                  <a:txBody>
                    <a:bodyPr lIns="114300" tIns="114300" rIns="114300" bIns="114300"/>
                    <a:lstStyle/>
                    <a:p>
                      <a:r>
                        <a:rPr sz="1725" b="1">
                          <a:solidFill>
                            <a:srgbClr val="477FA8"/>
                          </a:solidFill>
                          <a:latin typeface="PingFang SC"/>
                          <a:ea typeface="PingFang SC"/>
                          <a:cs typeface="PingFang SC"/>
                        </a:rPr>
                        <a:t>考核方向</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应体现的能力</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作答要求</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800100">
                <a:tc>
                  <a:txBody>
                    <a:bodyPr lIns="114300" tIns="114300" rIns="114300" bIns="114300"/>
                    <a:lstStyle/>
                    <a:p>
                      <a:r>
                        <a:rPr sz="1875" b="1">
                          <a:solidFill>
                            <a:srgbClr val="477FA8"/>
                          </a:solidFill>
                          <a:latin typeface="PingFang SC"/>
                          <a:ea typeface="PingFang SC"/>
                          <a:cs typeface="PingFang SC"/>
                        </a:rPr>
                        <a:t>问题识别</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区分现象、根因与证据</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说明还需核对什么</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情景计算</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正确使用数量、时间和成本口径</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列出关键计算步骤</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方案评价</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先可行性，再比较收益和代价</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说明排除原因与边界</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800100">
                <a:tc>
                  <a:txBody>
                    <a:bodyPr lIns="114300" tIns="114300" rIns="114300" bIns="114300"/>
                    <a:lstStyle/>
                    <a:p>
                      <a:r>
                        <a:rPr sz="1875" b="1">
                          <a:solidFill>
                            <a:srgbClr val="477FA8"/>
                          </a:solidFill>
                          <a:latin typeface="PingFang SC"/>
                          <a:ea typeface="PingFang SC"/>
                          <a:cs typeface="PingFang SC"/>
                        </a:rPr>
                        <a:t>实施建议</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责任、数据、风险与验证</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75" b="0">
                          <a:solidFill>
                            <a:srgbClr val="17334D"/>
                          </a:solidFill>
                          <a:latin typeface="PingFang SC"/>
                          <a:ea typeface="PingFang SC"/>
                          <a:cs typeface="PingFang SC"/>
                        </a:rPr>
                        <a:t>给出可执行的试点条件</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483798040"/>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8610B65-9386-4ED2-AAB1-F0DD44406FEF}"/>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结业考试：独立作答</a:t>
            </a:r>
          </a:p>
        </p:txBody>
      </p:sp>
      <p:sp>
        <p:nvSpPr>
          <p:cNvPr id="2" name="">
            <a:extLst xmlns:a="http://schemas.openxmlformats.org/drawingml/2006/main">
              <a:ext uri="{FF2B5EF4-FFF2-40B4-BE49-F238E27FC236}">
                <a16:creationId xmlns:a16="http://schemas.microsoft.com/office/drawing/2014/main" id="{2CB9A058-0B88-44A7-8928-521C430D6661}"/>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考试时段25分钟，按管理员发布的正式题目完成</a:t>
            </a:r>
          </a:p>
        </p:txBody>
      </p:sp>
      <p:sp>
        <p:nvSpPr>
          <p:cNvPr id="3" name="">
            <a:extLst xmlns:a="http://schemas.openxmlformats.org/drawingml/2006/main">
              <a:ext uri="{FF2B5EF4-FFF2-40B4-BE49-F238E27FC236}">
                <a16:creationId xmlns:a16="http://schemas.microsoft.com/office/drawing/2014/main" id="{F4067419-EB92-4998-830B-5CBACD787B60}"/>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第二天结业考试  25分钟</a:t>
            </a:r>
          </a:p>
        </p:txBody>
      </p:sp>
      <p:sp>
        <p:nvSpPr>
          <p:cNvPr id="4" name="">
            <a:extLst xmlns:a="http://schemas.openxmlformats.org/drawingml/2006/main">
              <a:ext uri="{FF2B5EF4-FFF2-40B4-BE49-F238E27FC236}">
                <a16:creationId xmlns:a16="http://schemas.microsoft.com/office/drawing/2014/main" id="{02A9C063-3985-4BEF-B361-13FC563B0938}"/>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92 / 94</a:t>
            </a:r>
          </a:p>
        </p:txBody>
      </p:sp>
      <p:sp>
        <p:nvSpPr>
          <p:cNvPr id="5" name="">
            <a:extLst xmlns:a="http://schemas.openxmlformats.org/drawingml/2006/main">
              <a:ext uri="{FF2B5EF4-FFF2-40B4-BE49-F238E27FC236}">
                <a16:creationId xmlns:a16="http://schemas.microsoft.com/office/drawing/2014/main" id="{C4B176F3-E054-4DD0-A5F6-06B657FF23F4}"/>
              </a:ext>
            </a:extLst>
          </p:cNvPr>
          <p:cNvSpPr>
            <a:spLocks xmlns:a="http://schemas.openxmlformats.org/drawingml/2006/main" noGrp="1"/>
          </p:cNvSpPr>
          <p:nvPr/>
        </p:nvSpPr>
        <p:spPr>
          <a:xfrm xmlns:a="http://schemas.openxmlformats.org/drawingml/2006/main">
            <a:off x="609600" y="17526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独立作答</a:t>
            </a:r>
          </a:p>
        </p:txBody>
      </p:sp>
      <p:sp>
        <p:nvSpPr>
          <p:cNvPr id="6" name="">
            <a:extLst xmlns:a="http://schemas.openxmlformats.org/drawingml/2006/main">
              <a:ext uri="{FF2B5EF4-FFF2-40B4-BE49-F238E27FC236}">
                <a16:creationId xmlns:a16="http://schemas.microsoft.com/office/drawing/2014/main" id="{D77D175E-54C9-4F0E-A0C0-3F45E449685E}"/>
              </a:ext>
            </a:extLst>
          </p:cNvPr>
          <p:cNvSpPr>
            <a:spLocks xmlns:a="http://schemas.openxmlformats.org/drawingml/2006/main" noGrp="1"/>
          </p:cNvSpPr>
          <p:nvPr/>
        </p:nvSpPr>
        <p:spPr>
          <a:xfrm xmlns:a="http://schemas.openxmlformats.org/drawingml/2006/main">
            <a:off x="609600" y="2476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01</a:t>
            </a:r>
          </a:p>
        </p:txBody>
      </p:sp>
      <p:sp>
        <p:nvSpPr>
          <p:cNvPr id="7" name="">
            <a:extLst xmlns:a="http://schemas.openxmlformats.org/drawingml/2006/main">
              <a:ext uri="{FF2B5EF4-FFF2-40B4-BE49-F238E27FC236}">
                <a16:creationId xmlns:a16="http://schemas.microsoft.com/office/drawing/2014/main" id="{D9709DBC-45B9-4C01-B537-F88FE312DB48}"/>
              </a:ext>
            </a:extLst>
          </p:cNvPr>
          <p:cNvSpPr>
            <a:spLocks xmlns:a="http://schemas.openxmlformats.org/drawingml/2006/main" noGrp="1"/>
          </p:cNvSpPr>
          <p:nvPr/>
        </p:nvSpPr>
        <p:spPr>
          <a:xfrm xmlns:a="http://schemas.openxmlformats.org/drawingml/2006/main">
            <a:off x="1476375" y="23526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核对学员编号与考试说明</a:t>
            </a:r>
          </a:p>
        </p:txBody>
      </p:sp>
      <p:sp>
        <p:nvSpPr>
          <p:cNvPr id="8" name="">
            <a:extLst xmlns:a="http://schemas.openxmlformats.org/drawingml/2006/main">
              <a:ext uri="{FF2B5EF4-FFF2-40B4-BE49-F238E27FC236}">
                <a16:creationId xmlns:a16="http://schemas.microsoft.com/office/drawing/2014/main" id="{0D84A55C-D594-4C09-939D-68A9D90CEDB3}"/>
              </a:ext>
            </a:extLst>
          </p:cNvPr>
          <p:cNvSpPr>
            <a:spLocks xmlns:a="http://schemas.openxmlformats.org/drawingml/2006/main" noGrp="1"/>
          </p:cNvSpPr>
          <p:nvPr/>
        </p:nvSpPr>
        <p:spPr>
          <a:xfrm xmlns:a="http://schemas.openxmlformats.org/drawingml/2006/main">
            <a:off x="609600" y="35814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02</a:t>
            </a:r>
          </a:p>
        </p:txBody>
      </p:sp>
      <p:sp>
        <p:nvSpPr>
          <p:cNvPr id="9" name="">
            <a:extLst xmlns:a="http://schemas.openxmlformats.org/drawingml/2006/main">
              <a:ext uri="{FF2B5EF4-FFF2-40B4-BE49-F238E27FC236}">
                <a16:creationId xmlns:a16="http://schemas.microsoft.com/office/drawing/2014/main" id="{589F0673-9590-4986-8121-3EF0934FC6F9}"/>
              </a:ext>
            </a:extLst>
          </p:cNvPr>
          <p:cNvSpPr>
            <a:spLocks xmlns:a="http://schemas.openxmlformats.org/drawingml/2006/main" noGrp="1"/>
          </p:cNvSpPr>
          <p:nvPr/>
        </p:nvSpPr>
        <p:spPr>
          <a:xfrm xmlns:a="http://schemas.openxmlformats.org/drawingml/2006/main">
            <a:off x="1476375" y="34575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按题意写明依据与计算步骤</a:t>
            </a:r>
          </a:p>
        </p:txBody>
      </p:sp>
      <p:sp>
        <p:nvSpPr>
          <p:cNvPr id="10" name="">
            <a:extLst xmlns:a="http://schemas.openxmlformats.org/drawingml/2006/main">
              <a:ext uri="{FF2B5EF4-FFF2-40B4-BE49-F238E27FC236}">
                <a16:creationId xmlns:a16="http://schemas.microsoft.com/office/drawing/2014/main" id="{8C59D5A3-FC02-4163-B190-AFE348F5BA66}"/>
              </a:ext>
            </a:extLst>
          </p:cNvPr>
          <p:cNvSpPr>
            <a:spLocks xmlns:a="http://schemas.openxmlformats.org/drawingml/2006/main" noGrp="1"/>
          </p:cNvSpPr>
          <p:nvPr/>
        </p:nvSpPr>
        <p:spPr>
          <a:xfrm xmlns:a="http://schemas.openxmlformats.org/drawingml/2006/main">
            <a:off x="609600" y="4686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477FA8"/>
                </a:solidFill>
                <a:latin typeface="PingFang SC"/>
                <a:ea typeface="PingFang SC"/>
                <a:cs typeface="PingFang SC"/>
              </a:defRPr>
            </a:defPPr>
            <a:lvl1pPr algn="l">
              <a:defRPr sz="2400" b="1">
                <a:solidFill>
                  <a:srgbClr val="477FA8"/>
                </a:solidFill>
                <a:latin typeface="PingFang SC"/>
                <a:ea typeface="PingFang SC"/>
                <a:cs typeface="PingFang SC"/>
              </a:defRPr>
            </a:lvl1pPr>
            <a:lvl2pPr algn="l">
              <a:defRPr sz="2400" b="1">
                <a:solidFill>
                  <a:srgbClr val="477FA8"/>
                </a:solidFill>
                <a:latin typeface="PingFang SC"/>
                <a:ea typeface="PingFang SC"/>
                <a:cs typeface="PingFang SC"/>
              </a:defRPr>
            </a:lvl2pPr>
            <a:lvl3pPr algn="l">
              <a:defRPr sz="2400" b="1">
                <a:solidFill>
                  <a:srgbClr val="477FA8"/>
                </a:solidFill>
                <a:latin typeface="PingFang SC"/>
                <a:ea typeface="PingFang SC"/>
                <a:cs typeface="PingFang SC"/>
              </a:defRPr>
            </a:lvl3pPr>
            <a:lvl4pPr algn="l">
              <a:defRPr sz="2400" b="1">
                <a:solidFill>
                  <a:srgbClr val="477FA8"/>
                </a:solidFill>
                <a:latin typeface="PingFang SC"/>
                <a:ea typeface="PingFang SC"/>
                <a:cs typeface="PingFang SC"/>
              </a:defRPr>
            </a:lvl4pPr>
            <a:lvl5pPr algn="l">
              <a:defRPr sz="2400" b="1">
                <a:solidFill>
                  <a:srgbClr val="477FA8"/>
                </a:solidFill>
                <a:latin typeface="PingFang SC"/>
                <a:ea typeface="PingFang SC"/>
                <a:cs typeface="PingFang SC"/>
              </a:defRPr>
            </a:lvl5pPr>
            <a:lvl6pPr algn="l">
              <a:defRPr sz="2400" b="1">
                <a:solidFill>
                  <a:srgbClr val="477FA8"/>
                </a:solidFill>
                <a:latin typeface="PingFang SC"/>
                <a:ea typeface="PingFang SC"/>
                <a:cs typeface="PingFang SC"/>
              </a:defRPr>
            </a:lvl6pPr>
            <a:lvl7pPr algn="l">
              <a:defRPr sz="2400" b="1">
                <a:solidFill>
                  <a:srgbClr val="477FA8"/>
                </a:solidFill>
                <a:latin typeface="PingFang SC"/>
                <a:ea typeface="PingFang SC"/>
                <a:cs typeface="PingFang SC"/>
              </a:defRPr>
            </a:lvl7pPr>
            <a:lvl8pPr algn="l">
              <a:defRPr sz="2400" b="1">
                <a:solidFill>
                  <a:srgbClr val="477FA8"/>
                </a:solidFill>
                <a:latin typeface="PingFang SC"/>
                <a:ea typeface="PingFang SC"/>
                <a:cs typeface="PingFang SC"/>
              </a:defRPr>
            </a:lvl8pPr>
            <a:lvl9pPr algn="l">
              <a:defRPr sz="2400" b="1">
                <a:solidFill>
                  <a:srgbClr val="477FA8"/>
                </a:solidFill>
                <a:latin typeface="PingFang SC"/>
                <a:ea typeface="PingFang SC"/>
                <a:cs typeface="PingFang SC"/>
              </a:defRPr>
            </a:lvl9pPr>
          </a:lstStyle>
          <a:p xmlns:a="http://schemas.openxmlformats.org/drawingml/2006/main">
            <a:pPr algn="l">
              <a:defRPr sz="2400" b="1">
                <a:solidFill>
                  <a:srgbClr val="477FA8"/>
                </a:solidFill>
                <a:latin typeface="PingFang SC"/>
                <a:ea typeface="PingFang SC"/>
                <a:cs typeface="PingFang SC"/>
              </a:defRPr>
            </a:pPr>
            <a:r>
              <a:rPr sz="2400" b="1">
                <a:solidFill>
                  <a:srgbClr val="477FA8"/>
                </a:solidFill>
                <a:latin typeface="PingFang SC"/>
                <a:ea typeface="PingFang SC"/>
                <a:cs typeface="PingFang SC"/>
              </a:rPr>
              <a:t>03</a:t>
            </a:r>
          </a:p>
        </p:txBody>
      </p:sp>
      <p:sp>
        <p:nvSpPr>
          <p:cNvPr id="11" name="">
            <a:extLst xmlns:a="http://schemas.openxmlformats.org/drawingml/2006/main">
              <a:ext uri="{FF2B5EF4-FFF2-40B4-BE49-F238E27FC236}">
                <a16:creationId xmlns:a16="http://schemas.microsoft.com/office/drawing/2014/main" id="{5372C24F-31CB-4045-A90D-857C0C857F83}"/>
              </a:ext>
            </a:extLst>
          </p:cNvPr>
          <p:cNvSpPr>
            <a:spLocks xmlns:a="http://schemas.openxmlformats.org/drawingml/2006/main" noGrp="1"/>
          </p:cNvSpPr>
          <p:nvPr/>
        </p:nvSpPr>
        <p:spPr>
          <a:xfrm xmlns:a="http://schemas.openxmlformats.org/drawingml/2006/main">
            <a:off x="1476375" y="456247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7334D"/>
                </a:solidFill>
                <a:latin typeface="PingFang SC"/>
                <a:ea typeface="PingFang SC"/>
                <a:cs typeface="PingFang SC"/>
              </a:defRPr>
            </a:defPPr>
            <a:lvl1pPr algn="l">
              <a:defRPr sz="2175" b="1">
                <a:solidFill>
                  <a:srgbClr val="17334D"/>
                </a:solidFill>
                <a:latin typeface="PingFang SC"/>
                <a:ea typeface="PingFang SC"/>
                <a:cs typeface="PingFang SC"/>
              </a:defRPr>
            </a:lvl1pPr>
            <a:lvl2pPr algn="l">
              <a:defRPr sz="2175" b="1">
                <a:solidFill>
                  <a:srgbClr val="17334D"/>
                </a:solidFill>
                <a:latin typeface="PingFang SC"/>
                <a:ea typeface="PingFang SC"/>
                <a:cs typeface="PingFang SC"/>
              </a:defRPr>
            </a:lvl2pPr>
            <a:lvl3pPr algn="l">
              <a:defRPr sz="2175" b="1">
                <a:solidFill>
                  <a:srgbClr val="17334D"/>
                </a:solidFill>
                <a:latin typeface="PingFang SC"/>
                <a:ea typeface="PingFang SC"/>
                <a:cs typeface="PingFang SC"/>
              </a:defRPr>
            </a:lvl3pPr>
            <a:lvl4pPr algn="l">
              <a:defRPr sz="2175" b="1">
                <a:solidFill>
                  <a:srgbClr val="17334D"/>
                </a:solidFill>
                <a:latin typeface="PingFang SC"/>
                <a:ea typeface="PingFang SC"/>
                <a:cs typeface="PingFang SC"/>
              </a:defRPr>
            </a:lvl4pPr>
            <a:lvl5pPr algn="l">
              <a:defRPr sz="2175" b="1">
                <a:solidFill>
                  <a:srgbClr val="17334D"/>
                </a:solidFill>
                <a:latin typeface="PingFang SC"/>
                <a:ea typeface="PingFang SC"/>
                <a:cs typeface="PingFang SC"/>
              </a:defRPr>
            </a:lvl5pPr>
            <a:lvl6pPr algn="l">
              <a:defRPr sz="2175" b="1">
                <a:solidFill>
                  <a:srgbClr val="17334D"/>
                </a:solidFill>
                <a:latin typeface="PingFang SC"/>
                <a:ea typeface="PingFang SC"/>
                <a:cs typeface="PingFang SC"/>
              </a:defRPr>
            </a:lvl6pPr>
            <a:lvl7pPr algn="l">
              <a:defRPr sz="2175" b="1">
                <a:solidFill>
                  <a:srgbClr val="17334D"/>
                </a:solidFill>
                <a:latin typeface="PingFang SC"/>
                <a:ea typeface="PingFang SC"/>
                <a:cs typeface="PingFang SC"/>
              </a:defRPr>
            </a:lvl7pPr>
            <a:lvl8pPr algn="l">
              <a:defRPr sz="2175" b="1">
                <a:solidFill>
                  <a:srgbClr val="17334D"/>
                </a:solidFill>
                <a:latin typeface="PingFang SC"/>
                <a:ea typeface="PingFang SC"/>
                <a:cs typeface="PingFang SC"/>
              </a:defRPr>
            </a:lvl8pPr>
            <a:lvl9pPr algn="l">
              <a:defRPr sz="2175" b="1">
                <a:solidFill>
                  <a:srgbClr val="17334D"/>
                </a:solidFill>
                <a:latin typeface="PingFang SC"/>
                <a:ea typeface="PingFang SC"/>
                <a:cs typeface="PingFang SC"/>
              </a:defRPr>
            </a:lvl9pPr>
          </a:lstStyle>
          <a:p xmlns:a="http://schemas.openxmlformats.org/drawingml/2006/main">
            <a:pPr algn="l">
              <a:defRPr sz="2175" b="1">
                <a:solidFill>
                  <a:srgbClr val="17334D"/>
                </a:solidFill>
                <a:latin typeface="PingFang SC"/>
                <a:ea typeface="PingFang SC"/>
                <a:cs typeface="PingFang SC"/>
              </a:defRPr>
            </a:pPr>
            <a:r>
              <a:rPr sz="2175" b="1">
                <a:solidFill>
                  <a:srgbClr val="17334D"/>
                </a:solidFill>
                <a:latin typeface="PingFang SC"/>
                <a:ea typeface="PingFang SC"/>
                <a:cs typeface="PingFang SC"/>
              </a:rPr>
              <a:t>检查并提交，异常及时报告</a:t>
            </a:r>
          </a:p>
        </p:txBody>
      </p:sp>
      <p:sp>
        <p:nvSpPr>
          <p:cNvPr id="12" name="">
            <a:extLst xmlns:a="http://schemas.openxmlformats.org/drawingml/2006/main">
              <a:ext uri="{FF2B5EF4-FFF2-40B4-BE49-F238E27FC236}">
                <a16:creationId xmlns:a16="http://schemas.microsoft.com/office/drawing/2014/main" id="{31FAB209-5667-40E0-A542-BCAE5333CF78}"/>
              </a:ext>
            </a:extLst>
          </p:cNvPr>
          <p:cNvSpPr>
            <a:spLocks xmlns:a="http://schemas.openxmlformats.org/drawingml/2006/main" noGrp="1"/>
          </p:cNvSpPr>
          <p:nvPr/>
        </p:nvSpPr>
        <p:spPr>
          <a:xfrm xmlns:a="http://schemas.openxmlformats.org/drawingml/2006/main">
            <a:off x="7943850" y="17526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本次输出</a:t>
            </a:r>
          </a:p>
        </p:txBody>
      </p:sp>
      <p:sp>
        <p:nvSpPr>
          <p:cNvPr id="13" name="">
            <a:extLst xmlns:a="http://schemas.openxmlformats.org/drawingml/2006/main">
              <a:ext uri="{FF2B5EF4-FFF2-40B4-BE49-F238E27FC236}">
                <a16:creationId xmlns:a16="http://schemas.microsoft.com/office/drawing/2014/main" id="{1DD5D6C9-982D-4760-8561-5F9688FA81D2}"/>
              </a:ext>
            </a:extLst>
          </p:cNvPr>
          <p:cNvSpPr>
            <a:spLocks xmlns:a="http://schemas.openxmlformats.org/drawingml/2006/main" noGrp="1"/>
          </p:cNvSpPr>
          <p:nvPr/>
        </p:nvSpPr>
        <p:spPr>
          <a:xfrm xmlns:a="http://schemas.openxmlformats.org/drawingml/2006/main">
            <a:off x="7943850" y="24574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独立完成并提交答卷</a:t>
            </a:r>
          </a:p>
        </p:txBody>
      </p:sp>
      <p:sp>
        <p:nvSpPr>
          <p:cNvPr id="14" name="">
            <a:extLst xmlns:a="http://schemas.openxmlformats.org/drawingml/2006/main">
              <a:ext uri="{FF2B5EF4-FFF2-40B4-BE49-F238E27FC236}">
                <a16:creationId xmlns:a16="http://schemas.microsoft.com/office/drawing/2014/main" id="{682B9AC1-37F8-48A1-8569-0AF385EC6B40}"/>
              </a:ext>
            </a:extLst>
          </p:cNvPr>
          <p:cNvSpPr>
            <a:spLocks xmlns:a="http://schemas.openxmlformats.org/drawingml/2006/main" noGrp="1"/>
          </p:cNvSpPr>
          <p:nvPr/>
        </p:nvSpPr>
        <p:spPr>
          <a:xfrm xmlns:a="http://schemas.openxmlformats.org/drawingml/2006/main">
            <a:off x="7943850" y="35623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不确定项说明判断前提</a:t>
            </a:r>
          </a:p>
        </p:txBody>
      </p:sp>
      <p:sp>
        <p:nvSpPr>
          <p:cNvPr id="15" name="">
            <a:extLst xmlns:a="http://schemas.openxmlformats.org/drawingml/2006/main">
              <a:ext uri="{FF2B5EF4-FFF2-40B4-BE49-F238E27FC236}">
                <a16:creationId xmlns:a16="http://schemas.microsoft.com/office/drawing/2014/main" id="{2DF45B38-5296-41FD-BE56-6284725F4BF2}"/>
              </a:ext>
            </a:extLst>
          </p:cNvPr>
          <p:cNvSpPr>
            <a:spLocks xmlns:a="http://schemas.openxmlformats.org/drawingml/2006/main" noGrp="1"/>
          </p:cNvSpPr>
          <p:nvPr/>
        </p:nvSpPr>
        <p:spPr>
          <a:xfrm xmlns:a="http://schemas.openxmlformats.org/drawingml/2006/main">
            <a:off x="7943850" y="46672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667D91"/>
                </a:solidFill>
                <a:latin typeface="PingFang SC"/>
                <a:ea typeface="PingFang SC"/>
                <a:cs typeface="PingFang SC"/>
              </a:defRPr>
            </a:defPPr>
            <a:lvl1pPr algn="l">
              <a:defRPr sz="2025" b="0">
                <a:solidFill>
                  <a:srgbClr val="667D91"/>
                </a:solidFill>
                <a:latin typeface="PingFang SC"/>
                <a:ea typeface="PingFang SC"/>
                <a:cs typeface="PingFang SC"/>
              </a:defRPr>
            </a:lvl1pPr>
            <a:lvl2pPr algn="l">
              <a:defRPr sz="2025" b="0">
                <a:solidFill>
                  <a:srgbClr val="667D91"/>
                </a:solidFill>
                <a:latin typeface="PingFang SC"/>
                <a:ea typeface="PingFang SC"/>
                <a:cs typeface="PingFang SC"/>
              </a:defRPr>
            </a:lvl2pPr>
            <a:lvl3pPr algn="l">
              <a:defRPr sz="2025" b="0">
                <a:solidFill>
                  <a:srgbClr val="667D91"/>
                </a:solidFill>
                <a:latin typeface="PingFang SC"/>
                <a:ea typeface="PingFang SC"/>
                <a:cs typeface="PingFang SC"/>
              </a:defRPr>
            </a:lvl3pPr>
            <a:lvl4pPr algn="l">
              <a:defRPr sz="2025" b="0">
                <a:solidFill>
                  <a:srgbClr val="667D91"/>
                </a:solidFill>
                <a:latin typeface="PingFang SC"/>
                <a:ea typeface="PingFang SC"/>
                <a:cs typeface="PingFang SC"/>
              </a:defRPr>
            </a:lvl4pPr>
            <a:lvl5pPr algn="l">
              <a:defRPr sz="2025" b="0">
                <a:solidFill>
                  <a:srgbClr val="667D91"/>
                </a:solidFill>
                <a:latin typeface="PingFang SC"/>
                <a:ea typeface="PingFang SC"/>
                <a:cs typeface="PingFang SC"/>
              </a:defRPr>
            </a:lvl5pPr>
            <a:lvl6pPr algn="l">
              <a:defRPr sz="2025" b="0">
                <a:solidFill>
                  <a:srgbClr val="667D91"/>
                </a:solidFill>
                <a:latin typeface="PingFang SC"/>
                <a:ea typeface="PingFang SC"/>
                <a:cs typeface="PingFang SC"/>
              </a:defRPr>
            </a:lvl6pPr>
            <a:lvl7pPr algn="l">
              <a:defRPr sz="2025" b="0">
                <a:solidFill>
                  <a:srgbClr val="667D91"/>
                </a:solidFill>
                <a:latin typeface="PingFang SC"/>
                <a:ea typeface="PingFang SC"/>
                <a:cs typeface="PingFang SC"/>
              </a:defRPr>
            </a:lvl7pPr>
            <a:lvl8pPr algn="l">
              <a:defRPr sz="2025" b="0">
                <a:solidFill>
                  <a:srgbClr val="667D91"/>
                </a:solidFill>
                <a:latin typeface="PingFang SC"/>
                <a:ea typeface="PingFang SC"/>
                <a:cs typeface="PingFang SC"/>
              </a:defRPr>
            </a:lvl8pPr>
            <a:lvl9pPr algn="l">
              <a:defRPr sz="2025" b="0">
                <a:solidFill>
                  <a:srgbClr val="667D91"/>
                </a:solidFill>
                <a:latin typeface="PingFang SC"/>
                <a:ea typeface="PingFang SC"/>
                <a:cs typeface="PingFang SC"/>
              </a:defRPr>
            </a:lvl9pPr>
          </a:lstStyle>
          <a:p xmlns:a="http://schemas.openxmlformats.org/drawingml/2006/main">
            <a:pPr algn="l">
              <a:defRPr sz="2025" b="0">
                <a:solidFill>
                  <a:srgbClr val="667D91"/>
                </a:solidFill>
                <a:latin typeface="PingFang SC"/>
                <a:ea typeface="PingFang SC"/>
                <a:cs typeface="PingFang SC"/>
              </a:defRPr>
            </a:pPr>
            <a:r>
              <a:rPr sz="2025" b="0">
                <a:solidFill>
                  <a:srgbClr val="667D91"/>
                </a:solidFill>
                <a:latin typeface="PingFang SC"/>
                <a:ea typeface="PingFang SC"/>
                <a:cs typeface="PingFang SC"/>
              </a:rPr>
              <a:t>考试结束后参与总结</a:t>
            </a:r>
          </a:p>
        </p:txBody>
      </p:sp>
    </p:spTree>
    <p:extLst>
      <p:ext uri="{BB962C8B-B14F-4D97-AF65-F5344CB8AC3E}">
        <p14:creationId xmlns:p14="http://schemas.microsoft.com/office/powerpoint/2010/main" val="1263823062"/>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288273-FD70-49A8-A2C5-E25F1A4E07CC}"/>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六个专题的学习成果核对</a:t>
            </a:r>
          </a:p>
        </p:txBody>
      </p:sp>
      <p:sp>
        <p:nvSpPr>
          <p:cNvPr id="2" name="">
            <a:extLst xmlns:a="http://schemas.openxmlformats.org/drawingml/2006/main">
              <a:ext uri="{FF2B5EF4-FFF2-40B4-BE49-F238E27FC236}">
                <a16:creationId xmlns:a16="http://schemas.microsoft.com/office/drawing/2014/main" id="{A701ECAB-F1EF-428C-890D-7AE6A586D143}"/>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用业务产出检验学习，而不仅是完成操作</a:t>
            </a:r>
          </a:p>
        </p:txBody>
      </p:sp>
      <p:sp>
        <p:nvSpPr>
          <p:cNvPr id="3" name="">
            <a:extLst xmlns:a="http://schemas.openxmlformats.org/drawingml/2006/main">
              <a:ext uri="{FF2B5EF4-FFF2-40B4-BE49-F238E27FC236}">
                <a16:creationId xmlns:a16="http://schemas.microsoft.com/office/drawing/2014/main" id="{EFF8327A-7E4C-47B7-BDD7-BCECE19C164A}"/>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总结与答疑  5分钟</a:t>
            </a:r>
          </a:p>
        </p:txBody>
      </p:sp>
      <p:sp>
        <p:nvSpPr>
          <p:cNvPr id="4" name="">
            <a:extLst xmlns:a="http://schemas.openxmlformats.org/drawingml/2006/main">
              <a:ext uri="{FF2B5EF4-FFF2-40B4-BE49-F238E27FC236}">
                <a16:creationId xmlns:a16="http://schemas.microsoft.com/office/drawing/2014/main" id="{DF79FDBD-3894-457E-8854-85B88363AF01}"/>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93 / 94</a:t>
            </a:r>
          </a:p>
        </p:txBody>
      </p:sp>
      <p:graphicFrame>
        <p:nvGraphicFramePr>
          <p:cNvPr id="5" name="">
            <a:extLst xmlns:a="http://schemas.openxmlformats.org/drawingml/2006/main">
              <a:ext uri="{FF2B5EF4-FFF2-40B4-BE49-F238E27FC236}">
                <a16:creationId xmlns:a16="http://schemas.microsoft.com/office/drawing/2014/main" id="{0833A8D5-2B87-4976-87C7-13D1C46F9E65}"/>
              </a:ext>
            </a:extLst>
          </p:cNvPr>
          <p:cNvGraphicFramePr/>
          <p:nvPr/>
        </p:nvGraphicFramePr>
        <p:xfrm>
          <a:off xmlns:a="http://schemas.openxmlformats.org/drawingml/2006/main" x="609600" y="1695450"/>
          <a:ext xmlns:a="http://schemas.openxmlformats.org/drawingml/2006/main" cx="10972800" cy="4000500"/>
        </p:xfrm>
        <a:graphic xmlns:a="http://schemas.openxmlformats.org/drawingml/2006/main">
          <a:graphicData uri="http://schemas.openxmlformats.org/drawingml/2006/table">
            <a:tbl>
              <a:tblPr/>
              <a:tblGrid>
                <a:gridCol w="2428875"/>
                <a:gridCol w="4286250"/>
                <a:gridCol w="4257675"/>
              </a:tblGrid>
              <a:tr h="571500">
                <a:tc>
                  <a:txBody>
                    <a:bodyPr lIns="114300" tIns="114300" rIns="114300" bIns="114300"/>
                    <a:lstStyle/>
                    <a:p>
                      <a:r>
                        <a:rPr sz="1725" b="1">
                          <a:solidFill>
                            <a:srgbClr val="477FA8"/>
                          </a:solidFill>
                          <a:latin typeface="PingFang SC"/>
                          <a:ea typeface="PingFang SC"/>
                          <a:cs typeface="PingFang SC"/>
                        </a:rPr>
                        <a:t>专题</a:t>
                      </a:r>
                    </a:p>
                  </a:txBody>
                  <a:tcPr marL="91440" marR="91440" marT="45720" marB="45720" anchor="ctr">
                    <a:lnL w="5715">
                      <a:solidFill>
                        <a:srgbClr val="D7E4EE"/>
                      </a:solidFill>
                      <a:prstDash val="solid"/>
                    </a:lnL>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应能解释的结果</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c>
                  <a:txBody>
                    <a:bodyPr lIns="114300" tIns="114300" rIns="114300" bIns="114300"/>
                    <a:lstStyle/>
                    <a:p>
                      <a:r>
                        <a:rPr sz="1725" b="1">
                          <a:solidFill>
                            <a:srgbClr val="17334D"/>
                          </a:solidFill>
                          <a:latin typeface="PingFang SC"/>
                          <a:ea typeface="PingFang SC"/>
                          <a:cs typeface="PingFang SC"/>
                        </a:rPr>
                        <a:t>下一步行动</a:t>
                      </a:r>
                    </a:p>
                  </a:txBody>
                  <a:tcPr marL="91440" marR="91440" marT="45720" marB="45720" anchor="ctr">
                    <a:lnR w="5715">
                      <a:solidFill>
                        <a:srgbClr val="D7E4EE"/>
                      </a:solidFill>
                      <a:prstDash val="solid"/>
                    </a:lnR>
                    <a:lnT w="5715">
                      <a:solidFill>
                        <a:srgbClr val="D7E4EE"/>
                      </a:solidFill>
                      <a:prstDash val="solid"/>
                    </a:lnT>
                    <a:lnB w="5715">
                      <a:solidFill>
                        <a:srgbClr val="D7E4EE"/>
                      </a:solidFill>
                      <a:prstDash val="solid"/>
                    </a:lnB>
                    <a:solidFill>
                      <a:srgbClr val="EAF3FA"/>
                    </a:solidFill>
                  </a:tcPr>
                </a:tc>
              </a:tr>
              <a:tr h="571500">
                <a:tc>
                  <a:txBody>
                    <a:bodyPr lIns="114300" tIns="114300" rIns="114300" bIns="114300"/>
                    <a:lstStyle/>
                    <a:p>
                      <a:r>
                        <a:rPr sz="1800" b="1">
                          <a:solidFill>
                            <a:srgbClr val="477FA8"/>
                          </a:solidFill>
                          <a:latin typeface="PingFang SC"/>
                          <a:ea typeface="PingFang SC"/>
                          <a:cs typeface="PingFang SC"/>
                        </a:rPr>
                        <a:t>需求与计划</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采购缺口与启动依据</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核对需求、库存和交期</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00" b="1">
                          <a:solidFill>
                            <a:srgbClr val="477FA8"/>
                          </a:solidFill>
                          <a:latin typeface="PingFang SC"/>
                          <a:ea typeface="PingFang SC"/>
                          <a:cs typeface="PingFang SC"/>
                        </a:rPr>
                        <a:t>寻源与价格</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可行方案与成本差异</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统一询价与核对口径</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00" b="1">
                          <a:solidFill>
                            <a:srgbClr val="477FA8"/>
                          </a:solidFill>
                          <a:latin typeface="PingFang SC"/>
                          <a:ea typeface="PingFang SC"/>
                          <a:cs typeface="PingFang SC"/>
                        </a:rPr>
                        <a:t>供应商风险</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评分、门槛与依赖</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形成保障与复评动作</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00" b="1">
                          <a:solidFill>
                            <a:srgbClr val="477FA8"/>
                          </a:solidFill>
                          <a:latin typeface="PingFang SC"/>
                          <a:ea typeface="PingFang SC"/>
                          <a:cs typeface="PingFang SC"/>
                        </a:rPr>
                        <a:t>订单与交付</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维修缺口与优先处置</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明确承诺、责任和升级</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00" b="1">
                          <a:solidFill>
                            <a:srgbClr val="477FA8"/>
                          </a:solidFill>
                          <a:latin typeface="PingFang SC"/>
                          <a:ea typeface="PingFang SC"/>
                          <a:cs typeface="PingFang SC"/>
                        </a:rPr>
                        <a:t>库存与优化</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成本、假设与策略取舍</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设计分层试点及回测</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r h="571500">
                <a:tc>
                  <a:txBody>
                    <a:bodyPr lIns="114300" tIns="114300" rIns="114300" bIns="114300"/>
                    <a:lstStyle/>
                    <a:p>
                      <a:r>
                        <a:rPr sz="1800" b="1">
                          <a:solidFill>
                            <a:srgbClr val="477FA8"/>
                          </a:solidFill>
                          <a:latin typeface="PingFang SC"/>
                          <a:ea typeface="PingFang SC"/>
                          <a:cs typeface="PingFang SC"/>
                        </a:rPr>
                        <a:t>AOG紧急采购</a:t>
                      </a:r>
                    </a:p>
                  </a:txBody>
                  <a:tcPr marL="91440" marR="91440" marT="45720" marB="45720" anchor="ctr">
                    <a:lnL w="5715">
                      <a:solidFill>
                        <a:srgbClr val="D7E4EE"/>
                      </a:solidFill>
                      <a:prstDash val="solid"/>
                    </a:lnL>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可用性、时限和候选取舍</a:t>
                      </a:r>
                    </a:p>
                  </a:txBody>
                  <a:tcPr marL="91440" marR="91440" marT="45720" marB="45720" anchor="ctr">
                    <a:lnR w="5715">
                      <a:solidFill>
                        <a:srgbClr val="D7E4EE"/>
                      </a:solidFill>
                      <a:prstDash val="solid"/>
                    </a:lnR>
                    <a:lnB w="5715">
                      <a:solidFill>
                        <a:srgbClr val="D7E4EE"/>
                      </a:solidFill>
                      <a:prstDash val="solid"/>
                    </a:lnB>
                    <a:solidFill>
                      <a:srgbClr val="FFFFFF"/>
                    </a:solidFill>
                  </a:tcPr>
                </a:tc>
                <a:tc>
                  <a:txBody>
                    <a:bodyPr lIns="114300" tIns="114300" rIns="114300" bIns="114300"/>
                    <a:lstStyle/>
                    <a:p>
                      <a:r>
                        <a:rPr sz="1800" b="0">
                          <a:solidFill>
                            <a:srgbClr val="17334D"/>
                          </a:solidFill>
                          <a:latin typeface="PingFang SC"/>
                          <a:ea typeface="PingFang SC"/>
                          <a:cs typeface="PingFang SC"/>
                        </a:rPr>
                        <a:t>核对证据并准备升级</a:t>
                      </a:r>
                    </a:p>
                  </a:txBody>
                  <a:tcPr marL="91440" marR="91440" marT="45720" marB="45720" anchor="ctr">
                    <a:lnR w="5715">
                      <a:solidFill>
                        <a:srgbClr val="D7E4EE"/>
                      </a:solidFill>
                      <a:prstDash val="solid"/>
                    </a:lnR>
                    <a:lnB w="5715">
                      <a:solidFill>
                        <a:srgbClr val="D7E4EE"/>
                      </a:solidFill>
                      <a:prstDash val="solid"/>
                    </a:lnB>
                    <a:solidFill>
                      <a:srgbClr val="FFFFFF"/>
                    </a:solidFill>
                  </a:tcPr>
                </a:tc>
              </a:tr>
            </a:tbl>
          </a:graphicData>
        </a:graphic>
      </p:graphicFrame>
    </p:spTree>
    <p:extLst>
      <p:ext uri="{BB962C8B-B14F-4D97-AF65-F5344CB8AC3E}">
        <p14:creationId xmlns:p14="http://schemas.microsoft.com/office/powerpoint/2010/main" val="232557236"/>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18E8E5F-EAC4-40D9-962E-4540DBE39DD3}"/>
              </a:ext>
            </a:extLst>
          </p:cNvPr>
          <p:cNvCxnSpPr>
            <a:stCxn xmlns:a="http://schemas.openxmlformats.org/drawingml/2006/main" id="10" idx="3"/>
            <a:endCxn xmlns:a="http://schemas.openxmlformats.org/drawingml/2006/main" id="13" idx="1"/>
          </p:cNvCxnSpPr>
          <p:nvPr/>
        </p:nvCxnSpPr>
        <p:spPr>
          <a:xfrm xmlns:a="http://schemas.openxmlformats.org/drawingml/2006/main">
            <a:off x="87439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11" name="">
            <a:extLst xmlns:a="http://schemas.openxmlformats.org/drawingml/2006/main">
              <a:ext uri="{FF2B5EF4-FFF2-40B4-BE49-F238E27FC236}">
                <a16:creationId xmlns:a16="http://schemas.microsoft.com/office/drawing/2014/main" id="{5C6B465E-3F40-43B0-9195-CFF1B8C1E940}"/>
              </a:ext>
            </a:extLst>
          </p:cNvPr>
          <p:cNvCxnSpPr>
            <a:stCxn xmlns:a="http://schemas.openxmlformats.org/drawingml/2006/main" id="7" idx="3"/>
            <a:endCxn xmlns:a="http://schemas.openxmlformats.org/drawingml/2006/main" id="10" idx="1"/>
          </p:cNvCxnSpPr>
          <p:nvPr/>
        </p:nvCxnSpPr>
        <p:spPr>
          <a:xfrm xmlns:a="http://schemas.openxmlformats.org/drawingml/2006/main">
            <a:off x="590550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cxnSp>
        <p:nvCxnSpPr>
          <p:cNvPr id="8" name="">
            <a:extLst xmlns:a="http://schemas.openxmlformats.org/drawingml/2006/main">
              <a:ext uri="{FF2B5EF4-FFF2-40B4-BE49-F238E27FC236}">
                <a16:creationId xmlns:a16="http://schemas.microsoft.com/office/drawing/2014/main" id="{298007D2-337F-44D2-B59F-7A4000EE2A0F}"/>
              </a:ext>
            </a:extLst>
          </p:cNvPr>
          <p:cNvCxnSpPr>
            <a:stCxn xmlns:a="http://schemas.openxmlformats.org/drawingml/2006/main" id="5" idx="3"/>
            <a:endCxn xmlns:a="http://schemas.openxmlformats.org/drawingml/2006/main" id="7" idx="1"/>
          </p:cNvCxnSpPr>
          <p:nvPr/>
        </p:nvCxnSpPr>
        <p:spPr>
          <a:xfrm xmlns:a="http://schemas.openxmlformats.org/drawingml/2006/main">
            <a:off x="3067050" y="2581275"/>
            <a:ext cx="381000" cy="0"/>
          </a:xfrm>
          <a:prstGeom xmlns:a="http://schemas.openxmlformats.org/drawingml/2006/main" prst="straightConnector1">
            <a:avLst/>
          </a:prstGeom>
          <a:ln xmlns:a="http://schemas.openxmlformats.org/drawingml/2006/main" w="19050">
            <a:solidFill>
              <a:srgbClr val="477FA8"/>
            </a:solidFill>
            <a:tailEnd type="triangle" w="med" len="med"/>
          </a:ln>
        </p:spPr>
      </p:cxnSp>
      <p:sp>
        <p:nvSpPr>
          <p:cNvPr id="17" name="">
            <a:extLst xmlns:a="http://schemas.openxmlformats.org/drawingml/2006/main">
              <a:ext uri="{FF2B5EF4-FFF2-40B4-BE49-F238E27FC236}">
                <a16:creationId xmlns:a16="http://schemas.microsoft.com/office/drawing/2014/main" id="{4F020695-19DD-4236-BC4A-9C3178C294FC}"/>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150" b="1">
                <a:solidFill>
                  <a:srgbClr val="17334D"/>
                </a:solidFill>
                <a:latin typeface="PingFang SC"/>
                <a:ea typeface="PingFang SC"/>
                <a:cs typeface="PingFang SC"/>
              </a:defRPr>
            </a:defPPr>
            <a:lvl1pPr algn="l">
              <a:defRPr sz="3150" b="1">
                <a:solidFill>
                  <a:srgbClr val="17334D"/>
                </a:solidFill>
                <a:latin typeface="PingFang SC"/>
                <a:ea typeface="PingFang SC"/>
                <a:cs typeface="PingFang SC"/>
              </a:defRPr>
            </a:lvl1pPr>
            <a:lvl2pPr algn="l">
              <a:defRPr sz="3150" b="1">
                <a:solidFill>
                  <a:srgbClr val="17334D"/>
                </a:solidFill>
                <a:latin typeface="PingFang SC"/>
                <a:ea typeface="PingFang SC"/>
                <a:cs typeface="PingFang SC"/>
              </a:defRPr>
            </a:lvl2pPr>
            <a:lvl3pPr algn="l">
              <a:defRPr sz="3150" b="1">
                <a:solidFill>
                  <a:srgbClr val="17334D"/>
                </a:solidFill>
                <a:latin typeface="PingFang SC"/>
                <a:ea typeface="PingFang SC"/>
                <a:cs typeface="PingFang SC"/>
              </a:defRPr>
            </a:lvl3pPr>
            <a:lvl4pPr algn="l">
              <a:defRPr sz="3150" b="1">
                <a:solidFill>
                  <a:srgbClr val="17334D"/>
                </a:solidFill>
                <a:latin typeface="PingFang SC"/>
                <a:ea typeface="PingFang SC"/>
                <a:cs typeface="PingFang SC"/>
              </a:defRPr>
            </a:lvl4pPr>
            <a:lvl5pPr algn="l">
              <a:defRPr sz="3150" b="1">
                <a:solidFill>
                  <a:srgbClr val="17334D"/>
                </a:solidFill>
                <a:latin typeface="PingFang SC"/>
                <a:ea typeface="PingFang SC"/>
                <a:cs typeface="PingFang SC"/>
              </a:defRPr>
            </a:lvl5pPr>
            <a:lvl6pPr algn="l">
              <a:defRPr sz="3150" b="1">
                <a:solidFill>
                  <a:srgbClr val="17334D"/>
                </a:solidFill>
                <a:latin typeface="PingFang SC"/>
                <a:ea typeface="PingFang SC"/>
                <a:cs typeface="PingFang SC"/>
              </a:defRPr>
            </a:lvl6pPr>
            <a:lvl7pPr algn="l">
              <a:defRPr sz="3150" b="1">
                <a:solidFill>
                  <a:srgbClr val="17334D"/>
                </a:solidFill>
                <a:latin typeface="PingFang SC"/>
                <a:ea typeface="PingFang SC"/>
                <a:cs typeface="PingFang SC"/>
              </a:defRPr>
            </a:lvl7pPr>
            <a:lvl8pPr algn="l">
              <a:defRPr sz="3150" b="1">
                <a:solidFill>
                  <a:srgbClr val="17334D"/>
                </a:solidFill>
                <a:latin typeface="PingFang SC"/>
                <a:ea typeface="PingFang SC"/>
                <a:cs typeface="PingFang SC"/>
              </a:defRPr>
            </a:lvl8pPr>
            <a:lvl9pPr algn="l">
              <a:defRPr sz="3150" b="1">
                <a:solidFill>
                  <a:srgbClr val="17334D"/>
                </a:solidFill>
                <a:latin typeface="PingFang SC"/>
                <a:ea typeface="PingFang SC"/>
                <a:cs typeface="PingFang SC"/>
              </a:defRPr>
            </a:lvl9pPr>
          </a:lstStyle>
          <a:p xmlns:a="http://schemas.openxmlformats.org/drawingml/2006/main">
            <a:pPr algn="l">
              <a:defRPr sz="3150" b="1">
                <a:solidFill>
                  <a:srgbClr val="17334D"/>
                </a:solidFill>
                <a:latin typeface="PingFang SC"/>
                <a:ea typeface="PingFang SC"/>
                <a:cs typeface="PingFang SC"/>
              </a:defRPr>
            </a:pPr>
            <a:r>
              <a:rPr sz="3150" b="1">
                <a:solidFill>
                  <a:srgbClr val="17334D"/>
                </a:solidFill>
                <a:latin typeface="PingFang SC"/>
                <a:ea typeface="PingFang SC"/>
                <a:cs typeface="PingFang SC"/>
              </a:rPr>
              <a:t>课程答疑与后续问题落实</a:t>
            </a:r>
          </a:p>
        </p:txBody>
      </p:sp>
      <p:sp>
        <p:nvSpPr>
          <p:cNvPr id="2" name="">
            <a:extLst xmlns:a="http://schemas.openxmlformats.org/drawingml/2006/main">
              <a:ext uri="{FF2B5EF4-FFF2-40B4-BE49-F238E27FC236}">
                <a16:creationId xmlns:a16="http://schemas.microsoft.com/office/drawing/2014/main" id="{80B0E54D-2C1E-4038-9BD8-186AD72444A5}"/>
              </a:ext>
            </a:extLst>
          </p:cNvPr>
          <p:cNvSpPr>
            <a:spLocks xmlns:a="http://schemas.openxmlformats.org/drawingml/2006/main" noGrp="1"/>
          </p:cNvSpPr>
          <p:nvPr/>
        </p:nvSpPr>
        <p:spPr>
          <a:xfrm xmlns:a="http://schemas.openxmlformats.org/drawingml/2006/main">
            <a:off x="628650" y="1066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650" b="0">
                <a:solidFill>
                  <a:srgbClr val="667D91"/>
                </a:solidFill>
                <a:latin typeface="PingFang SC"/>
                <a:ea typeface="PingFang SC"/>
                <a:cs typeface="PingFang SC"/>
              </a:defRPr>
            </a:defPPr>
            <a:lvl1pPr algn="l">
              <a:defRPr sz="1650" b="0">
                <a:solidFill>
                  <a:srgbClr val="667D91"/>
                </a:solidFill>
                <a:latin typeface="PingFang SC"/>
                <a:ea typeface="PingFang SC"/>
                <a:cs typeface="PingFang SC"/>
              </a:defRPr>
            </a:lvl1pPr>
            <a:lvl2pPr algn="l">
              <a:defRPr sz="1650" b="0">
                <a:solidFill>
                  <a:srgbClr val="667D91"/>
                </a:solidFill>
                <a:latin typeface="PingFang SC"/>
                <a:ea typeface="PingFang SC"/>
                <a:cs typeface="PingFang SC"/>
              </a:defRPr>
            </a:lvl2pPr>
            <a:lvl3pPr algn="l">
              <a:defRPr sz="1650" b="0">
                <a:solidFill>
                  <a:srgbClr val="667D91"/>
                </a:solidFill>
                <a:latin typeface="PingFang SC"/>
                <a:ea typeface="PingFang SC"/>
                <a:cs typeface="PingFang SC"/>
              </a:defRPr>
            </a:lvl3pPr>
            <a:lvl4pPr algn="l">
              <a:defRPr sz="1650" b="0">
                <a:solidFill>
                  <a:srgbClr val="667D91"/>
                </a:solidFill>
                <a:latin typeface="PingFang SC"/>
                <a:ea typeface="PingFang SC"/>
                <a:cs typeface="PingFang SC"/>
              </a:defRPr>
            </a:lvl4pPr>
            <a:lvl5pPr algn="l">
              <a:defRPr sz="1650" b="0">
                <a:solidFill>
                  <a:srgbClr val="667D91"/>
                </a:solidFill>
                <a:latin typeface="PingFang SC"/>
                <a:ea typeface="PingFang SC"/>
                <a:cs typeface="PingFang SC"/>
              </a:defRPr>
            </a:lvl5pPr>
            <a:lvl6pPr algn="l">
              <a:defRPr sz="1650" b="0">
                <a:solidFill>
                  <a:srgbClr val="667D91"/>
                </a:solidFill>
                <a:latin typeface="PingFang SC"/>
                <a:ea typeface="PingFang SC"/>
                <a:cs typeface="PingFang SC"/>
              </a:defRPr>
            </a:lvl6pPr>
            <a:lvl7pPr algn="l">
              <a:defRPr sz="1650" b="0">
                <a:solidFill>
                  <a:srgbClr val="667D91"/>
                </a:solidFill>
                <a:latin typeface="PingFang SC"/>
                <a:ea typeface="PingFang SC"/>
                <a:cs typeface="PingFang SC"/>
              </a:defRPr>
            </a:lvl7pPr>
            <a:lvl8pPr algn="l">
              <a:defRPr sz="1650" b="0">
                <a:solidFill>
                  <a:srgbClr val="667D91"/>
                </a:solidFill>
                <a:latin typeface="PingFang SC"/>
                <a:ea typeface="PingFang SC"/>
                <a:cs typeface="PingFang SC"/>
              </a:defRPr>
            </a:lvl8pPr>
            <a:lvl9pPr algn="l">
              <a:defRPr sz="1650" b="0">
                <a:solidFill>
                  <a:srgbClr val="667D91"/>
                </a:solidFill>
                <a:latin typeface="PingFang SC"/>
                <a:ea typeface="PingFang SC"/>
                <a:cs typeface="PingFang SC"/>
              </a:defRPr>
            </a:lvl9pPr>
          </a:lstStyle>
          <a:p xmlns:a="http://schemas.openxmlformats.org/drawingml/2006/main">
            <a:pPr algn="l">
              <a:defRPr sz="1650" b="0">
                <a:solidFill>
                  <a:srgbClr val="667D91"/>
                </a:solidFill>
                <a:latin typeface="PingFang SC"/>
                <a:ea typeface="PingFang SC"/>
                <a:cs typeface="PingFang SC"/>
              </a:defRPr>
            </a:pPr>
            <a:r>
              <a:rPr sz="1650" b="0">
                <a:solidFill>
                  <a:srgbClr val="667D91"/>
                </a:solidFill>
                <a:latin typeface="PingFang SC"/>
                <a:ea typeface="PingFang SC"/>
                <a:cs typeface="PingFang SC"/>
              </a:rPr>
              <a:t>把尚未确认的事实和分歧保留下来，继续核对</a:t>
            </a:r>
          </a:p>
        </p:txBody>
      </p:sp>
      <p:sp>
        <p:nvSpPr>
          <p:cNvPr id="3" name="">
            <a:extLst xmlns:a="http://schemas.openxmlformats.org/drawingml/2006/main">
              <a:ext uri="{FF2B5EF4-FFF2-40B4-BE49-F238E27FC236}">
                <a16:creationId xmlns:a16="http://schemas.microsoft.com/office/drawing/2014/main" id="{BD657062-C733-4EDD-ADFA-B9AF0BB9A86C}"/>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667D91"/>
                </a:solidFill>
                <a:latin typeface="PingFang SC"/>
                <a:ea typeface="PingFang SC"/>
                <a:cs typeface="PingFang SC"/>
              </a:defRPr>
            </a:defPPr>
            <a:lvl1pPr algn="l">
              <a:defRPr sz="1125" b="0">
                <a:solidFill>
                  <a:srgbClr val="667D91"/>
                </a:solidFill>
                <a:latin typeface="PingFang SC"/>
                <a:ea typeface="PingFang SC"/>
                <a:cs typeface="PingFang SC"/>
              </a:defRPr>
            </a:lvl1pPr>
            <a:lvl2pPr algn="l">
              <a:defRPr sz="1125" b="0">
                <a:solidFill>
                  <a:srgbClr val="667D91"/>
                </a:solidFill>
                <a:latin typeface="PingFang SC"/>
                <a:ea typeface="PingFang SC"/>
                <a:cs typeface="PingFang SC"/>
              </a:defRPr>
            </a:lvl2pPr>
            <a:lvl3pPr algn="l">
              <a:defRPr sz="1125" b="0">
                <a:solidFill>
                  <a:srgbClr val="667D91"/>
                </a:solidFill>
                <a:latin typeface="PingFang SC"/>
                <a:ea typeface="PingFang SC"/>
                <a:cs typeface="PingFang SC"/>
              </a:defRPr>
            </a:lvl3pPr>
            <a:lvl4pPr algn="l">
              <a:defRPr sz="1125" b="0">
                <a:solidFill>
                  <a:srgbClr val="667D91"/>
                </a:solidFill>
                <a:latin typeface="PingFang SC"/>
                <a:ea typeface="PingFang SC"/>
                <a:cs typeface="PingFang SC"/>
              </a:defRPr>
            </a:lvl4pPr>
            <a:lvl5pPr algn="l">
              <a:defRPr sz="1125" b="0">
                <a:solidFill>
                  <a:srgbClr val="667D91"/>
                </a:solidFill>
                <a:latin typeface="PingFang SC"/>
                <a:ea typeface="PingFang SC"/>
                <a:cs typeface="PingFang SC"/>
              </a:defRPr>
            </a:lvl5pPr>
            <a:lvl6pPr algn="l">
              <a:defRPr sz="1125" b="0">
                <a:solidFill>
                  <a:srgbClr val="667D91"/>
                </a:solidFill>
                <a:latin typeface="PingFang SC"/>
                <a:ea typeface="PingFang SC"/>
                <a:cs typeface="PingFang SC"/>
              </a:defRPr>
            </a:lvl6pPr>
            <a:lvl7pPr algn="l">
              <a:defRPr sz="1125" b="0">
                <a:solidFill>
                  <a:srgbClr val="667D91"/>
                </a:solidFill>
                <a:latin typeface="PingFang SC"/>
                <a:ea typeface="PingFang SC"/>
                <a:cs typeface="PingFang SC"/>
              </a:defRPr>
            </a:lvl7pPr>
            <a:lvl8pPr algn="l">
              <a:defRPr sz="1125" b="0">
                <a:solidFill>
                  <a:srgbClr val="667D91"/>
                </a:solidFill>
                <a:latin typeface="PingFang SC"/>
                <a:ea typeface="PingFang SC"/>
                <a:cs typeface="PingFang SC"/>
              </a:defRPr>
            </a:lvl8pPr>
            <a:lvl9pPr algn="l">
              <a:defRPr sz="1125" b="0">
                <a:solidFill>
                  <a:srgbClr val="667D91"/>
                </a:solidFill>
                <a:latin typeface="PingFang SC"/>
                <a:ea typeface="PingFang SC"/>
                <a:cs typeface="PingFang SC"/>
              </a:defRPr>
            </a:lvl9pPr>
          </a:lstStyle>
          <a:p xmlns:a="http://schemas.openxmlformats.org/drawingml/2006/main">
            <a:pPr algn="l">
              <a:defRPr sz="1125" b="0">
                <a:solidFill>
                  <a:srgbClr val="667D91"/>
                </a:solidFill>
                <a:latin typeface="PingFang SC"/>
                <a:ea typeface="PingFang SC"/>
                <a:cs typeface="PingFang SC"/>
              </a:defRPr>
            </a:pPr>
            <a:r>
              <a:rPr sz="1125" b="0">
                <a:solidFill>
                  <a:srgbClr val="667D91"/>
                </a:solidFill>
                <a:latin typeface="PingFang SC"/>
                <a:ea typeface="PingFang SC"/>
                <a:cs typeface="PingFang SC"/>
              </a:rPr>
              <a:t>第2天  总结与答疑  5分钟</a:t>
            </a:r>
          </a:p>
        </p:txBody>
      </p:sp>
      <p:sp>
        <p:nvSpPr>
          <p:cNvPr id="4" name="">
            <a:extLst xmlns:a="http://schemas.openxmlformats.org/drawingml/2006/main">
              <a:ext uri="{FF2B5EF4-FFF2-40B4-BE49-F238E27FC236}">
                <a16:creationId xmlns:a16="http://schemas.microsoft.com/office/drawing/2014/main" id="{6285E6EA-16BE-427F-A057-BA7376AAFA38}"/>
              </a:ext>
            </a:extLst>
          </p:cNvPr>
          <p:cNvSpPr>
            <a:spLocks xmlns:a="http://schemas.openxmlformats.org/drawingml/2006/main" noGrp="1"/>
          </p:cNvSpPr>
          <p:nvPr/>
        </p:nvSpPr>
        <p:spPr>
          <a:xfrm xmlns:a="http://schemas.openxmlformats.org/drawingml/2006/main">
            <a:off x="10668000" y="637222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275" b="0">
                <a:solidFill>
                  <a:srgbClr val="477FA8"/>
                </a:solidFill>
                <a:latin typeface="PingFang SC"/>
                <a:ea typeface="PingFang SC"/>
                <a:cs typeface="PingFang SC"/>
              </a:defRPr>
            </a:defPPr>
            <a:lvl1pPr algn="r">
              <a:defRPr sz="1275" b="0">
                <a:solidFill>
                  <a:srgbClr val="477FA8"/>
                </a:solidFill>
                <a:latin typeface="PingFang SC"/>
                <a:ea typeface="PingFang SC"/>
                <a:cs typeface="PingFang SC"/>
              </a:defRPr>
            </a:lvl1pPr>
            <a:lvl2pPr algn="r">
              <a:defRPr sz="1275" b="0">
                <a:solidFill>
                  <a:srgbClr val="477FA8"/>
                </a:solidFill>
                <a:latin typeface="PingFang SC"/>
                <a:ea typeface="PingFang SC"/>
                <a:cs typeface="PingFang SC"/>
              </a:defRPr>
            </a:lvl2pPr>
            <a:lvl3pPr algn="r">
              <a:defRPr sz="1275" b="0">
                <a:solidFill>
                  <a:srgbClr val="477FA8"/>
                </a:solidFill>
                <a:latin typeface="PingFang SC"/>
                <a:ea typeface="PingFang SC"/>
                <a:cs typeface="PingFang SC"/>
              </a:defRPr>
            </a:lvl3pPr>
            <a:lvl4pPr algn="r">
              <a:defRPr sz="1275" b="0">
                <a:solidFill>
                  <a:srgbClr val="477FA8"/>
                </a:solidFill>
                <a:latin typeface="PingFang SC"/>
                <a:ea typeface="PingFang SC"/>
                <a:cs typeface="PingFang SC"/>
              </a:defRPr>
            </a:lvl4pPr>
            <a:lvl5pPr algn="r">
              <a:defRPr sz="1275" b="0">
                <a:solidFill>
                  <a:srgbClr val="477FA8"/>
                </a:solidFill>
                <a:latin typeface="PingFang SC"/>
                <a:ea typeface="PingFang SC"/>
                <a:cs typeface="PingFang SC"/>
              </a:defRPr>
            </a:lvl5pPr>
            <a:lvl6pPr algn="r">
              <a:defRPr sz="1275" b="0">
                <a:solidFill>
                  <a:srgbClr val="477FA8"/>
                </a:solidFill>
                <a:latin typeface="PingFang SC"/>
                <a:ea typeface="PingFang SC"/>
                <a:cs typeface="PingFang SC"/>
              </a:defRPr>
            </a:lvl6pPr>
            <a:lvl7pPr algn="r">
              <a:defRPr sz="1275" b="0">
                <a:solidFill>
                  <a:srgbClr val="477FA8"/>
                </a:solidFill>
                <a:latin typeface="PingFang SC"/>
                <a:ea typeface="PingFang SC"/>
                <a:cs typeface="PingFang SC"/>
              </a:defRPr>
            </a:lvl7pPr>
            <a:lvl8pPr algn="r">
              <a:defRPr sz="1275" b="0">
                <a:solidFill>
                  <a:srgbClr val="477FA8"/>
                </a:solidFill>
                <a:latin typeface="PingFang SC"/>
                <a:ea typeface="PingFang SC"/>
                <a:cs typeface="PingFang SC"/>
              </a:defRPr>
            </a:lvl8pPr>
            <a:lvl9pPr algn="r">
              <a:defRPr sz="1275" b="0">
                <a:solidFill>
                  <a:srgbClr val="477FA8"/>
                </a:solidFill>
                <a:latin typeface="PingFang SC"/>
                <a:ea typeface="PingFang SC"/>
                <a:cs typeface="PingFang SC"/>
              </a:defRPr>
            </a:lvl9pPr>
          </a:lstStyle>
          <a:p xmlns:a="http://schemas.openxmlformats.org/drawingml/2006/main">
            <a:pPr algn="r">
              <a:defRPr sz="1275" b="0">
                <a:solidFill>
                  <a:srgbClr val="477FA8"/>
                </a:solidFill>
                <a:latin typeface="PingFang SC"/>
                <a:ea typeface="PingFang SC"/>
                <a:cs typeface="PingFang SC"/>
              </a:defRPr>
            </a:pPr>
            <a:r>
              <a:rPr sz="1275" b="0">
                <a:solidFill>
                  <a:srgbClr val="477FA8"/>
                </a:solidFill>
                <a:latin typeface="PingFang SC"/>
                <a:ea typeface="PingFang SC"/>
                <a:cs typeface="PingFang SC"/>
              </a:rPr>
              <a:t>94 / 94</a:t>
            </a:r>
          </a:p>
        </p:txBody>
      </p:sp>
      <p:sp>
        <p:nvSpPr>
          <p:cNvPr id="5" name="">
            <a:extLst xmlns:a="http://schemas.openxmlformats.org/drawingml/2006/main">
              <a:ext uri="{FF2B5EF4-FFF2-40B4-BE49-F238E27FC236}">
                <a16:creationId xmlns:a16="http://schemas.microsoft.com/office/drawing/2014/main" id="{19E34120-AA3C-46CE-BB2F-444D3EAA0125}"/>
              </a:ext>
            </a:extLst>
          </p:cNvPr>
          <p:cNvSpPr>
            <a:spLocks xmlns:a="http://schemas.openxmlformats.org/drawingml/2006/main" noGrp="1"/>
          </p:cNvSpPr>
          <p:nvPr/>
        </p:nvSpPr>
        <p:spPr>
          <a:xfrm xmlns:a="http://schemas.openxmlformats.org/drawingml/2006/main">
            <a:off x="6096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学员确认事实</a:t>
            </a:r>
          </a:p>
        </p:txBody>
      </p:sp>
      <p:sp>
        <p:nvSpPr>
          <p:cNvPr id="6" name="">
            <a:extLst xmlns:a="http://schemas.openxmlformats.org/drawingml/2006/main">
              <a:ext uri="{FF2B5EF4-FFF2-40B4-BE49-F238E27FC236}">
                <a16:creationId xmlns:a16="http://schemas.microsoft.com/office/drawing/2014/main" id="{F251A147-8FF4-406B-93EF-501E3EC206ED}"/>
              </a:ext>
            </a:extLst>
          </p:cNvPr>
          <p:cNvSpPr>
            <a:spLocks xmlns:a="http://schemas.openxmlformats.org/drawingml/2006/main" noGrp="1"/>
          </p:cNvSpPr>
          <p:nvPr/>
        </p:nvSpPr>
        <p:spPr>
          <a:xfrm xmlns:a="http://schemas.openxmlformats.org/drawingml/2006/main">
            <a:off x="5715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问题、流程与证据</a:t>
            </a:r>
          </a:p>
        </p:txBody>
      </p:sp>
      <p:sp>
        <p:nvSpPr>
          <p:cNvPr id="7" name="">
            <a:extLst xmlns:a="http://schemas.openxmlformats.org/drawingml/2006/main">
              <a:ext uri="{FF2B5EF4-FFF2-40B4-BE49-F238E27FC236}">
                <a16:creationId xmlns:a16="http://schemas.microsoft.com/office/drawing/2014/main" id="{B2B8D3FC-92F0-406F-BED1-ADC2D28182EB}"/>
              </a:ext>
            </a:extLst>
          </p:cNvPr>
          <p:cNvSpPr>
            <a:spLocks xmlns:a="http://schemas.openxmlformats.org/drawingml/2006/main" noGrp="1"/>
          </p:cNvSpPr>
          <p:nvPr/>
        </p:nvSpPr>
        <p:spPr>
          <a:xfrm xmlns:a="http://schemas.openxmlformats.org/drawingml/2006/main">
            <a:off x="34480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管理员核对</a:t>
            </a:r>
          </a:p>
        </p:txBody>
      </p:sp>
      <p:sp>
        <p:nvSpPr>
          <p:cNvPr id="9" name="">
            <a:extLst xmlns:a="http://schemas.openxmlformats.org/drawingml/2006/main">
              <a:ext uri="{FF2B5EF4-FFF2-40B4-BE49-F238E27FC236}">
                <a16:creationId xmlns:a16="http://schemas.microsoft.com/office/drawing/2014/main" id="{4CF16B07-6C14-48DD-B0B6-C3C1B08BC4CA}"/>
              </a:ext>
            </a:extLst>
          </p:cNvPr>
          <p:cNvSpPr>
            <a:spLocks xmlns:a="http://schemas.openxmlformats.org/drawingml/2006/main" noGrp="1"/>
          </p:cNvSpPr>
          <p:nvPr/>
        </p:nvSpPr>
        <p:spPr>
          <a:xfrm xmlns:a="http://schemas.openxmlformats.org/drawingml/2006/main">
            <a:off x="34099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咨询、编辑与返回</a:t>
            </a:r>
          </a:p>
        </p:txBody>
      </p:sp>
      <p:sp>
        <p:nvSpPr>
          <p:cNvPr id="10" name="">
            <a:extLst xmlns:a="http://schemas.openxmlformats.org/drawingml/2006/main">
              <a:ext uri="{FF2B5EF4-FFF2-40B4-BE49-F238E27FC236}">
                <a16:creationId xmlns:a16="http://schemas.microsoft.com/office/drawing/2014/main" id="{C6684D61-C9D8-40E7-A389-AFF35189DED6}"/>
              </a:ext>
            </a:extLst>
          </p:cNvPr>
          <p:cNvSpPr>
            <a:spLocks xmlns:a="http://schemas.openxmlformats.org/drawingml/2006/main" noGrp="1"/>
          </p:cNvSpPr>
          <p:nvPr/>
        </p:nvSpPr>
        <p:spPr>
          <a:xfrm xmlns:a="http://schemas.openxmlformats.org/drawingml/2006/main">
            <a:off x="628650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学员继续追问</a:t>
            </a:r>
          </a:p>
        </p:txBody>
      </p:sp>
      <p:sp>
        <p:nvSpPr>
          <p:cNvPr id="12" name="">
            <a:extLst xmlns:a="http://schemas.openxmlformats.org/drawingml/2006/main">
              <a:ext uri="{FF2B5EF4-FFF2-40B4-BE49-F238E27FC236}">
                <a16:creationId xmlns:a16="http://schemas.microsoft.com/office/drawing/2014/main" id="{B6A2688E-472B-4FEF-9C00-C9B3394A2633}"/>
              </a:ext>
            </a:extLst>
          </p:cNvPr>
          <p:cNvSpPr>
            <a:spLocks xmlns:a="http://schemas.openxmlformats.org/drawingml/2006/main" noGrp="1"/>
          </p:cNvSpPr>
          <p:nvPr/>
        </p:nvSpPr>
        <p:spPr>
          <a:xfrm xmlns:a="http://schemas.openxmlformats.org/drawingml/2006/main">
            <a:off x="624840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澄清条件与方案取舍</a:t>
            </a:r>
          </a:p>
        </p:txBody>
      </p:sp>
      <p:sp>
        <p:nvSpPr>
          <p:cNvPr id="13" name="">
            <a:extLst xmlns:a="http://schemas.openxmlformats.org/drawingml/2006/main">
              <a:ext uri="{FF2B5EF4-FFF2-40B4-BE49-F238E27FC236}">
                <a16:creationId xmlns:a16="http://schemas.microsoft.com/office/drawing/2014/main" id="{051E68EB-3AA3-47B8-8D5F-A5C354BB6992}"/>
              </a:ext>
            </a:extLst>
          </p:cNvPr>
          <p:cNvSpPr>
            <a:spLocks xmlns:a="http://schemas.openxmlformats.org/drawingml/2006/main" noGrp="1"/>
          </p:cNvSpPr>
          <p:nvPr/>
        </p:nvSpPr>
        <p:spPr>
          <a:xfrm xmlns:a="http://schemas.openxmlformats.org/drawingml/2006/main">
            <a:off x="9124950" y="2057400"/>
            <a:ext cx="2457450" cy="1047750"/>
          </a:xfrm>
          <a:prstGeom xmlns:a="http://schemas.openxmlformats.org/drawingml/2006/main" prst="rect">
            <a:avLst/>
          </a:prstGeom>
          <a:solidFill xmlns:a="http://schemas.openxmlformats.org/drawingml/2006/main">
            <a:srgbClr val="EAF3FA"/>
          </a:solidFill>
          <a:ln xmlns:a="http://schemas.openxmlformats.org/drawingml/2006/main" w="9525">
            <a:solidFill>
              <a:srgbClr val="BDD3E3"/>
            </a:solidFill>
          </a:ln>
        </p:spPr>
        <p:txBody>
          <a:bodyPr xmlns:a="http://schemas.openxmlformats.org/drawingml/2006/main" lIns="95250" tIns="95250" rIns="95250" bIns="95250" anchor="ctr"/>
          <a:lstStyle xmlns:a="http://schemas.openxmlformats.org/drawingml/2006/main">
            <a:defPPr algn="ctr">
              <a:defRPr sz="1950">
                <a:solidFill>
                  <a:srgbClr val="17334D"/>
                </a:solidFill>
                <a:latin typeface="PingFang SC"/>
                <a:ea typeface="PingFang SC"/>
                <a:cs typeface="PingFang SC"/>
              </a:defRPr>
            </a:defPPr>
            <a:lvl1pPr algn="ctr">
              <a:defRPr sz="1950">
                <a:solidFill>
                  <a:srgbClr val="17334D"/>
                </a:solidFill>
                <a:latin typeface="PingFang SC"/>
                <a:ea typeface="PingFang SC"/>
                <a:cs typeface="PingFang SC"/>
              </a:defRPr>
            </a:lvl1pPr>
            <a:lvl2pPr algn="ctr">
              <a:defRPr sz="1950">
                <a:solidFill>
                  <a:srgbClr val="17334D"/>
                </a:solidFill>
                <a:latin typeface="PingFang SC"/>
                <a:ea typeface="PingFang SC"/>
                <a:cs typeface="PingFang SC"/>
              </a:defRPr>
            </a:lvl2pPr>
            <a:lvl3pPr algn="ctr">
              <a:defRPr sz="1950">
                <a:solidFill>
                  <a:srgbClr val="17334D"/>
                </a:solidFill>
                <a:latin typeface="PingFang SC"/>
                <a:ea typeface="PingFang SC"/>
                <a:cs typeface="PingFang SC"/>
              </a:defRPr>
            </a:lvl3pPr>
            <a:lvl4pPr algn="ctr">
              <a:defRPr sz="1950">
                <a:solidFill>
                  <a:srgbClr val="17334D"/>
                </a:solidFill>
                <a:latin typeface="PingFang SC"/>
                <a:ea typeface="PingFang SC"/>
                <a:cs typeface="PingFang SC"/>
              </a:defRPr>
            </a:lvl4pPr>
            <a:lvl5pPr algn="ctr">
              <a:defRPr sz="1950">
                <a:solidFill>
                  <a:srgbClr val="17334D"/>
                </a:solidFill>
                <a:latin typeface="PingFang SC"/>
                <a:ea typeface="PingFang SC"/>
                <a:cs typeface="PingFang SC"/>
              </a:defRPr>
            </a:lvl5pPr>
            <a:lvl6pPr algn="ctr">
              <a:defRPr sz="1950">
                <a:solidFill>
                  <a:srgbClr val="17334D"/>
                </a:solidFill>
                <a:latin typeface="PingFang SC"/>
                <a:ea typeface="PingFang SC"/>
                <a:cs typeface="PingFang SC"/>
              </a:defRPr>
            </a:lvl6pPr>
            <a:lvl7pPr algn="ctr">
              <a:defRPr sz="1950">
                <a:solidFill>
                  <a:srgbClr val="17334D"/>
                </a:solidFill>
                <a:latin typeface="PingFang SC"/>
                <a:ea typeface="PingFang SC"/>
                <a:cs typeface="PingFang SC"/>
              </a:defRPr>
            </a:lvl7pPr>
            <a:lvl8pPr algn="ctr">
              <a:defRPr sz="1950">
                <a:solidFill>
                  <a:srgbClr val="17334D"/>
                </a:solidFill>
                <a:latin typeface="PingFang SC"/>
                <a:ea typeface="PingFang SC"/>
                <a:cs typeface="PingFang SC"/>
              </a:defRPr>
            </a:lvl8pPr>
            <a:lvl9pPr algn="ctr">
              <a:defRPr sz="1950">
                <a:solidFill>
                  <a:srgbClr val="17334D"/>
                </a:solidFill>
                <a:latin typeface="PingFang SC"/>
                <a:ea typeface="PingFang SC"/>
                <a:cs typeface="PingFang SC"/>
              </a:defRPr>
            </a:lvl9pPr>
          </a:lstStyle>
          <a:p xmlns:a="http://schemas.openxmlformats.org/drawingml/2006/main">
            <a:pPr algn="ctr">
              <a:defRPr sz="1950">
                <a:solidFill>
                  <a:srgbClr val="17334D"/>
                </a:solidFill>
                <a:latin typeface="PingFang SC"/>
                <a:ea typeface="PingFang SC"/>
                <a:cs typeface="PingFang SC"/>
              </a:defRPr>
            </a:pPr>
            <a:r>
              <a:rPr sz="1950">
                <a:solidFill>
                  <a:srgbClr val="17334D"/>
                </a:solidFill>
                <a:latin typeface="PingFang SC"/>
                <a:ea typeface="PingFang SC"/>
                <a:cs typeface="PingFang SC"/>
              </a:rPr>
              <a:t>业务试点评估</a:t>
            </a:r>
          </a:p>
        </p:txBody>
      </p:sp>
      <p:sp>
        <p:nvSpPr>
          <p:cNvPr id="15" name="">
            <a:extLst xmlns:a="http://schemas.openxmlformats.org/drawingml/2006/main">
              <a:ext uri="{FF2B5EF4-FFF2-40B4-BE49-F238E27FC236}">
                <a16:creationId xmlns:a16="http://schemas.microsoft.com/office/drawing/2014/main" id="{DD6B1BF7-38F0-419D-B3BB-27C2A724AE53}"/>
              </a:ext>
            </a:extLst>
          </p:cNvPr>
          <p:cNvSpPr>
            <a:spLocks xmlns:a="http://schemas.openxmlformats.org/drawingml/2006/main" noGrp="1"/>
          </p:cNvSpPr>
          <p:nvPr/>
        </p:nvSpPr>
        <p:spPr>
          <a:xfrm xmlns:a="http://schemas.openxmlformats.org/drawingml/2006/main">
            <a:off x="9086850" y="3486150"/>
            <a:ext cx="2533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17334D"/>
                </a:solidFill>
                <a:latin typeface="PingFang SC"/>
                <a:ea typeface="PingFang SC"/>
                <a:cs typeface="PingFang SC"/>
              </a:defRPr>
            </a:defPPr>
            <a:lvl1pPr algn="ctr">
              <a:defRPr sz="1875" b="1">
                <a:solidFill>
                  <a:srgbClr val="17334D"/>
                </a:solidFill>
                <a:latin typeface="PingFang SC"/>
                <a:ea typeface="PingFang SC"/>
                <a:cs typeface="PingFang SC"/>
              </a:defRPr>
            </a:lvl1pPr>
            <a:lvl2pPr algn="ctr">
              <a:defRPr sz="1875" b="1">
                <a:solidFill>
                  <a:srgbClr val="17334D"/>
                </a:solidFill>
                <a:latin typeface="PingFang SC"/>
                <a:ea typeface="PingFang SC"/>
                <a:cs typeface="PingFang SC"/>
              </a:defRPr>
            </a:lvl2pPr>
            <a:lvl3pPr algn="ctr">
              <a:defRPr sz="1875" b="1">
                <a:solidFill>
                  <a:srgbClr val="17334D"/>
                </a:solidFill>
                <a:latin typeface="PingFang SC"/>
                <a:ea typeface="PingFang SC"/>
                <a:cs typeface="PingFang SC"/>
              </a:defRPr>
            </a:lvl3pPr>
            <a:lvl4pPr algn="ctr">
              <a:defRPr sz="1875" b="1">
                <a:solidFill>
                  <a:srgbClr val="17334D"/>
                </a:solidFill>
                <a:latin typeface="PingFang SC"/>
                <a:ea typeface="PingFang SC"/>
                <a:cs typeface="PingFang SC"/>
              </a:defRPr>
            </a:lvl4pPr>
            <a:lvl5pPr algn="ctr">
              <a:defRPr sz="1875" b="1">
                <a:solidFill>
                  <a:srgbClr val="17334D"/>
                </a:solidFill>
                <a:latin typeface="PingFang SC"/>
                <a:ea typeface="PingFang SC"/>
                <a:cs typeface="PingFang SC"/>
              </a:defRPr>
            </a:lvl5pPr>
            <a:lvl6pPr algn="ctr">
              <a:defRPr sz="1875" b="1">
                <a:solidFill>
                  <a:srgbClr val="17334D"/>
                </a:solidFill>
                <a:latin typeface="PingFang SC"/>
                <a:ea typeface="PingFang SC"/>
                <a:cs typeface="PingFang SC"/>
              </a:defRPr>
            </a:lvl6pPr>
            <a:lvl7pPr algn="ctr">
              <a:defRPr sz="1875" b="1">
                <a:solidFill>
                  <a:srgbClr val="17334D"/>
                </a:solidFill>
                <a:latin typeface="PingFang SC"/>
                <a:ea typeface="PingFang SC"/>
                <a:cs typeface="PingFang SC"/>
              </a:defRPr>
            </a:lvl7pPr>
            <a:lvl8pPr algn="ctr">
              <a:defRPr sz="1875" b="1">
                <a:solidFill>
                  <a:srgbClr val="17334D"/>
                </a:solidFill>
                <a:latin typeface="PingFang SC"/>
                <a:ea typeface="PingFang SC"/>
                <a:cs typeface="PingFang SC"/>
              </a:defRPr>
            </a:lvl8pPr>
            <a:lvl9pPr algn="ctr">
              <a:defRPr sz="1875" b="1">
                <a:solidFill>
                  <a:srgbClr val="17334D"/>
                </a:solidFill>
                <a:latin typeface="PingFang SC"/>
                <a:ea typeface="PingFang SC"/>
                <a:cs typeface="PingFang SC"/>
              </a:defRPr>
            </a:lvl9pPr>
          </a:lstStyle>
          <a:p xmlns:a="http://schemas.openxmlformats.org/drawingml/2006/main">
            <a:pPr algn="ctr">
              <a:defRPr sz="1875" b="1">
                <a:solidFill>
                  <a:srgbClr val="17334D"/>
                </a:solidFill>
                <a:latin typeface="PingFang SC"/>
                <a:ea typeface="PingFang SC"/>
                <a:cs typeface="PingFang SC"/>
              </a:defRPr>
            </a:pPr>
            <a:r>
              <a:rPr sz="1875" b="1">
                <a:solidFill>
                  <a:srgbClr val="17334D"/>
                </a:solidFill>
                <a:latin typeface="PingFang SC"/>
                <a:ea typeface="PingFang SC"/>
                <a:cs typeface="PingFang SC"/>
              </a:rPr>
              <a:t>授权、责任与验证</a:t>
            </a:r>
          </a:p>
        </p:txBody>
      </p:sp>
      <p:sp>
        <p:nvSpPr>
          <p:cNvPr id="16" name="">
            <a:extLst xmlns:a="http://schemas.openxmlformats.org/drawingml/2006/main">
              <a:ext uri="{FF2B5EF4-FFF2-40B4-BE49-F238E27FC236}">
                <a16:creationId xmlns:a16="http://schemas.microsoft.com/office/drawing/2014/main" id="{8FFDDBA0-B187-4926-8347-861C6AB964EF}"/>
              </a:ext>
            </a:extLst>
          </p:cNvPr>
          <p:cNvSpPr>
            <a:spLocks xmlns:a="http://schemas.openxmlformats.org/drawingml/2006/main" noGrp="1"/>
          </p:cNvSpPr>
          <p:nvPr/>
        </p:nvSpPr>
        <p:spPr>
          <a:xfrm xmlns:a="http://schemas.openxmlformats.org/drawingml/2006/main">
            <a:off x="628650" y="5124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477FA8"/>
                </a:solidFill>
                <a:latin typeface="PingFang SC"/>
                <a:ea typeface="PingFang SC"/>
                <a:cs typeface="PingFang SC"/>
              </a:defRPr>
            </a:defPPr>
            <a:lvl1pPr algn="l">
              <a:defRPr sz="2250" b="1">
                <a:solidFill>
                  <a:srgbClr val="477FA8"/>
                </a:solidFill>
                <a:latin typeface="PingFang SC"/>
                <a:ea typeface="PingFang SC"/>
                <a:cs typeface="PingFang SC"/>
              </a:defRPr>
            </a:lvl1pPr>
            <a:lvl2pPr algn="l">
              <a:defRPr sz="2250" b="1">
                <a:solidFill>
                  <a:srgbClr val="477FA8"/>
                </a:solidFill>
                <a:latin typeface="PingFang SC"/>
                <a:ea typeface="PingFang SC"/>
                <a:cs typeface="PingFang SC"/>
              </a:defRPr>
            </a:lvl2pPr>
            <a:lvl3pPr algn="l">
              <a:defRPr sz="2250" b="1">
                <a:solidFill>
                  <a:srgbClr val="477FA8"/>
                </a:solidFill>
                <a:latin typeface="PingFang SC"/>
                <a:ea typeface="PingFang SC"/>
                <a:cs typeface="PingFang SC"/>
              </a:defRPr>
            </a:lvl3pPr>
            <a:lvl4pPr algn="l">
              <a:defRPr sz="2250" b="1">
                <a:solidFill>
                  <a:srgbClr val="477FA8"/>
                </a:solidFill>
                <a:latin typeface="PingFang SC"/>
                <a:ea typeface="PingFang SC"/>
                <a:cs typeface="PingFang SC"/>
              </a:defRPr>
            </a:lvl4pPr>
            <a:lvl5pPr algn="l">
              <a:defRPr sz="2250" b="1">
                <a:solidFill>
                  <a:srgbClr val="477FA8"/>
                </a:solidFill>
                <a:latin typeface="PingFang SC"/>
                <a:ea typeface="PingFang SC"/>
                <a:cs typeface="PingFang SC"/>
              </a:defRPr>
            </a:lvl5pPr>
            <a:lvl6pPr algn="l">
              <a:defRPr sz="2250" b="1">
                <a:solidFill>
                  <a:srgbClr val="477FA8"/>
                </a:solidFill>
                <a:latin typeface="PingFang SC"/>
                <a:ea typeface="PingFang SC"/>
                <a:cs typeface="PingFang SC"/>
              </a:defRPr>
            </a:lvl6pPr>
            <a:lvl7pPr algn="l">
              <a:defRPr sz="2250" b="1">
                <a:solidFill>
                  <a:srgbClr val="477FA8"/>
                </a:solidFill>
                <a:latin typeface="PingFang SC"/>
                <a:ea typeface="PingFang SC"/>
                <a:cs typeface="PingFang SC"/>
              </a:defRPr>
            </a:lvl7pPr>
            <a:lvl8pPr algn="l">
              <a:defRPr sz="2250" b="1">
                <a:solidFill>
                  <a:srgbClr val="477FA8"/>
                </a:solidFill>
                <a:latin typeface="PingFang SC"/>
                <a:ea typeface="PingFang SC"/>
                <a:cs typeface="PingFang SC"/>
              </a:defRPr>
            </a:lvl8pPr>
            <a:lvl9pPr algn="l">
              <a:defRPr sz="2250" b="1">
                <a:solidFill>
                  <a:srgbClr val="477FA8"/>
                </a:solidFill>
                <a:latin typeface="PingFang SC"/>
                <a:ea typeface="PingFang SC"/>
                <a:cs typeface="PingFang SC"/>
              </a:defRPr>
            </a:lvl9pPr>
          </a:lstStyle>
          <a:p xmlns:a="http://schemas.openxmlformats.org/drawingml/2006/main">
            <a:pPr algn="l">
              <a:defRPr sz="2250" b="1">
                <a:solidFill>
                  <a:srgbClr val="477FA8"/>
                </a:solidFill>
                <a:latin typeface="PingFang SC"/>
                <a:ea typeface="PingFang SC"/>
                <a:cs typeface="PingFang SC"/>
              </a:defRPr>
            </a:pPr>
            <a:r>
              <a:rPr sz="2250" b="1">
                <a:solidFill>
                  <a:srgbClr val="477FA8"/>
                </a:solidFill>
                <a:latin typeface="PingFang SC"/>
                <a:ea typeface="PingFang SC"/>
                <a:cs typeface="PingFang SC"/>
              </a:rPr>
              <a:t>最终保留：一个问题、一项改进、一个验证指标和一位责任人</a:t>
            </a:r>
          </a:p>
        </p:txBody>
      </p:sp>
    </p:spTree>
    <p:extLst>
      <p:ext uri="{BB962C8B-B14F-4D97-AF65-F5344CB8AC3E}">
        <p14:creationId xmlns:p14="http://schemas.microsoft.com/office/powerpoint/2010/main" val="1515539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2026-10-28T11:40:20.4660000Z</dcterms:created>
  <dcterms:modified xsi:type="dcterms:W3CDTF">2026-10-28T11:40:20.4660000Z</dcterms:modified>
</coreProperties>
</file>