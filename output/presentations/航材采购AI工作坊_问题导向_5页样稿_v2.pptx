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f06c99ac4743f2" /><Relationship Type="http://schemas.openxmlformats.org/officeDocument/2006/relationships/extended-properties" Target="/docProps/app.xml" Id="R4fcf7a802bcb449e" /><Relationship Type="http://schemas.openxmlformats.org/officeDocument/2006/relationships/officeDocument" Target="/ppt/presentation.xml" Id="Ra57b16d062e344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e80bbacc924953"/>
  </p:sldMasterIdLst>
  <p:notesMasterIdLst>
    <p:notesMasterId xmlns:r="http://schemas.openxmlformats.org/officeDocument/2006/relationships" r:id="R2b301a658ec24a81"/>
  </p:notesMasterIdLst>
  <p:sldIdLst>
    <p:sldId xmlns:r="http://schemas.openxmlformats.org/officeDocument/2006/relationships" id="256" r:id="Ra407f52bab4f4910"/>
    <p:sldId xmlns:r="http://schemas.openxmlformats.org/officeDocument/2006/relationships" id="257" r:id="Receb5b741c47490a"/>
    <p:sldId xmlns:r="http://schemas.openxmlformats.org/officeDocument/2006/relationships" id="258" r:id="R88cc50a389d04cd3"/>
    <p:sldId xmlns:r="http://schemas.openxmlformats.org/officeDocument/2006/relationships" id="259" r:id="R3a111dd1cb104c7f"/>
    <p:sldId xmlns:r="http://schemas.openxmlformats.org/officeDocument/2006/relationships" id="260" r:id="R307e4b2cb57e4f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0c577a9e37409d" /><Relationship Type="http://schemas.openxmlformats.org/officeDocument/2006/relationships/slideMaster" Target="/ppt/slideMasters/slideMaster1.xml" Id="R73e80bbacc924953" /><Relationship Type="http://schemas.openxmlformats.org/officeDocument/2006/relationships/notesMaster" Target="/ppt/notesMasters/notesMaster1.xml" Id="R2b301a658ec24a81" /><Relationship Type="http://schemas.openxmlformats.org/officeDocument/2006/relationships/presProps" Target="/ppt/presProps.xml" Id="Ra6132e5e27fa48a8" /><Relationship Type="http://schemas.openxmlformats.org/officeDocument/2006/relationships/tableStyles" Target="/ppt/tableStyles.xml" Id="R47cd3f431d2942e3" /><Relationship Type="http://schemas.openxmlformats.org/officeDocument/2006/relationships/slide" Target="/ppt/slides/slide1.xml" Id="Ra407f52bab4f4910" /><Relationship Type="http://schemas.openxmlformats.org/officeDocument/2006/relationships/slide" Target="/ppt/slides/slide2.xml" Id="Receb5b741c47490a" /><Relationship Type="http://schemas.openxmlformats.org/officeDocument/2006/relationships/slide" Target="/ppt/slides/slide3.xml" Id="R88cc50a389d04cd3" /><Relationship Type="http://schemas.openxmlformats.org/officeDocument/2006/relationships/slide" Target="/ppt/slides/slide4.xml" Id="R3a111dd1cb104c7f" /><Relationship Type="http://schemas.openxmlformats.org/officeDocument/2006/relationships/slide" Target="/ppt/slides/slide5.xml" Id="R307e4b2cb57e4f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bb77bc873b46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8bc17f2f81402d" /><Relationship Type="http://schemas.openxmlformats.org/officeDocument/2006/relationships/notesMaster" Target="/ppt/notesMasters/notesMaster1.xml" Id="R4d1cae0fd41d49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fb352116b84ad0" /><Relationship Type="http://schemas.openxmlformats.org/officeDocument/2006/relationships/notesMaster" Target="/ppt/notesMasters/notesMaster1.xml" Id="R62337c742c1e4e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1cb35376c84718" /><Relationship Type="http://schemas.openxmlformats.org/officeDocument/2006/relationships/notesMaster" Target="/ppt/notesMasters/notesMaster1.xml" Id="R2aa151706fc44e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009ece54e24d25" /><Relationship Type="http://schemas.openxmlformats.org/officeDocument/2006/relationships/notesMaster" Target="/ppt/notesMasters/notesMaster1.xml" Id="Rb58a6fd0967c4a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d59590e28b4711" /><Relationship Type="http://schemas.openxmlformats.org/officeDocument/2006/relationships/notesMaster" Target="/ppt/notesMasters/notesMaster1.xml" Id="R7f06942a5e584a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课程依据：航材采购AI智能化实战工作坊-厦门太古.2026.10.23doc.pdf。两天，每天6小时。原大纲未规定分日课时，样稿排课为教学建议。典型问题不代表已证实的厦门太古内部管理缺陷。</a:t>
            </a:r>
          </a:p>
          <a:p xmlns:a="http://schemas.openxmlformats.org/drawingml/2006/main">
            <a:r>
              <a:t>教学目标：六个环节均从业务问题进入，最终讨论工具适用条件、局限与落实方法。此页不展示系统功能。用5分钟请学员描述最近一次具体事件，记录件号、需求日、影响和证据。每人选择一个问题，区分现象与原因。课件中的典型问题不是已证实的厦门太古内部缺陷。建议后续100页以相同结构展开六个专题，并穿插工具选型、实施与效益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课程依据：航材采购AI智能化实战工作坊-厦门太古.2026.10.23doc.pdf。两天，每天6小时。原大纲未规定分日课时，样稿排课为教学建议。典型问题不代表已证实的厦门太古内部管理缺陷。</a:t>
            </a:r>
          </a:p>
          <a:p xmlns:a="http://schemas.openxmlformats.org/drawingml/2006/main">
            <a:r>
              <a:t>本页数据为专为讨论设计的教学模拟，不是企业记录。PN-A需求8、账面12、按期可用4，缺口4。PN-B需求6、账面3、按期可用3，缺口3。PN-C需求4、账面9、按期可用4，缺口0。PN-D需求2、账面8、按期可用0，缺口2。总需求20、账面32、可用11、缺口9。不同件号不可直接互换，替代性需工程确认。账面与可用之间的差额原因尚未确定，可能是分配占用、状态冻结、证书核对或其他原因，不能直接认定。仅展示件数，不代表库存资金占用高低。先让学员计算缺口，再询问还缺哪些数据，避免看到库存总数就决定追加采购。可追问：若供应商按期到货，对哪个件号的缺口有影响？必须逐行校验时点及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课程依据：航材采购AI智能化实战工作坊-厦门太古.2026.10.23doc.pdf。两天，每天6小时。原大纲未规定分日课时，样稿排课为教学建议。典型问题不代表已证实的厦门太古内部管理缺陷。</a:t>
            </a:r>
          </a:p>
          <a:p xmlns:a="http://schemas.openxmlformats.org/drawingml/2006/main">
            <a:r>
              <a:t>本页是一条候选因果链，尚未证明对应上一页任何具体件号，更不是对企业的审计结论。用信息流与5Why方法组织讨论：先比对计划版本、订单修改、供应商确认与实际收货，再把时间线串起来。若需求日已更新而供应商仍未承诺新日期，问题不等于采购员没有发邮件，需继续分析承诺管理及能力约束。若证据不支持日期错配，应改查主数据、可用状态、需求估计或供应约束，避免只验证自己喜欢的解释。每一项根因至少指定证据、核对责任人和待确认问题。课堂产出为问题与根因清单，不要求打开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课程依据：航材采购AI智能化实战工作坊-厦门太古.2026.10.23doc.pdf。两天，每天6小时。原大纲未规定分日课时，样稿排课为教学建议。典型问题不代表已证实的厦门太古内部管理缺陷。</a:t>
            </a:r>
          </a:p>
          <a:p xmlns:a="http://schemas.openxmlformats.org/drawingml/2006/main">
            <a:r>
              <a:t>本页为针对候选根因的教学改善方案，不声称已适配厦门太古现有流程。工具适配需核对数据覆盖、接口、权限和质量要求。大模型适合辅助整理邮件及文档，业务规则和数学模型承担可检验的计算，人工核对证据并审批。证书问题不能靠增加安全库存自动解决；交付承诺问题不能仅靠提高预测精度解决。对每个方案评估数据准备工时、误报漏报、复核责任及资金占用。试点应在同一统计口径下比较基线和改进情景。按期可用满足率可按需求行或数量计算，必须提前固定口径。库存金额需单位价值数据，不能用上一页的件数代替财务收益。最终形成一项可验证的小范围改进，而非直接给生产系统下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课程依据：航材采购AI智能化实战工作坊-厦门太古.2026.10.23doc.pdf。两天，每天6小时。原大纲未规定分日课时，样稿排课为教学建议。典型问题不代表已证实的厦门太古内部管理缺陷。</a:t>
            </a:r>
          </a:p>
          <a:p xmlns:a="http://schemas.openxmlformats.org/drawingml/2006/main">
            <a:r>
              <a:t>本页为独立的M05基础教学数据集，区别于第2页的四个模拟件号，不代表已修复那9件缺口。来源：本系统M05运行截图tmp/ppt-problem/m05-parameters.png及后端结果m05-result.json、m05-variant.json，2026-10-28在独立演示副本生成。三条数据：PN-2001日均需求1.5、标准差0.8、交期30天、价值500元；PN-2002为0.4、0.5、45天、2000元；PN-2003为2、1.2、15天、300元。假设日需求独立且交期固定，安全库存=z乘日需求标准差乘交期平方根，年持有成本按未取整安全库存乘单位价值乘20%。z=1.65时总年持有成本3396.81元，z=2.33时4796.71元，差1399.90元。系统未估计真实缺货概率、缺料损失或企业实施收益，因此不得声称服务改善已实现。让学员先预测方向，再保存参数、重新计算、复核结果，记录是否接受方案及原因。系统承担计算和留存练习结果，真实证书、计划变更和审批仍需业务人员核实。课堂收尾要求学员明确验证指标和责任人，再通过历史练习提交企业情况及待确认问题供管理员复盘，持续讨论后形成试点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cbccbdbe240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2a04bd51d48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fbbbd06b141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9af8c8b8dd40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ee4142c324a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eed946bf64d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04361E-CDBD-4969-8859-E2AB2872BC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E8CA42-2E20-4813-957C-CF6E5F087C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BC4D57-9042-40E7-A69D-C61677217B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AA53E8-3B1E-4872-8DE6-6D33D75D4B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8DD6702-0293-44A7-85CC-24EDE8453E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5367BD-613A-4570-9FD9-B6846CEE51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13ABC4-F3DC-42BF-8949-4A2BF23CA7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99C7D2-15C3-4E17-9591-5B89A484AB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CADB65-5B45-4BB7-A3D2-F66D30E1EE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AC8604-C778-45CB-9C25-D4F0C86A48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c4eed1a416432a" /><Relationship Type="http://schemas.openxmlformats.org/officeDocument/2006/relationships/slideLayout" Target="/ppt/slideLayouts/slideLayout1.xml" Id="Reb9d0fa21ec14e5a" /><Relationship Type="http://schemas.openxmlformats.org/officeDocument/2006/relationships/slideLayout" Target="/ppt/slideLayouts/slideLayout2.xml" Id="Rc044c89590a445ed" /><Relationship Type="http://schemas.openxmlformats.org/officeDocument/2006/relationships/slideLayout" Target="/ppt/slideLayouts/slideLayout3.xml" Id="Ref2c35c0a74d485d" /><Relationship Type="http://schemas.openxmlformats.org/officeDocument/2006/relationships/slideLayout" Target="/ppt/slideLayouts/slideLayout4.xml" Id="R0a3c25fea00943f1" /><Relationship Type="http://schemas.openxmlformats.org/officeDocument/2006/relationships/slideLayout" Target="/ppt/slideLayouts/slideLayout5.xml" Id="R3da2e2bccb694094" /><Relationship Type="http://schemas.openxmlformats.org/officeDocument/2006/relationships/slideLayout" Target="/ppt/slideLayouts/slideLayout6.xml" Id="R09d777106cb645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9d0fa21ec14e5a"/>
    <p:sldLayoutId xmlns:r="http://schemas.openxmlformats.org/officeDocument/2006/relationships" id="2147483650" r:id="Rc044c89590a445ed"/>
    <p:sldLayoutId xmlns:r="http://schemas.openxmlformats.org/officeDocument/2006/relationships" id="2147483651" r:id="Ref2c35c0a74d485d"/>
    <p:sldLayoutId xmlns:r="http://schemas.openxmlformats.org/officeDocument/2006/relationships" id="2147483652" r:id="R0a3c25fea00943f1"/>
    <p:sldLayoutId xmlns:r="http://schemas.openxmlformats.org/officeDocument/2006/relationships" id="2147483653" r:id="R3da2e2bccb694094"/>
    <p:sldLayoutId xmlns:r="http://schemas.openxmlformats.org/officeDocument/2006/relationships" id="2147483654" r:id="R09d777106cb645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01babb05a34035" /><Relationship Type="http://schemas.openxmlformats.org/officeDocument/2006/relationships/notesSlide" Target="/ppt/notesSlides/notesSlide1.xml" Id="Ra7119e8774224d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636021c7314c92" /><Relationship Type="http://schemas.openxmlformats.org/officeDocument/2006/relationships/chart" Target="/ppt/slides/charts/chart1.xml" Id="Ra3c6b1f75646403d" /><Relationship Type="http://schemas.openxmlformats.org/officeDocument/2006/relationships/notesSlide" Target="/ppt/notesSlides/notesSlide2.xml" Id="R51c927d9ac1549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5ecdad2e7844c3" /><Relationship Type="http://schemas.openxmlformats.org/officeDocument/2006/relationships/notesSlide" Target="/ppt/notesSlides/notesSlide3.xml" Id="R5a339d9f3e0949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e2a7d8ded4ab8" /><Relationship Type="http://schemas.openxmlformats.org/officeDocument/2006/relationships/notesSlide" Target="/ppt/notesSlides/notesSlide4.xml" Id="R61774482ae9f4f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14eb43da4840e4" /><Relationship Type="http://schemas.openxmlformats.org/officeDocument/2006/relationships/image" Target="/ppt/media/image.png" Id="Rab2e03e9ffab43ae" /><Relationship Type="http://schemas.openxmlformats.org/officeDocument/2006/relationships/chart" Target="/ppt/slides/charts/chart2.xml" Id="R64090bac967f4d5a" /><Relationship Type="http://schemas.openxmlformats.org/officeDocument/2006/relationships/notesSlide" Target="/ppt/notesSlides/notesSlide5.xml" Id="Rc6b35d2c6c4d4bb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本次需求</c:v>
          </c:tx>
          <c:spPr>
            <a:solidFill xmlns:a="http://schemas.openxmlformats.org/drawingml/2006/main">
              <a:srgbClr val="17334D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PN-A</c:v>
                </c:pt>
                <c:pt idx="1">
                  <c:v>PN-B</c:v>
                </c:pt>
                <c:pt idx="2">
                  <c:v>PN-C</c:v>
                </c:pt>
                <c:pt idx="3">
                  <c:v>PN-D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v>账面库存</c:v>
          </c:tx>
          <c:spPr>
            <a:solidFill xmlns:a="http://schemas.openxmlformats.org/drawingml/2006/main">
              <a:srgbClr val="BED5E6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PN-A</c:v>
                </c:pt>
                <c:pt idx="1">
                  <c:v>PN-B</c:v>
                </c:pt>
                <c:pt idx="2">
                  <c:v>PN-C</c:v>
                </c:pt>
                <c:pt idx="3">
                  <c:v>PN-D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12</c:v>
                </c:pt>
                <c:pt idx="1">
                  <c:v>3</c:v>
                </c:pt>
                <c:pt idx="2">
                  <c:v>9</c:v>
                </c:pt>
                <c:pt idx="3">
                  <c:v>8</c:v>
                </c:pt>
              </c:numCache>
            </c:numRef>
          </c:val>
        </c:ser>
        <c:ser>
          <c:idx val="2"/>
          <c:order val="2"/>
          <c:tx>
            <c:v>按期可用</c:v>
          </c:tx>
          <c:spPr>
            <a:solidFill xmlns:a="http://schemas.openxmlformats.org/drawingml/2006/main">
              <a:srgbClr val="477FA8"/>
            </a:solidFill>
          </c:spPr>
          <c:invertIfNegative val="0"/>
          <c:cat>
            <c:strRef>
              <c:f>'Chart Data'!$E$2:$E$5</c:f>
              <c:strCache>
                <c:ptCount val="4"/>
                <c:pt idx="0">
                  <c:v>PN-A</c:v>
                </c:pt>
                <c:pt idx="1">
                  <c:v>PN-B</c:v>
                </c:pt>
                <c:pt idx="2">
                  <c:v>PN-C</c:v>
                </c:pt>
                <c:pt idx="3">
                  <c:v>PN-D</c:v>
                </c:pt>
              </c:strCache>
            </c:str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AF1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4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PingFang SC"/>
              <a:ea typeface="PingFang SC"/>
              <a:cs typeface="PingFang SC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安全库存年持有成本</c:v>
          </c:tx>
          <c:spPr>
            <a:solidFill xmlns:a="http://schemas.openxmlformats.org/drawingml/2006/main">
              <a:srgbClr val="477FA8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z=1.65</c:v>
                </c:pt>
                <c:pt idx="1">
                  <c:v>z=2.33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3396.81</c:v>
                </c:pt>
                <c:pt idx="1">
                  <c:v>4796.71</c:v>
                </c:pt>
              </c:numCache>
            </c:numRef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AF1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7EEAC-53B1-4951-8514-C9FA4C55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航材采购的六类关键问题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73E99-C013-49B1-9D4D-4DCC5703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课堂讨论：哪一个问题最影响维修交付？最近一次发生在什么情境？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42FD0-372A-42FE-8366-48418321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航材采购 AI 智能化实战工作坊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484E1-0592-47FF-A1B8-5DDAADF2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5A066-7C99-4B9D-AB56-0E3D2A97885A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810250"/>
                <a:gridCol w="3257550"/>
              </a:tblGrid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477FA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业务环节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E4EE"/>
                      </a:solidFill>
                      <a:prstDash val="solid"/>
                    </a:lnL>
                    <a:lnR w="5715">
                      <a:solidFill>
                        <a:srgbClr val="D7E4EE"/>
                      </a:solidFill>
                      <a:prstDash val="solid"/>
                    </a:lnR>
                    <a:lnT w="5715">
                      <a:solidFill>
                        <a:srgbClr val="D7E4EE"/>
                      </a:solidFill>
                      <a:prstDash val="solid"/>
                    </a:lnT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学员带入的典型问题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T w="5715">
                      <a:solidFill>
                        <a:srgbClr val="D7E4EE"/>
                      </a:solidFill>
                      <a:prstDash val="solid"/>
                    </a:lnT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先核对的证据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T w="5715">
                      <a:solidFill>
                        <a:srgbClr val="D7E4EE"/>
                      </a:solidFill>
                      <a:prstDash val="solid"/>
                    </a:lnT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477FA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需求与计划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E4EE"/>
                      </a:solidFill>
                      <a:prstDash val="solid"/>
                    </a:lnL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维修计划反复变，采购何时启动？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计划版本与需求日期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477FA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寻源与询价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E4EE"/>
                      </a:solidFill>
                      <a:prstDash val="solid"/>
                    </a:lnL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报价最低，为什么到手成本更高？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币种、运输与交期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477FA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供应商风险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E4EE"/>
                      </a:solidFill>
                      <a:prstDash val="solid"/>
                    </a:lnL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资质合格，为什么仍然交付失约？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履约记录与供应依赖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477FA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订单与交付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E4EE"/>
                      </a:solidFill>
                      <a:prstDash val="solid"/>
                    </a:lnL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一直在催交，关键件为什么仍晚？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确认到货与维修需求日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477FA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库存与补货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E4EE"/>
                      </a:solidFill>
                      <a:prstDash val="solid"/>
                    </a:lnL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库存很多，为什么维修现场仍缺料？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可用状态与件号缺口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477FA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AOG 紧急采购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E4EE"/>
                      </a:solidFill>
                      <a:prstDash val="solid"/>
                    </a:lnL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最快的方案，证书和适用性能过关吗？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保障时限与审核结果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6B14F-8EBF-491B-A2D4-AF4C7FC9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典型问题用于诊断讨论，须由学员提供事实验证</a:t>
            </a:r>
          </a:p>
        </p:txBody>
      </p:sp>
    </p:spTree>
    <p:extLst>
      <p:ext uri="{BB962C8B-B14F-4D97-AF65-F5344CB8AC3E}">
        <p14:creationId xmlns:p14="http://schemas.microsoft.com/office/powerpoint/2010/main" val="1956195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93A30-86A7-4535-B603-E3A0FCAB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账面有 32 件，为什么仍缺 9 件？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3F66E-E0BA-4306-8967-392BF29E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库存专题案例：同一批需求、同一核对时点，逐件号判断可用数量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BCBE5-3DB1-4CA7-89AE-23097133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航材采购 AI 智能化实战工作坊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F7DE8-6B4F-4052-AE82-EEA4EE95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04D56BF-F39B-4F23-A219-3DB75401A5C7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810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c6b1f75646403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2CB1C-2EAB-4AC4-ABF8-99A70FCF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430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数量（件）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5DA5C-E5F6-49F7-BD84-F627AF4F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33575"/>
            <a:ext cx="228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54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54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54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54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54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54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54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54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54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54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33655-B4A4-41C2-B6ED-789D1231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7336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账面库存（件）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50615-6EF3-4EBC-9545-44FABF2E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62350"/>
            <a:ext cx="228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54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54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54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54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54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54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54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54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54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54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0EA60-A677-466F-B403-898D7150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62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逐件号缺口合计（件）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8529C-818B-4A1C-8A4F-B7337AB6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不同件号的富余，不能直接抵消另一件号的缺口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73282-F871-4586-8C6F-4102349F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教学模拟。缺口=max（需求−按期可用，0），按件号分别计算后求和</a:t>
            </a:r>
          </a:p>
        </p:txBody>
      </p:sp>
    </p:spTree>
    <p:extLst>
      <p:ext uri="{BB962C8B-B14F-4D97-AF65-F5344CB8AC3E}">
        <p14:creationId xmlns:p14="http://schemas.microsoft.com/office/powerpoint/2010/main" val="3348143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FE814-0CEC-45B6-B222-C342EF282C08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420100" y="2533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7FA8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00C71-1D10-4C92-BA1E-C62ED01B64A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57850" y="2533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7FA8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03E4F-CBBD-4571-B470-B1F1D09175D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95600" y="2533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7FA8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3C8E3-312F-4BF6-B68F-5C3DEB9D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缺料根因：计划变更是否传到了采购？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D8E52-BAFE-4020-B998-A0C1D9E6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待验证假设：维修需求提前，订单仍沿用旧日期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1DE52-706E-428D-B980-D56F1FEB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航材采购 AI 智能化实战工作坊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5CAA2-F9B4-4479-9E0A-F26A41F8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8C07F-FE91-4E0B-8492-C99AA93A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维修需求日</a:t>
            </a:r>
          </a:p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提前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6F991-EC79-40C9-89B3-D898CD28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核对证据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A17E6-16A2-4275-A8FE-EE7F827E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计划修订记录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28D0C-5861-4A58-8869-92719FC4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5740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采购订单</a:t>
            </a:r>
          </a:p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未同步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20ED4-6B57-4388-90E6-554E0B31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956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核对证据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04822-DF89-4F0F-81E9-DC61BB50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95700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订单版本</a:t>
            </a:r>
          </a:p>
          <a:p xmlns:a="http://schemas.openxmlformats.org/drawingml/2006/main">
            <a: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与修改时间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CEB70-009F-4106-BC68-EBDD78F2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供应商仍按</a:t>
            </a:r>
          </a:p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旧承诺交付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136EA-908E-46AF-A845-0CEB9212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956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核对证据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4A96D-A4EC-4014-B77F-8F839140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95700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供应商确认邮件</a:t>
            </a:r>
          </a:p>
          <a:p xmlns:a="http://schemas.openxmlformats.org/drawingml/2006/main">
            <a: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与到货记录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3A932-EF81-4A06-B3DA-4AA48E9F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到货晚于</a:t>
            </a:r>
          </a:p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维修需求日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89D3B-6A6E-4068-A652-7B060D54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956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核对证据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88B20-AA2A-44A9-A24B-17FA0122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95700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缺料时间</a:t>
            </a:r>
          </a:p>
          <a:p xmlns:a="http://schemas.openxmlformats.org/drawingml/2006/main">
            <a:pPr algn="ctr">
              <a:def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与交付影响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DE8203-1DC4-4B2F-AD3C-51EAA8CF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证据不支持时，继续排查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57CA3-3F64-44C3-99FF-9F7A1B4C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件号与单位是否一致？     库存是否可用？     供应交期是否变化？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8A1535-44AA-4FD1-AC1B-647DF5DB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讨论：在哪个节点设置检查，能更早发现问题？</a:t>
            </a:r>
          </a:p>
        </p:txBody>
      </p:sp>
    </p:spTree>
    <p:extLst>
      <p:ext uri="{BB962C8B-B14F-4D97-AF65-F5344CB8AC3E}">
        <p14:creationId xmlns:p14="http://schemas.microsoft.com/office/powerpoint/2010/main" val="1520995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34FFF-632B-496C-94D9-990B8891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改善方案的作用、代价与控制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30193-AECA-473B-8A10-0C920F86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根据已验证的根因选方法，再判断 AI、规则和人工各自承担什么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64CF3-72D1-40C5-A6B9-BEB7982E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航材采购 AI 智能化实战工作坊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8BE82-F824-46F9-BA31-2375A15E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5106D-4460-4715-9F6E-5BBC1DA237FE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1200"/>
                <a:gridCol w="2762250"/>
                <a:gridCol w="2857500"/>
                <a:gridCol w="3371850"/>
              </a:tblGrid>
              <a:tr h="828675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477FA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根因待核实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E4EE"/>
                      </a:solidFill>
                      <a:prstDash val="solid"/>
                    </a:lnL>
                    <a:lnR w="5715">
                      <a:solidFill>
                        <a:srgbClr val="D7E4EE"/>
                      </a:solidFill>
                      <a:prstDash val="solid"/>
                    </a:lnR>
                    <a:lnT w="5715">
                      <a:solidFill>
                        <a:srgbClr val="D7E4EE"/>
                      </a:solidFill>
                      <a:prstDash val="solid"/>
                    </a:lnT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改善方法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T w="5715">
                      <a:solidFill>
                        <a:srgbClr val="D7E4EE"/>
                      </a:solidFill>
                      <a:prstDash val="solid"/>
                    </a:lnT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作用与优势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T w="5715">
                      <a:solidFill>
                        <a:srgbClr val="D7E4EE"/>
                      </a:solidFill>
                      <a:prstDash val="solid"/>
                    </a:lnT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局限与控制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T w="5715">
                      <a:solidFill>
                        <a:srgbClr val="D7E4EE"/>
                      </a:solidFill>
                      <a:prstDash val="solid"/>
                    </a:lnT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EAF3FA"/>
                    </a:solidFill>
                  </a:tcPr>
                </a:tc>
              </a:tr>
              <a:tr h="82867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477FA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需求日与</a:t>
                      </a:r>
                    </a:p>
                    <a:p>
                      <a:r>
                        <a:rPr sz="1800" b="1">
                          <a:solidFill>
                            <a:srgbClr val="477FA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交期错配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E4EE"/>
                      </a:solidFill>
                      <a:prstDash val="solid"/>
                    </a:lnL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关联计划变更与订单</a:t>
                      </a:r>
                    </a:p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对缺口设置预警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规则筛选日期冲突</a:t>
                      </a:r>
                    </a:p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 整理确认邮件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依赖最新可靠数据</a:t>
                      </a:r>
                    </a:p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采购员核对供应承诺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477FA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账面库存不可用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E4EE"/>
                      </a:solidFill>
                      <a:prstDash val="solid"/>
                    </a:lnL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核对证书、适用性</a:t>
                      </a:r>
                    </a:p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及库存冻结状态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排除不可用数量</a:t>
                      </a:r>
                    </a:p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减少虚假的库存满足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 识别仅供参考</a:t>
                      </a:r>
                    </a:p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质量与工程人员确认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477FA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需求波动与</a:t>
                      </a:r>
                    </a:p>
                    <a:p>
                      <a:r>
                        <a:rPr sz="1800" b="1">
                          <a:solidFill>
                            <a:srgbClr val="477FA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补货滞后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E4EE"/>
                      </a:solidFill>
                      <a:prstDash val="solid"/>
                    </a:lnL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按航材特点分层</a:t>
                      </a:r>
                    </a:p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比较补货与缓冲方案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模型展示成本变化</a:t>
                      </a:r>
                    </a:p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便于比较不同策略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缓冲增加资金占用</a:t>
                      </a:r>
                    </a:p>
                    <a:p>
                      <a:r>
                        <a:rPr sz="1800" b="0">
                          <a:solidFill>
                            <a:srgbClr val="17334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低频关键件另行验证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E4EE"/>
                      </a:solidFill>
                      <a:prstDash val="solid"/>
                    </a:lnR>
                    <a:lnB w="5715">
                      <a:solidFill>
                        <a:srgbClr val="D7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FC6CB-32B6-4FD3-9177-BD01EFB6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435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试点评价：按期可用满足率、缺料行数、库存金额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AFBAF-1EE4-498A-8348-7205A889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讨论：你所在岗位能提供哪些数据？谁有权确认与执行改进？</a:t>
            </a:r>
          </a:p>
        </p:txBody>
      </p:sp>
    </p:spTree>
    <p:extLst>
      <p:ext uri="{BB962C8B-B14F-4D97-AF65-F5344CB8AC3E}">
        <p14:creationId xmlns:p14="http://schemas.microsoft.com/office/powerpoint/2010/main" val="11681244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0322B-BF9E-4B2C-B23E-B1700D5F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提高安全库存，代价有多大？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DD059-9494-45E2-8EB6-BB26804E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系统辅助验证：仅对“补货缓冲不足”这一子问题做情景比较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7B347-FE88-4AF7-A2C0-6BE8C413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航材采购 AI 智能化实战工作坊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4BDC4-E02C-4C13-82BF-AFF5598D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5CAC2-24A7-406A-B613-DA6DF87676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e03e9ffab43ae"/>
          <a:stretch xmlns:a="http://schemas.openxmlformats.org/drawingml/2006/main"/>
        </p:blipFill>
        <p:spPr>
          <a:xfrm xmlns:a="http://schemas.openxmlformats.org/drawingml/2006/main">
            <a:off x="611946" y="1762125"/>
            <a:ext cx="6377059" cy="18383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D32453C-F8DB-4C28-BAD9-F237BF921B80}"/>
              </a:ext>
            </a:extLst>
          </p:cNvPr>
          <p:cNvGraphicFramePr/>
          <p:nvPr/>
        </p:nvGraphicFramePr>
        <p:xfrm>
          <a:off xmlns:a="http://schemas.openxmlformats.org/drawingml/2006/main" x="609600" y="3857625"/>
          <a:ext xmlns:a="http://schemas.openxmlformats.org/drawingml/2006/main" cx="6381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090bac967f4d5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D2B8F-7096-4E1F-B18F-CDF2A994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安全库存年持有成本（元，教学模拟）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B34AD-6652-472D-ABBD-33A52085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课堂任务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711EE-0938-4C22-AF64-86A7915A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同一批数据</a:t>
            </a:r>
          </a:p>
          <a:p xmlns:a="http://schemas.openxmlformats.org/drawingml/2006/main">
            <a:pPr algn="l">
              <a:defRPr sz="202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仅把 z 从 1.65 调至 2.33</a:t>
            </a:r>
          </a:p>
          <a:p xmlns:a="http://schemas.openxmlformats.org/drawingml/2006/main">
            <a:pPr algn="l">
              <a:defRPr sz="202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年持有成本率保持 20%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4ABF8-F10E-4921-A3A0-9C257936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14775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成本增加约 1,400 元／年</a:t>
            </a:r>
          </a:p>
          <a:p xmlns:a="http://schemas.openxmlformats.org/drawingml/2006/main">
            <a: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业务改善是否值得？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2AA83-B879-4B4B-A1BE-4EA77F7F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292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还需验证真实缺料变化</a:t>
            </a:r>
          </a:p>
          <a:p xmlns:a="http://schemas.openxmlformats.org/drawingml/2006/main">
            <a: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并形成方案、责任人与试点指标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6D8C3-69B6-4DD2-8F20-57EA9AB7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86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模型假设：固定交期、独立日需求。不能直接套用于低频关键件</a:t>
            </a:r>
          </a:p>
        </p:txBody>
      </p:sp>
    </p:spTree>
    <p:extLst>
      <p:ext uri="{BB962C8B-B14F-4D97-AF65-F5344CB8AC3E}">
        <p14:creationId xmlns:p14="http://schemas.microsoft.com/office/powerpoint/2010/main" val="1389019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2026-10-28T09:32:47.8290000Z</dcterms:created>
  <dcterms:modified xsi:type="dcterms:W3CDTF">2026-10-28T09:32:47.8290000Z</dcterms:modified>
</coreProperties>
</file>